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Montserrat Bold" panose="020B0604020202020204" charset="-52"/>
      <p:regular r:id="rId17"/>
    </p:embeddedFont>
    <p:embeddedFont>
      <p:font typeface="Open Sans" panose="020B0606030504020204" pitchFamily="3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3372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024083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Зачем нужны тестовые данные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233360" y="2299439"/>
            <a:ext cx="6296860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Перед проверкой приложения база должна находиться в определённом состоянии. SQL-скрипты позволяют подготовить нужные записи заранее — без ручного заполнения форм.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233360" y="3245346"/>
            <a:ext cx="3071835" cy="1485999"/>
          </a:xfrm>
          <a:prstGeom prst="roundRect">
            <a:avLst>
              <a:gd name="adj" fmla="val 4808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09767" y="3421757"/>
            <a:ext cx="271902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Контроль условий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5409767" y="3779242"/>
            <a:ext cx="271902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 запускается в предсказуемой среде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458286" y="3245346"/>
            <a:ext cx="3071934" cy="1485999"/>
          </a:xfrm>
          <a:prstGeom prst="roundRect">
            <a:avLst>
              <a:gd name="adj" fmla="val 4808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34693" y="3421757"/>
            <a:ext cx="271912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Повторяемость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8634693" y="3779242"/>
            <a:ext cx="2719121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Одинаковое исходное состояние — одинаковый результат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233360" y="4884440"/>
            <a:ext cx="6296860" cy="968871"/>
          </a:xfrm>
          <a:prstGeom prst="roundRect">
            <a:avLst>
              <a:gd name="adj" fmla="val 737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09767" y="5060851"/>
            <a:ext cx="594404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Чистота данных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5409767" y="5418336"/>
            <a:ext cx="5944047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Остатки прошлых проверок не влияют на текущую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75350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определить нужный набор данных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480" y="2165846"/>
            <a:ext cx="3343191" cy="33432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25165" y="2246414"/>
            <a:ext cx="691130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Принцип минимальной достаточности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4625165" y="2688233"/>
            <a:ext cx="691130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Создавайте только те записи, которые действительно нужны для конкретного сценария. Каждый объект должен иметь понятную цель.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625165" y="3440311"/>
            <a:ext cx="6911306" cy="956866"/>
          </a:xfrm>
          <a:prstGeom prst="roundRect">
            <a:avLst>
              <a:gd name="adj" fmla="val 7882"/>
            </a:avLst>
          </a:prstGeom>
          <a:solidFill>
            <a:srgbClr val="D5F6F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4647" y="3708202"/>
            <a:ext cx="224427" cy="17948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08556" y="3638649"/>
            <a:ext cx="6148432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Пример: для проверки просроченного документа нужна запись с соответствующей датой и статусом — и ничего лишнего.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625165" y="4589066"/>
            <a:ext cx="6911306" cy="959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Данные соответствуют сценарию тестирования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Нет избыточных записей без назначения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Цель каждого объекта очевидна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5299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SQL-скрипты для подготовки данных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0106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Скрипт — файл с последовательностью SQL-команд, которые приводят базу в нужное состояние перед тестом.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716113"/>
            <a:ext cx="3496877" cy="29094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68183" y="284460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75881" y="3497560"/>
            <a:ext cx="30680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Многократное использование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75881" y="4201517"/>
            <a:ext cx="306806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Запускайте скрипт столько раз, сколько нужно — без повторного ввода команд вручную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2716113"/>
            <a:ext cx="3496877" cy="29094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54067" y="284460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4561766" y="3497560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Версионный контроль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4561766" y="3906242"/>
            <a:ext cx="306806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Храните скрипты в репозитории рядом с тестовым проектом — история изменений всегда доступна</a:t>
            </a:r>
            <a:endParaRPr lang="en-US" sz="1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2716113"/>
            <a:ext cx="3496877" cy="29094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39952" y="284460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8247650" y="3497560"/>
            <a:ext cx="30680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Разделение ответственности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8247650" y="4201517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Скрипты подготовки данных — отдельно от скриптов изменения структуры базы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83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473445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Постоянные и временные данные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539042" y="2746772"/>
            <a:ext cx="3185834" cy="2657277"/>
          </a:xfrm>
          <a:prstGeom prst="roundRect">
            <a:avLst>
              <a:gd name="adj" fmla="val 4609"/>
            </a:avLst>
          </a:prstGeom>
          <a:solidFill>
            <a:srgbClr val="27B29F"/>
          </a:solidFill>
          <a:ln/>
        </p:spPr>
      </p:sp>
      <p:sp>
        <p:nvSpPr>
          <p:cNvPr id="6" name="Text 3"/>
          <p:cNvSpPr/>
          <p:nvPr/>
        </p:nvSpPr>
        <p:spPr>
          <a:xfrm>
            <a:off x="709099" y="2909613"/>
            <a:ext cx="284572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Постоянные данные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09099" y="3320698"/>
            <a:ext cx="2845721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Справочники, классификаторы, данные, нужные всему приложению. Не удаляются после теста.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023716" y="2909613"/>
            <a:ext cx="294096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Временные данные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4023716" y="3318669"/>
            <a:ext cx="2940969" cy="1947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Объекты, созданные для конкретной проверки. Удаляются сразу после завершения теста.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Такое разделение позволяет безопасно очищать базу, не затрагивая необходимые справочники.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13600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Проблема повторного запуска скриптов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997" y="2185690"/>
            <a:ext cx="5548372" cy="31403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25594" y="3099212"/>
            <a:ext cx="1268885" cy="15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Первый запуск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825594" y="3302943"/>
            <a:ext cx="1945624" cy="11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Скрипт создаёт записи успешно.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2163754" y="3719571"/>
            <a:ext cx="1268885" cy="158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Второй запуск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487015" y="3923302"/>
            <a:ext cx="1945624" cy="228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Появляется конфликт — запись уже существует.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7972226" y="2180794"/>
            <a:ext cx="35642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Идемпотентность скриптов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972226" y="2529912"/>
            <a:ext cx="3564245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Скрипт должен работать корректно при любом количестве запусков. Для этого используют: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972226" y="3071416"/>
            <a:ext cx="3564245" cy="1172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Проверку наличия записи перед созданием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Конструкцию </a:t>
            </a:r>
            <a:r>
              <a:rPr lang="en-US" sz="11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 CONFLICT DO NOTHING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в PostgreSQL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Условные вставки через </a:t>
            </a:r>
            <a:r>
              <a:rPr lang="en-US" sz="11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INSERT ... WHERE NOT EXISTS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972226" y="4380409"/>
            <a:ext cx="3564245" cy="946348"/>
          </a:xfrm>
          <a:prstGeom prst="roundRect">
            <a:avLst>
              <a:gd name="adj" fmla="val 6711"/>
            </a:avLst>
          </a:prstGeom>
          <a:solidFill>
            <a:srgbClr val="D5F6F1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3431" y="4571901"/>
            <a:ext cx="189007" cy="15120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463644" y="4529765"/>
            <a:ext cx="2921621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 CONFLICT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встроенный механизм PostgreSQL для обработки дублирующихся записей без ошибки.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6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041785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Изоляция данных при совместной работе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5233360" y="2237367"/>
            <a:ext cx="629686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Когда несколько тестировщиков работают с одной базой, их данные могут пересекаться и мешать друг другу.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862362"/>
            <a:ext cx="401627" cy="4016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05640" y="2862362"/>
            <a:ext cx="572458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Уникальные префиксы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5805640" y="3195241"/>
            <a:ext cx="572458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Добавляйте к тестовым записям уникальный идентификатор или префикс, чтобы отличать их от чужих данных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943747"/>
            <a:ext cx="401627" cy="40163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805640" y="3943747"/>
            <a:ext cx="572458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Маркировка запуска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5805640" y="4276626"/>
            <a:ext cx="572458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Отмечайте принадлежность данных конкретному запуску теста — это упрощает последующую очистку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3360" y="5025132"/>
            <a:ext cx="401627" cy="40163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805640" y="5025132"/>
            <a:ext cx="572458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Параллельные тесты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5805640" y="5358011"/>
            <a:ext cx="572458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Особенно критично при автоматизированных проверках, которые выполняются одновременно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477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Синтетические данные вместо реальных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36385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Почему нельзя копировать данные из продакшена?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808784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Перенос реальных данных в тестовое окружение создаёт серьёзные риски безопасности и нарушает требования конфиденциальности.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583682"/>
            <a:ext cx="6903269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Используйте вымышленные данные, специально созданные для тестирования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необходимости реалистичной структуры — применяйте обезличивание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Убедитесь, что по оставшимся признакам нельзя восстановить реального человека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2251" y="2113855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9528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Удаление временных данных после теста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4336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После завершения проверки временные записи нужно удалить, чтобы они не влияли на следующие тесты.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958405"/>
            <a:ext cx="10868745" cy="2424906"/>
          </a:xfrm>
          <a:prstGeom prst="roundRect">
            <a:avLst>
              <a:gd name="adj" fmla="val 327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825" y="2964755"/>
            <a:ext cx="3618616" cy="2412206"/>
          </a:xfrm>
          <a:custGeom>
            <a:avLst/>
            <a:gdLst/>
            <a:ahLst/>
            <a:cxnLst/>
            <a:rect l="l" t="t" r="r" b="b"/>
            <a:pathLst>
              <a:path w="3618616" h="2412206">
                <a:moveTo>
                  <a:pt x="66156" y="0"/>
                </a:moveTo>
                <a:lnTo>
                  <a:pt x="3618616" y="0"/>
                </a:lnTo>
                <a:lnTo>
                  <a:pt x="3618616" y="2412206"/>
                </a:lnTo>
                <a:lnTo>
                  <a:pt x="66156" y="2412206"/>
                </a:lnTo>
                <a:arcTo wR="66156" hR="66158" stAng="5400000" swAng="5400000"/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6" name="Text 4"/>
          <p:cNvSpPr/>
          <p:nvPr/>
        </p:nvSpPr>
        <p:spPr>
          <a:xfrm>
            <a:off x="856832" y="3153767"/>
            <a:ext cx="32406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DELETE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6832" y="3562449"/>
            <a:ext cx="3240602" cy="1625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Удаляет конкретные записи по условию. Точечное и безопасное удаление.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orders WHERE test_run_id = '42';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286440" y="2964755"/>
            <a:ext cx="3618715" cy="2412206"/>
          </a:xfrm>
          <a:prstGeom prst="rect">
            <a:avLst/>
          </a:prstGeom>
          <a:solidFill>
            <a:srgbClr val="D5F6F1"/>
          </a:solidFill>
          <a:ln/>
        </p:spPr>
      </p:sp>
      <p:sp>
        <p:nvSpPr>
          <p:cNvPr id="9" name="Shape 7"/>
          <p:cNvSpPr/>
          <p:nvPr/>
        </p:nvSpPr>
        <p:spPr>
          <a:xfrm>
            <a:off x="4286440" y="2964755"/>
            <a:ext cx="25399" cy="2412206"/>
          </a:xfrm>
          <a:prstGeom prst="roundRect">
            <a:avLst>
              <a:gd name="adj" fmla="val 50001"/>
            </a:avLst>
          </a:prstGeom>
          <a:solidFill>
            <a:srgbClr val="BBDCD7"/>
          </a:solidFill>
          <a:ln/>
        </p:spPr>
      </p:sp>
      <p:sp>
        <p:nvSpPr>
          <p:cNvPr id="10" name="Text 8"/>
          <p:cNvSpPr/>
          <p:nvPr/>
        </p:nvSpPr>
        <p:spPr>
          <a:xfrm>
            <a:off x="4475447" y="3153767"/>
            <a:ext cx="324070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TRUNCATE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4475447" y="3562449"/>
            <a:ext cx="3240701" cy="1625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Очищает всю таблицу целиком. Быстро, но требует учёта внешних ключей.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TRUNCATE TABLE temp_orders CASCADE;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905155" y="2964755"/>
            <a:ext cx="3618715" cy="2412206"/>
          </a:xfrm>
          <a:custGeom>
            <a:avLst/>
            <a:gdLst/>
            <a:ahLst/>
            <a:cxnLst/>
            <a:rect l="l" t="t" r="r" b="b"/>
            <a:pathLst>
              <a:path w="3618715" h="2412206">
                <a:moveTo>
                  <a:pt x="0" y="0"/>
                </a:moveTo>
                <a:lnTo>
                  <a:pt x="3552558" y="0"/>
                </a:lnTo>
                <a:arcTo wR="66156" hR="66158" stAng="16200000" swAng="5400000"/>
                <a:lnTo>
                  <a:pt x="3618715" y="2346048"/>
                </a:lnTo>
                <a:arcTo wR="66156" hR="66158" stAng="0" swAng="5400000"/>
                <a:lnTo>
                  <a:pt x="0" y="2412206"/>
                </a:lnTo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13" name="Shape 11"/>
          <p:cNvSpPr/>
          <p:nvPr/>
        </p:nvSpPr>
        <p:spPr>
          <a:xfrm>
            <a:off x="7905155" y="2964755"/>
            <a:ext cx="25399" cy="2412206"/>
          </a:xfrm>
          <a:prstGeom prst="roundRect">
            <a:avLst>
              <a:gd name="adj" fmla="val 50001"/>
            </a:avLst>
          </a:prstGeom>
          <a:solidFill>
            <a:srgbClr val="BBDCD7"/>
          </a:solidFill>
          <a:ln/>
        </p:spPr>
      </p:sp>
      <p:sp>
        <p:nvSpPr>
          <p:cNvPr id="14" name="Text 12"/>
          <p:cNvSpPr/>
          <p:nvPr/>
        </p:nvSpPr>
        <p:spPr>
          <a:xfrm>
            <a:off x="8094162" y="3153767"/>
            <a:ext cx="324070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Скрипт очистки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8094162" y="3562449"/>
            <a:ext cx="324070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Возвращает окружение к заранее определённому состоянию после каждого теста.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00743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Порядок удаления связанных объектов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9419" y="2256433"/>
            <a:ext cx="5207663" cy="29474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86888" y="2828011"/>
            <a:ext cx="1209807" cy="148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Удалить дочерние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786888" y="3019229"/>
            <a:ext cx="1826124" cy="208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Сначала очистите все зависимые записи.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2288538" y="3410268"/>
            <a:ext cx="1190951" cy="148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Удалить родителя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653364" y="3601486"/>
            <a:ext cx="1826124" cy="208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Теперь можно удалить основной объект.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4786888" y="3997818"/>
            <a:ext cx="1562213" cy="148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Проверить целостность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786888" y="4189037"/>
            <a:ext cx="1826124" cy="208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Убедитесь в отсутствии нарушений связей.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957244" y="2101340"/>
            <a:ext cx="35792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Ограничения целостности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957244" y="2425294"/>
            <a:ext cx="3579227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База данных не позволит удалить родительский объект, пока существуют связанные с ним дочерние записи.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957244" y="3111897"/>
            <a:ext cx="3579227" cy="126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Сначала удаляются зависимые записи, затем — родительский объект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Нарушение порядка вызовет ошибку ограничения внешнего ключа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аварийном завершении теста — удаление по идентификатору запуска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957244" y="4496495"/>
            <a:ext cx="3579227" cy="857448"/>
          </a:xfrm>
          <a:prstGeom prst="roundRect">
            <a:avLst>
              <a:gd name="adj" fmla="val 6944"/>
            </a:avLst>
          </a:prstGeom>
          <a:solidFill>
            <a:srgbClr val="FCF2B5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8925" y="4666555"/>
            <a:ext cx="177200" cy="1416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417806" y="4631919"/>
            <a:ext cx="2976984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тест упал на середине — оставшиеся данные нужно удалить вручную или через скрипт аварийной очистки.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3" y="481806"/>
            <a:ext cx="4420680" cy="58943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841703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Проверка состояния базы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5233360" y="1479880"/>
            <a:ext cx="6296860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После подготовки и очистки необходимо убедиться, что всё выполнилось корректно. Если подготовка завершилась неправильно — тестирование не следует начинать.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360" y="2266255"/>
            <a:ext cx="756028" cy="10465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10333" y="2417465"/>
            <a:ext cx="541988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Подготовка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110333" y="2726234"/>
            <a:ext cx="5419887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Скрипт создаёт нужные записи, контрольный запрос подтверждает их наличие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3360" y="3312815"/>
            <a:ext cx="756028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10333" y="3464024"/>
            <a:ext cx="541988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Тест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6110333" y="3772793"/>
            <a:ext cx="541988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Проверка выполняется в контролируемых условиях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3360" y="4220071"/>
            <a:ext cx="756028" cy="9072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10333" y="4371280"/>
            <a:ext cx="541988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Очистка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6110333" y="4680049"/>
            <a:ext cx="541988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Временные данные удалены, постоянные — сохранены</a:t>
            </a:r>
            <a:endParaRPr lang="en-US" sz="11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3360" y="5127327"/>
            <a:ext cx="756028" cy="9072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110333" y="5278537"/>
            <a:ext cx="541988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Готовность</a:t>
            </a:r>
            <a:endParaRPr lang="en-US" sz="1450" dirty="0"/>
          </a:p>
        </p:txBody>
      </p:sp>
      <p:sp>
        <p:nvSpPr>
          <p:cNvPr id="17" name="Text 10"/>
          <p:cNvSpPr/>
          <p:nvPr/>
        </p:nvSpPr>
        <p:spPr>
          <a:xfrm>
            <a:off x="6110333" y="5587305"/>
            <a:ext cx="541988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База готова к следующему запуску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634</Words>
  <Application>Microsoft Office PowerPoint</Application>
  <PresentationFormat>Широкоэкранный</PresentationFormat>
  <Paragraphs>100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Open Sans</vt:lpstr>
      <vt:lpstr>Montserrat Bold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2026-10-08T11:28:42Z</dcterms:created>
  <dcterms:modified xsi:type="dcterms:W3CDTF">2026-10-08T11:44:16Z</dcterms:modified>
</cp:coreProperties>
</file>