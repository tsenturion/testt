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4680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127496"/>
            <a:ext cx="4401829" cy="66029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25401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Суть статического тестирования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1475" y="2118221"/>
            <a:ext cx="6296860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Проверка рабочих материалов проекта — требований, спецификаций, макетов, кода — без запуска программы. Ошибка, найденная в требовании, не успевает распространиться на разработку и тестирование.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61475" y="3066157"/>
            <a:ext cx="6296860" cy="2966442"/>
          </a:xfrm>
          <a:prstGeom prst="roundRect">
            <a:avLst>
              <a:gd name="adj" fmla="val 240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825" y="3072507"/>
            <a:ext cx="3142080" cy="1997571"/>
          </a:xfrm>
          <a:custGeom>
            <a:avLst/>
            <a:gdLst/>
            <a:ahLst/>
            <a:cxnLst/>
            <a:rect l="l" t="t" r="r" b="b"/>
            <a:pathLst>
              <a:path w="3142080" h="1997571">
                <a:moveTo>
                  <a:pt x="59541" y="0"/>
                </a:moveTo>
                <a:lnTo>
                  <a:pt x="3142080" y="0"/>
                </a:lnTo>
                <a:lnTo>
                  <a:pt x="3142080" y="1997571"/>
                </a:lnTo>
                <a:lnTo>
                  <a:pt x="0" y="1997571"/>
                </a:lnTo>
                <a:lnTo>
                  <a:pt x="0" y="59542"/>
                </a:lnTo>
                <a:arcTo wR="59541" hR="59542" stAng="10800000" swAng="5400000"/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8" name="Text 5"/>
          <p:cNvSpPr/>
          <p:nvPr/>
        </p:nvSpPr>
        <p:spPr>
          <a:xfrm>
            <a:off x="837881" y="3242568"/>
            <a:ext cx="2801967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Где возникла — там и найдём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37881" y="3865761"/>
            <a:ext cx="2801967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Проблема в документе обнаруживается до того, как разработчик начнёт её реализовывать.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809905" y="3072507"/>
            <a:ext cx="3142080" cy="1997571"/>
          </a:xfrm>
          <a:custGeom>
            <a:avLst/>
            <a:gdLst/>
            <a:ahLst/>
            <a:cxnLst/>
            <a:rect l="l" t="t" r="r" b="b"/>
            <a:pathLst>
              <a:path w="3142080" h="1997571">
                <a:moveTo>
                  <a:pt x="0" y="0"/>
                </a:moveTo>
                <a:lnTo>
                  <a:pt x="3082539" y="0"/>
                </a:lnTo>
                <a:arcTo wR="59541" hR="59542" stAng="16200000" swAng="5400000"/>
                <a:lnTo>
                  <a:pt x="3142080" y="1997571"/>
                </a:lnTo>
                <a:lnTo>
                  <a:pt x="0" y="1997571"/>
                </a:lnTo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1" name="Shape 8"/>
          <p:cNvSpPr/>
          <p:nvPr/>
        </p:nvSpPr>
        <p:spPr>
          <a:xfrm>
            <a:off x="3809905" y="3072507"/>
            <a:ext cx="19050" cy="1997571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2" name="Text 9"/>
          <p:cNvSpPr/>
          <p:nvPr/>
        </p:nvSpPr>
        <p:spPr>
          <a:xfrm>
            <a:off x="3979961" y="3242568"/>
            <a:ext cx="2801967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Раньше — значит дешевле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3979961" y="3865761"/>
            <a:ext cx="2801967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Исправить описание на этапе требований несравнимо проще, чем переделывать готовую функцию.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67825" y="5070078"/>
            <a:ext cx="6284160" cy="956171"/>
          </a:xfrm>
          <a:custGeom>
            <a:avLst/>
            <a:gdLst/>
            <a:ahLst/>
            <a:cxnLst/>
            <a:rect l="l" t="t" r="r" b="b"/>
            <a:pathLst>
              <a:path w="6284160" h="956171">
                <a:moveTo>
                  <a:pt x="0" y="0"/>
                </a:moveTo>
                <a:lnTo>
                  <a:pt x="6284160" y="0"/>
                </a:lnTo>
                <a:lnTo>
                  <a:pt x="6284160" y="896629"/>
                </a:lnTo>
                <a:arcTo wR="59541" hR="59542" stAng="0" swAng="5400000"/>
                <a:lnTo>
                  <a:pt x="59541" y="956171"/>
                </a:lnTo>
                <a:arcTo wR="59541" hR="59542" stAng="5400000" swAng="5400000"/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5" name="Shape 12"/>
          <p:cNvSpPr/>
          <p:nvPr/>
        </p:nvSpPr>
        <p:spPr>
          <a:xfrm>
            <a:off x="667825" y="5070078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6" name="Text 13"/>
          <p:cNvSpPr/>
          <p:nvPr/>
        </p:nvSpPr>
        <p:spPr>
          <a:xfrm>
            <a:off x="837881" y="5240139"/>
            <a:ext cx="594404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Без запуска приложения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837881" y="5597624"/>
            <a:ext cx="5944047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Объект анализа — сам документ, а не поведение системы в работе.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0391"/>
            <a:ext cx="10868745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Статическое vs динамическое тестирование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480" y="2446437"/>
            <a:ext cx="3343191" cy="33432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25165" y="2299196"/>
            <a:ext cx="691130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Динамическое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4625165" y="2750245"/>
            <a:ext cx="691130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 работаете с запущенной программой: передаёте данные, выполняете действия, наблюдаете результат.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625165" y="3480991"/>
            <a:ext cx="691130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Статическое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625165" y="3932039"/>
            <a:ext cx="6911306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Программа может вообще не запускаться. Вы анализируете документ. Например, правило скидки можно проверить на логику ещё до того, как функция написана — и сразу заметить, что условие доставки не уточнено.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625165" y="4942880"/>
            <a:ext cx="691130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Вместе — сильнее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625165" y="5393928"/>
            <a:ext cx="691130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Идеально проверенное требование может быть неправильно реализовано. Оба подхода необходимы и дополняют друг друга.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112" y="132457"/>
            <a:ext cx="4395281" cy="65930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80529"/>
            <a:ext cx="6296860" cy="1104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можно проверять статически</a:t>
            </a:r>
            <a:endParaRPr lang="en-US" sz="3450" dirty="0"/>
          </a:p>
        </p:txBody>
      </p:sp>
      <p:sp>
        <p:nvSpPr>
          <p:cNvPr id="5" name="Text 2"/>
          <p:cNvSpPr/>
          <p:nvPr/>
        </p:nvSpPr>
        <p:spPr>
          <a:xfrm>
            <a:off x="661475" y="1933178"/>
            <a:ext cx="6296860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Любой рабочий продукт, содержащий информацию о системе и поддающийся анализу без выполнения.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666405"/>
            <a:ext cx="353508" cy="3535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21551" y="2727127"/>
            <a:ext cx="5736784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Требования и спецификации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1221551" y="3102372"/>
            <a:ext cx="5736784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Техническое задание, User Story, Use Case — основа ожидаемого поведения системы.</a:t>
            </a:r>
            <a:endParaRPr lang="en-US" sz="1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980259"/>
            <a:ext cx="353508" cy="35351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21551" y="4040981"/>
            <a:ext cx="5736784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Код и архитектура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1221551" y="4416227"/>
            <a:ext cx="5736784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Исходный код и архитектурные описания проверяются до запуска и сборки.</a:t>
            </a: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5294114"/>
            <a:ext cx="353508" cy="35351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21551" y="5354836"/>
            <a:ext cx="5736784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Макеты и API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1221551" y="5730081"/>
            <a:ext cx="5736784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Интерфейсные макеты и описания API определяют контракт между компонентами системы.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65981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Ревью документации: организованная проверка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452092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Цель — рабочее решение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809280"/>
            <a:ext cx="524993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Ревью проверяет, может ли на основании документа принять рабочее решение каждый участник команды.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61475" y="3365599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Три ключевых вопроса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3722787"/>
            <a:ext cx="524993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Поймёт ли разработчик, что реализовывать? Поймёт ли тестировщик, что проверять? Ясен ли ожидаемый результат остальным?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61475" y="4279106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 про стиль — про смысл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1475" y="4636294"/>
            <a:ext cx="524993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формулировка понятна и позволяет продолжить работу, менять её ради личных предпочтений не нужно.</a:t>
            </a:r>
            <a:endParaRPr lang="en-US" sz="11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594" y="1655862"/>
            <a:ext cx="4199924" cy="42000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01" y="134541"/>
            <a:ext cx="4392503" cy="65889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81050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Неформальное ревью: быстро и просто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61475" y="2312789"/>
            <a:ext cx="3266100" cy="295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Один участник передаёт материал другому и получает замечания. Аналитик отправляет описание функции тестировщику до передачи в разработку — вы читаете и отмечаете места, которые повлияют на будущие проверки.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Главное преимущество —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скорость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Удобно для небольших документов и текущих изменений.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242686" y="2159298"/>
            <a:ext cx="2851277" cy="3917553"/>
          </a:xfrm>
          <a:prstGeom prst="roundRect">
            <a:avLst>
              <a:gd name="adj" fmla="val 4534"/>
            </a:avLst>
          </a:prstGeom>
          <a:solidFill>
            <a:srgbClr val="27B29F"/>
          </a:solidFill>
          <a:ln/>
        </p:spPr>
      </p:sp>
      <p:sp>
        <p:nvSpPr>
          <p:cNvPr id="7" name="Text 4"/>
          <p:cNvSpPr/>
          <p:nvPr/>
        </p:nvSpPr>
        <p:spPr>
          <a:xfrm>
            <a:off x="4422168" y="2329855"/>
            <a:ext cx="249231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Когда подходит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422168" y="2780903"/>
            <a:ext cx="2492313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Небольшой документ, срочное изменение, первичная проверка перед более глубоким ревью.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422168" y="4071838"/>
            <a:ext cx="249231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Ограничение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422168" y="4522887"/>
            <a:ext cx="2492313" cy="140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Результат зависит от внимательности одного человека. Для критичных материалов одного просмотра недостаточно.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5040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Walkthrough: совместное прохождение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070" y="2620863"/>
            <a:ext cx="5888287" cy="23230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97055" y="3425388"/>
            <a:ext cx="1171372" cy="31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Автор объясняет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097055" y="3789470"/>
            <a:ext cx="1171372" cy="235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Пошаговый рассказ о содержимом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53346" y="3421315"/>
            <a:ext cx="1171372" cy="31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Участники вопросы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553346" y="3785397"/>
            <a:ext cx="1171372" cy="353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Уточнения и обсуждение в реальном времени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6636" y="3425388"/>
            <a:ext cx="1171372" cy="31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Разные трактовки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6636" y="3789470"/>
            <a:ext cx="1171372" cy="353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Непонимания становятся видны сразу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987207" y="1638399"/>
            <a:ext cx="354926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это работает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987207" y="2025948"/>
            <a:ext cx="3549264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Автор последовательно объясняет материал и ведёт обсуждение. Команда проходит документ вместе.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987207" y="2875657"/>
            <a:ext cx="3549264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Пример: сценарий возврата товара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987207" y="3514229"/>
            <a:ext cx="3549264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Автор объясняет каждый этап, участники задают вопросы. Разные трактовки одного правила становятся видны сразу — до того, как каждый пойдёт реализовывать своё понимание.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987207" y="4839395"/>
            <a:ext cx="354926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Важно помнить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7987207" y="5226943"/>
            <a:ext cx="3549264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Устное объяснение не заменяет документ. Всё, что прояснилось на встрече, должно быть зафиксировано письменно.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3" y="113407"/>
            <a:ext cx="4420680" cy="6631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32148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Техническое ревью: глубокий анализ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5233360" y="1958479"/>
            <a:ext cx="6296860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Проверка специалистами, которые понимают предметную или техническую область. Недостаточно просто прочитать — нужно оценить корректность решения профессионально.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747566"/>
            <a:ext cx="6296860" cy="10846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79814" y="2917825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Ревью API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5479814" y="3226594"/>
            <a:ext cx="588015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Проверяется согласованность с архитектурой и техническими ограничениями системы.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953173"/>
            <a:ext cx="6296860" cy="8669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79814" y="4123432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Схема базы данных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5479814" y="4432201"/>
            <a:ext cx="588015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Рассматриваются правила хранения данных и связи с другими компонентами.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941094"/>
            <a:ext cx="6296860" cy="108465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79814" y="5111353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Ценность для тестировщика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5479814" y="5420122"/>
            <a:ext cx="588015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техническое решение невозможно реализовать так, как описано, это обнаружится до запуска системы.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820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Inspection: формализованное ревью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592957"/>
            <a:ext cx="4528032" cy="45281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49672" y="1971973"/>
            <a:ext cx="58867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Строгая процедура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649672" y="2445841"/>
            <a:ext cx="5886799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Заранее определённый порядок, подготовка участников и обязательная фиксация результатов. Участники изучают материал до встречи — обсуждение концентрируется на конкретных проблемах, а не на первом знакомстве с документом.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649672" y="4105374"/>
            <a:ext cx="58867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Когда оправдано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649672" y="4579243"/>
            <a:ext cx="5886799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Инспекция требует больше организационных затрат. Она имеет смысл для критичных требований и сложной документации, где цена пропущенной ошибки выше стоимости самого ревью.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1272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Роли и подготовка в ревью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426369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Один человек редко видит документ со всех точек зрения. Качество ревью определяется составом участников и их подготовкой.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61475" y="1817688"/>
            <a:ext cx="5366112" cy="1523107"/>
          </a:xfrm>
          <a:prstGeom prst="roundRect">
            <a:avLst>
              <a:gd name="adj" fmla="val 4430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8456" y="1984673"/>
            <a:ext cx="481993" cy="482005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1009" y="2117229"/>
            <a:ext cx="216887" cy="2168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8456" y="2603202"/>
            <a:ext cx="503215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Автор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8456" y="2936081"/>
            <a:ext cx="503215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Понимает бизнес-смысл и контекст создания документа.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64108" y="1817688"/>
            <a:ext cx="5366112" cy="1523107"/>
          </a:xfrm>
          <a:prstGeom prst="roundRect">
            <a:avLst>
              <a:gd name="adj" fmla="val 4430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31089" y="1984673"/>
            <a:ext cx="481993" cy="482005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63642" y="2117229"/>
            <a:ext cx="216887" cy="2168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31089" y="2603202"/>
            <a:ext cx="503215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Разработчик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331089" y="2936081"/>
            <a:ext cx="503215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Замечает технические ограничения и сложности реализации.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61475" y="3477320"/>
            <a:ext cx="5366112" cy="1760835"/>
          </a:xfrm>
          <a:prstGeom prst="roundRect">
            <a:avLst>
              <a:gd name="adj" fmla="val 383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8456" y="3644305"/>
            <a:ext cx="481993" cy="482005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1009" y="3776861"/>
            <a:ext cx="216887" cy="2168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8456" y="4262834"/>
            <a:ext cx="503215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Тестировщик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28456" y="4595713"/>
            <a:ext cx="503215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Оценивает возможность проверки: достаточно ли информации для тестовых условий и ожидаемого поведения.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64108" y="3477320"/>
            <a:ext cx="5366112" cy="1760835"/>
          </a:xfrm>
          <a:prstGeom prst="roundRect">
            <a:avLst>
              <a:gd name="adj" fmla="val 383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31089" y="3644305"/>
            <a:ext cx="481993" cy="482005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3642" y="3776861"/>
            <a:ext cx="216887" cy="2168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31089" y="4262834"/>
            <a:ext cx="503215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Эксплуатация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331089" y="4595713"/>
            <a:ext cx="503215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Видит сложности использования системы в реальных условиях.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61475" y="5391745"/>
            <a:ext cx="10868745" cy="814983"/>
          </a:xfrm>
          <a:prstGeom prst="roundRect">
            <a:avLst>
              <a:gd name="adj" fmla="val 8280"/>
            </a:avLst>
          </a:prstGeom>
          <a:solidFill>
            <a:srgbClr val="D5F6F1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106" y="5586512"/>
            <a:ext cx="200814" cy="16063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83551" y="5568355"/>
            <a:ext cx="1018603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Большое количество участников не гарантирует качество. Гораздо полезнее, когда каждый приходит с конкретными вопросами.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650" y="106263"/>
            <a:ext cx="4430205" cy="66454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88578"/>
            <a:ext cx="6296860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Практическая ценность для тестировщика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661475" y="1734046"/>
            <a:ext cx="629686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Статическое тестирование переносит обнаружение проблем на более ранний момент. Качество начинается до запуска приложения.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250480"/>
            <a:ext cx="708801" cy="8506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76536" y="2392164"/>
            <a:ext cx="5481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Неформальное ревью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476536" y="2677319"/>
            <a:ext cx="5481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Небольшая задача или текущее изменение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101082"/>
            <a:ext cx="708801" cy="8506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76536" y="3242766"/>
            <a:ext cx="5481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Walkthrough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476536" y="3527921"/>
            <a:ext cx="5481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Сложный сценарий, требующий общего понимания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3951684"/>
            <a:ext cx="708801" cy="85060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76536" y="4093369"/>
            <a:ext cx="5481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Техническое ревью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1476536" y="4378523"/>
            <a:ext cx="5481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Профессиональная оценка решения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4802287"/>
            <a:ext cx="708801" cy="85060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76536" y="4943971"/>
            <a:ext cx="5481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Инспекция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1476536" y="5229126"/>
            <a:ext cx="5481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Критичный документ с высокой ценой ошибки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661475" y="5772448"/>
            <a:ext cx="629686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Участвуя в проверке документации рано, вы не только готовите будущие тесты — вы помогаете команде не переносить неопределённости в реализацию.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757</Words>
  <Application>Microsoft Office PowerPoint</Application>
  <PresentationFormat>Широкоэкранный</PresentationFormat>
  <Paragraphs>95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Open Sans Bold</vt:lpstr>
      <vt:lpstr>Open Sans</vt:lpstr>
      <vt:lpstr>Montserrat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2026-09-29T17:59:14Z</dcterms:created>
  <dcterms:modified xsi:type="dcterms:W3CDTF">2026-09-29T20:22:56Z</dcterms:modified>
</cp:coreProperties>
</file>