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Montserrat Light" panose="00000400000000000000" pitchFamily="2" charset="-52"/>
      <p:regular r:id="rId14"/>
    </p:embeddedFont>
    <p:embeddedFont>
      <p:font typeface="Open Sans" panose="020B0606030504020204" pitchFamily="34" charset="0"/>
      <p:regular r:id="rId15"/>
    </p:embeddedFont>
    <p:embeddedFont>
      <p:font typeface="Open Sans Bold" panose="020B0806030504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8533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106263"/>
            <a:ext cx="4430205" cy="6645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01402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считается дефектом документации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2042517"/>
            <a:ext cx="2975496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Дефект документации — это проблема в описании системы, которая мешает правильно понять, реализовать или проверить продукт. Это не про запятые и стиль — это про </a:t>
            </a:r>
            <a:r>
              <a:rPr lang="en-US" sz="11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надёжность передачи правил работы системы</a:t>
            </a: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3352701"/>
            <a:ext cx="2975496" cy="1055886"/>
          </a:xfrm>
          <a:prstGeom prst="roundRect">
            <a:avLst>
              <a:gd name="adj" fmla="val 5639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041" y="3522762"/>
            <a:ext cx="177200" cy="141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93922" y="3483769"/>
            <a:ext cx="237325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разработчик вынужден самостоятельно угадывать поведение — документация уже создаёт риск ошибки.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61074" y="2066429"/>
            <a:ext cx="2975496" cy="12675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98003" y="2227163"/>
            <a:ext cx="2577837" cy="442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Документация — рабочий инструмент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798003" y="2776339"/>
            <a:ext cx="257783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литературный текст, а источник истины для всей команды.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61074" y="3440212"/>
            <a:ext cx="2975496" cy="124450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798003" y="3600946"/>
            <a:ext cx="25778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Дефект ≠ опечатка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798003" y="3928666"/>
            <a:ext cx="257783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Проблема возникает, когда правило работы системы не может быть однозначно определено.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61074" y="4790976"/>
            <a:ext cx="2975496" cy="104606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798003" y="4951710"/>
            <a:ext cx="25778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Риск — главный критерий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798003" y="5279430"/>
            <a:ext cx="257783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Есть ли вероятность, что разные участники примут разные решения?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924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1256407"/>
            <a:ext cx="2896718" cy="4345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709399" y="630337"/>
            <a:ext cx="7820822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Ambiguity: когда одна фраза — несколько смыслов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3709399" y="1756668"/>
            <a:ext cx="78208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Неоднозначность возникает, когда формулировка допускает несколько разумных трактовок, каждая из которых ведёт к разному поведению системы.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709399" y="2328069"/>
            <a:ext cx="7820822" cy="3328194"/>
          </a:xfrm>
          <a:prstGeom prst="roundRect">
            <a:avLst>
              <a:gd name="adj" fmla="val 190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15748" y="2334419"/>
            <a:ext cx="7808122" cy="828873"/>
          </a:xfrm>
          <a:custGeom>
            <a:avLst/>
            <a:gdLst/>
            <a:ahLst/>
            <a:cxnLst/>
            <a:rect l="l" t="t" r="r" b="b"/>
            <a:pathLst>
              <a:path w="7808122" h="828873">
                <a:moveTo>
                  <a:pt x="52925" y="0"/>
                </a:moveTo>
                <a:lnTo>
                  <a:pt x="7755197" y="0"/>
                </a:lnTo>
                <a:arcTo wR="52925" hR="52926" stAng="16200000" swAng="5400000"/>
                <a:lnTo>
                  <a:pt x="7808122" y="828873"/>
                </a:lnTo>
                <a:lnTo>
                  <a:pt x="0" y="828873"/>
                </a:lnTo>
                <a:lnTo>
                  <a:pt x="0" y="52926"/>
                </a:lnTo>
                <a:arcTo wR="52925" hR="52926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3866954" y="2485628"/>
            <a:ext cx="75057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📄</a:t>
            </a: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Требование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3866954" y="2794397"/>
            <a:ext cx="75057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«Пользователь может повторно отправить код через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короткий промежуток времени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»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15748" y="3163292"/>
            <a:ext cx="7808122" cy="828873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3715748" y="3163292"/>
            <a:ext cx="7808122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3866954" y="3314502"/>
            <a:ext cx="75057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👨‍💻</a:t>
            </a: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Разработчик А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3866954" y="3623270"/>
            <a:ext cx="75057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Реализует: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30 секунд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715748" y="3992166"/>
            <a:ext cx="7808122" cy="828873"/>
          </a:xfrm>
          <a:prstGeom prst="rect">
            <a:avLst/>
          </a:prstGeom>
          <a:solidFill>
            <a:srgbClr val="D5F6F1"/>
          </a:solidFill>
          <a:ln/>
        </p:spPr>
      </p:sp>
      <p:sp>
        <p:nvSpPr>
          <p:cNvPr id="15" name="Shape 12"/>
          <p:cNvSpPr/>
          <p:nvPr/>
        </p:nvSpPr>
        <p:spPr>
          <a:xfrm>
            <a:off x="3715748" y="3992166"/>
            <a:ext cx="7808122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6" name="Text 13"/>
          <p:cNvSpPr/>
          <p:nvPr/>
        </p:nvSpPr>
        <p:spPr>
          <a:xfrm>
            <a:off x="3866954" y="4143375"/>
            <a:ext cx="75057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👩‍💻</a:t>
            </a: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Разработчик Б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866954" y="4452144"/>
            <a:ext cx="75057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Реализует: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 минуты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715748" y="4821039"/>
            <a:ext cx="7808122" cy="828873"/>
          </a:xfrm>
          <a:custGeom>
            <a:avLst/>
            <a:gdLst/>
            <a:ahLst/>
            <a:cxnLst/>
            <a:rect l="l" t="t" r="r" b="b"/>
            <a:pathLst>
              <a:path w="7808122" h="828873">
                <a:moveTo>
                  <a:pt x="0" y="0"/>
                </a:moveTo>
                <a:lnTo>
                  <a:pt x="7808122" y="0"/>
                </a:lnTo>
                <a:lnTo>
                  <a:pt x="7808122" y="775947"/>
                </a:lnTo>
                <a:arcTo wR="52925" hR="52926" stAng="0" swAng="5400000"/>
                <a:lnTo>
                  <a:pt x="52925" y="828873"/>
                </a:lnTo>
                <a:arcTo wR="52925" hR="52926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9" name="Shape 16"/>
          <p:cNvSpPr/>
          <p:nvPr/>
        </p:nvSpPr>
        <p:spPr>
          <a:xfrm>
            <a:off x="3715748" y="4821039"/>
            <a:ext cx="7808122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20" name="Text 17"/>
          <p:cNvSpPr/>
          <p:nvPr/>
        </p:nvSpPr>
        <p:spPr>
          <a:xfrm>
            <a:off x="3866954" y="4972248"/>
            <a:ext cx="7505711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🧪</a:t>
            </a: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Тестировщик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3866954" y="5281017"/>
            <a:ext cx="7505711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может определить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правильный результат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3709399" y="5792291"/>
            <a:ext cx="782082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можно показать хотя бы два разумных варианта поведения, одинаково соответствующих тексту — перед вами дефект.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799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находить неоднозначность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5666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Неточности выглядят безобидно, пока требование просто читается. Но стоит попытаться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написать тест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сразу появляются вопросы.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644973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Слова-сигналы неоднозначности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61475" y="3223716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B6D6FC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491409"/>
            <a:ext cx="236234" cy="1890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75723" y="3459956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Практический приём: мысленно передайте требование двум независимым разработчикам. Разные реализации — сигнал дефекта.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494709"/>
            <a:ext cx="2575357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6832" y="4690070"/>
            <a:ext cx="218464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«быстро»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3425839" y="4494709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21195" y="4690070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«обычно»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90301" y="4494709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5658" y="4690070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«корректно»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954764" y="4494709"/>
            <a:ext cx="2575456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50121" y="4690070"/>
            <a:ext cx="21847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«при необходимости»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1475" y="5376863"/>
            <a:ext cx="5339820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6832" y="5572224"/>
            <a:ext cx="4949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«некоторые»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6190301" y="5376863"/>
            <a:ext cx="5339919" cy="693142"/>
          </a:xfrm>
          <a:prstGeom prst="roundRect">
            <a:avLst>
              <a:gd name="adj" fmla="val 114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85658" y="5572224"/>
            <a:ext cx="49492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«периодически»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127496"/>
            <a:ext cx="4401829" cy="66029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15863"/>
            <a:ext cx="6296860" cy="1594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Missing Requirements: когда информации просто нет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233360" y="2678013"/>
            <a:ext cx="3276518" cy="180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Отсутствующее требование — это ситуация, когда для определённого поведения системы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правило вообще не задано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принципиально отличается от неоднозначности: информация не просто неясна — её не существует.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8446" y="4797921"/>
            <a:ext cx="3021433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Пробел почти всегда будет чем-то заполнен. Отсутствие правила нельзя воспринимать как нейтральное состояние.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4660205"/>
            <a:ext cx="19050" cy="1309688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sp>
        <p:nvSpPr>
          <p:cNvPr id="8" name="Shape 5"/>
          <p:cNvSpPr/>
          <p:nvPr/>
        </p:nvSpPr>
        <p:spPr>
          <a:xfrm>
            <a:off x="8808718" y="2540298"/>
            <a:ext cx="2850186" cy="3601839"/>
          </a:xfrm>
          <a:prstGeom prst="roundRect">
            <a:avLst>
              <a:gd name="adj" fmla="val 4297"/>
            </a:avLst>
          </a:prstGeom>
          <a:solidFill>
            <a:srgbClr val="27B29F"/>
          </a:solidFill>
          <a:ln/>
        </p:spPr>
      </p:sp>
      <p:sp>
        <p:nvSpPr>
          <p:cNvPr id="9" name="Text 6"/>
          <p:cNvSpPr/>
          <p:nvPr/>
        </p:nvSpPr>
        <p:spPr>
          <a:xfrm>
            <a:off x="8978775" y="2693392"/>
            <a:ext cx="251007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Пример из практики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78775" y="3112195"/>
            <a:ext cx="251007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 описывает загрузку PDF-файла, но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указывает максимальный размер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978775" y="4025602"/>
            <a:ext cx="2510072" cy="1399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 выберет одно ограничение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 проверит другое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Заказчик ожидает третье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285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обнаруживать пропущенные требования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367234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Рассматривайте не только то, что написано, но и какие ситуации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неизбежно возникнут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при использовании функции.</a:t>
            </a:r>
            <a:endParaRPr lang="en-US" sz="11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389" y="1720949"/>
            <a:ext cx="8694917" cy="39127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58129" y="1902271"/>
            <a:ext cx="1521603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Старт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3058129" y="2204300"/>
            <a:ext cx="1521603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Запуск процесса поиска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63010" y="4752212"/>
            <a:ext cx="1529963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Основной шаг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563010" y="5054241"/>
            <a:ext cx="1529963" cy="507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Анализ и восстановление требований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051171" y="1788357"/>
            <a:ext cx="1521602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Ошибки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051171" y="2090386"/>
            <a:ext cx="1521602" cy="507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Обработка нештатных ситуаций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56054" y="4836864"/>
            <a:ext cx="1521602" cy="235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Прерывания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556054" y="5138893"/>
            <a:ext cx="1521602" cy="338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Граничные случаи и потеря связи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1475" y="5769769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Документация часто хорошо описывает успешный сценарий, но молчит о граничных случаях. Если ситуация реальна — отсутствие правила для неё является пробелом.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433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Отличить дефект от собственного вопроса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1475" y="175329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28843" y="178697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236036" y="1815009"/>
            <a:ext cx="2774484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Проверьте контекст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6036" y="2266057"/>
            <a:ext cx="2774484" cy="1120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Информация может быть в другом согласованном источнике, глоссарии или общей спецификации.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23736" y="1753295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1104" y="1786979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4798297" y="1815009"/>
            <a:ext cx="2774484" cy="84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 путайте повторение с пробелом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4798297" y="2827040"/>
            <a:ext cx="2774484" cy="14004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общее правило уже определено в спецификации, его отсутствие в каждой User Story — не дефект, а правильная практика.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4568627"/>
            <a:ext cx="404009" cy="404019"/>
          </a:xfrm>
          <a:prstGeom prst="roundRect">
            <a:avLst>
              <a:gd name="adj" fmla="val 1866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8843" y="4602311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236036" y="4630341"/>
            <a:ext cx="6336745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Сформулируйте вывод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36036" y="5081389"/>
            <a:ext cx="633674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Хорошее замечание — не «я этого не увидел», а «для этой ситуации в актуальной документации невозможно определить требуемое поведение».</a:t>
            </a:r>
            <a:endParaRPr lang="en-US" sz="14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75" y="2165846"/>
            <a:ext cx="3343191" cy="3343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120352"/>
            <a:ext cx="4411354" cy="66171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59532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Как правильно сформулировать замечание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068413"/>
            <a:ext cx="629686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Замечание должно позволять автору </a:t>
            </a:r>
            <a:r>
              <a:rPr lang="en-US" sz="12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быстро понять, где проблема и почему она мешает работе</a:t>
            </a: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Формулировка «непонятно» — бесполезна.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61475" y="2697460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21650" y="2727523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159441" y="2752626"/>
            <a:ext cx="5798893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Плохо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159441" y="3091855"/>
            <a:ext cx="5798893" cy="557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«Непонятно про блокировку»</a:t>
            </a:r>
            <a:endParaRPr lang="en-US" sz="125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Автор не знает, что именно искать и что уточнять.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61475" y="3922216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1650" y="3952280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1159441" y="3977382"/>
            <a:ext cx="5798893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Хорошо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159441" y="4316611"/>
            <a:ext cx="579889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«Требование указывает блокировку после нескольких неудачных попыток входа, но не определяет количество попыток. Невозможно установить момент блокировки учётной записи.»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61475" y="5183386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D5F6F1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378152"/>
            <a:ext cx="200814" cy="16063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3551" y="5359995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После описания проблемы — сформулируйте уточняющий вопрос. Не навязывайте собственный вариант решения.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1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 и ссылка на конкретное место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29755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Хорошее замечание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привязано к конкретному месту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Без контекста автор будет самостоятельно искать источник проблемы в десятках страниц.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147219"/>
            <a:ext cx="3496877" cy="23495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33616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Указывайте точно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3770313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Раздел, номер требования, критерий приёмки или конкретный фрагмент текста.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147219"/>
            <a:ext cx="3496877" cy="234959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3361630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Замечание — самодостаточно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4065587"/>
            <a:ext cx="296646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Смысл должен оставаться понятным даже отдельно от системы комментариев.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147219"/>
            <a:ext cx="3496877" cy="234959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3361630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Особенно важно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3770313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похожие правила встречаются в нескольких местах — без привязки «ограничение не указано» ничего не говорит.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040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Нейтральный язык замечаний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59074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 проверяете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документацию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а не человека. Отделяйте проблему рабочего продукта от оценки автора.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474119"/>
            <a:ext cx="10868745" cy="2122488"/>
          </a:xfrm>
          <a:prstGeom prst="roundRect">
            <a:avLst>
              <a:gd name="adj" fmla="val 374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480469"/>
            <a:ext cx="5428023" cy="2109788"/>
          </a:xfrm>
          <a:custGeom>
            <a:avLst/>
            <a:gdLst/>
            <a:ahLst/>
            <a:cxnLst/>
            <a:rect l="l" t="t" r="r" b="b"/>
            <a:pathLst>
              <a:path w="5428023" h="2109788">
                <a:moveTo>
                  <a:pt x="66156" y="0"/>
                </a:moveTo>
                <a:lnTo>
                  <a:pt x="5428023" y="0"/>
                </a:lnTo>
                <a:lnTo>
                  <a:pt x="5428023" y="2109788"/>
                </a:lnTo>
                <a:lnTo>
                  <a:pt x="66156" y="2109788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266948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Избегайте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078163"/>
            <a:ext cx="5050009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«Вы опять забыли указать условие»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Оценочно, создаёт напряжение, не помогает решить проблему.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480469"/>
            <a:ext cx="5428023" cy="2109788"/>
          </a:xfrm>
          <a:custGeom>
            <a:avLst/>
            <a:gdLst/>
            <a:ahLst/>
            <a:cxnLst/>
            <a:rect l="l" t="t" r="r" b="b"/>
            <a:pathLst>
              <a:path w="5428023" h="2109788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2043629"/>
                </a:lnTo>
                <a:arcTo wR="66156" hR="66158" stAng="0" swAng="5400000"/>
                <a:lnTo>
                  <a:pt x="0" y="2109788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480469"/>
            <a:ext cx="25399" cy="2109788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6284854" y="2669480"/>
            <a:ext cx="50500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Используйте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284854" y="3078163"/>
            <a:ext cx="5050009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«Для состояния оплаченного заказа не определено поведение при попытке отмены»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Нейтрально, конкретно, позволяет сразу обсуждать содержание.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809232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5F6F1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076924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5045472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Задача замечания — сделать проблему видимой, а не заменить аналитика. Не объявляйте своё предположение единственно правильным.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484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алгоритм работы с дефектом</a:t>
            </a:r>
            <a:endParaRPr lang="en-US" sz="2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1439" y="1067991"/>
            <a:ext cx="6428817" cy="34051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8502" y="3501670"/>
            <a:ext cx="1702550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Идентификация риска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658502" y="3955577"/>
            <a:ext cx="1702550" cy="26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Могут ли участники принять разные решения?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3036824" y="1324859"/>
            <a:ext cx="1702550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требований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036824" y="1778766"/>
            <a:ext cx="1702550" cy="26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есть в другом документе?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851668" y="1324859"/>
            <a:ext cx="1702550" cy="397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Документация проблемы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1668" y="1778766"/>
            <a:ext cx="1702550" cy="2605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Указать фрагмент, что отсутствует, вопрос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52152" y="3501780"/>
            <a:ext cx="1702550" cy="3973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Проверка исправления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452152" y="3955687"/>
            <a:ext cx="1702550" cy="390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внесено в актуальную документацию?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61475" y="4560193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61475" y="4752876"/>
            <a:ext cx="5395678" cy="127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838700"/>
            <a:ext cx="539567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Сформулируйте риск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61475" y="5074047"/>
            <a:ext cx="5395678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Могут ли разные участники принять разные решения? Есть ли ситуация без описанного правила?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134443" y="4560193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134443" y="4752876"/>
            <a:ext cx="5395778" cy="127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18" name="Text 15"/>
          <p:cNvSpPr/>
          <p:nvPr/>
        </p:nvSpPr>
        <p:spPr>
          <a:xfrm>
            <a:off x="6134443" y="4838700"/>
            <a:ext cx="539577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Проверьте связанные источники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34443" y="5074047"/>
            <a:ext cx="539577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Ответ может быть в другом актуальном документе или спецификации.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61475" y="5559326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1475" y="5752009"/>
            <a:ext cx="5395678" cy="127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22" name="Text 19"/>
          <p:cNvSpPr/>
          <p:nvPr/>
        </p:nvSpPr>
        <p:spPr>
          <a:xfrm>
            <a:off x="661475" y="5837833"/>
            <a:ext cx="539567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Зафиксируйте замечание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61475" y="6073180"/>
            <a:ext cx="539567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Конкретный фрагмент + чего не хватает + уточняющий вопрос.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134443" y="5559326"/>
            <a:ext cx="241790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34443" y="5752009"/>
            <a:ext cx="5395778" cy="12700"/>
          </a:xfrm>
          <a:prstGeom prst="rect">
            <a:avLst/>
          </a:prstGeom>
          <a:solidFill>
            <a:srgbClr val="27B29F"/>
          </a:solidFill>
          <a:ln/>
        </p:spPr>
      </p:sp>
      <p:sp>
        <p:nvSpPr>
          <p:cNvPr id="26" name="Text 23"/>
          <p:cNvSpPr/>
          <p:nvPr/>
        </p:nvSpPr>
        <p:spPr>
          <a:xfrm>
            <a:off x="6134443" y="5837833"/>
            <a:ext cx="539577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Убедитесь в устранении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134443" y="6073180"/>
            <a:ext cx="5395778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Решение зафиксировано в документации — только тогда дефект действительно закрыт.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800</Words>
  <Application>Microsoft Office PowerPoint</Application>
  <PresentationFormat>Широкоэкранный</PresentationFormat>
  <Paragraphs>117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Open Sans</vt:lpstr>
      <vt:lpstr>Montserrat Bold</vt:lpstr>
      <vt:lpstr>Noto Color Emoji</vt:lpstr>
      <vt:lpstr>Open Sans Bold</vt:lpstr>
      <vt:lpstr>Montserrat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2026-09-30T13:34:05Z</dcterms:created>
  <dcterms:modified xsi:type="dcterms:W3CDTF">2026-09-30T13:38:27Z</dcterms:modified>
</cp:coreProperties>
</file>