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Montserrat Light" panose="00000400000000000000" pitchFamily="2" charset="-52"/>
      <p:regular r:id="rId14"/>
    </p:embeddedFont>
    <p:embeddedFont>
      <p:font typeface="Open Sans" panose="020B0606030504020204" pitchFamily="34" charset="0"/>
      <p:regular r:id="rId15"/>
    </p:embeddedFont>
    <p:embeddedFont>
      <p:font typeface="Open Sans Bold" panose="020B0806030504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4060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71736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Зачем нужен качественный баг-репорт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2164556"/>
            <a:ext cx="6296860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Баг-репорт — это не просто сообщение об ошибке. Это техническое описание, которое позволяет разработчику понять проблему, воспроизвести её и начать анализ без уточнений.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3112492"/>
            <a:ext cx="3071835" cy="1751707"/>
          </a:xfrm>
          <a:prstGeom prst="roundRect">
            <a:avLst>
              <a:gd name="adj" fmla="val 407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7881" y="3288903"/>
            <a:ext cx="27190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Скорость исправления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37881" y="3646388"/>
            <a:ext cx="271902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Качество репорта напрямую влияет на то, как быстро дефект будет устранён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86400" y="3112492"/>
            <a:ext cx="3071934" cy="1751707"/>
          </a:xfrm>
          <a:prstGeom prst="roundRect">
            <a:avLst>
              <a:gd name="adj" fmla="val 407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62807" y="3288903"/>
            <a:ext cx="2719121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Конкретное поведение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4062807" y="3912096"/>
            <a:ext cx="271912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Описывайте то, что система сделала, а не предположения о причинах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1475" y="5017294"/>
            <a:ext cx="6296860" cy="968871"/>
          </a:xfrm>
          <a:prstGeom prst="roundRect">
            <a:avLst>
              <a:gd name="adj" fmla="val 737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7881" y="5193705"/>
            <a:ext cx="59440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Факты vs интерпретации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37881" y="5551190"/>
            <a:ext cx="594404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Чётко разделяйте наблюдаемые факты и собственные выводы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4008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написать эффективный заголовок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72" y="1494433"/>
            <a:ext cx="3016869" cy="30169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08993" y="2765127"/>
            <a:ext cx="692747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Заголовок должен кратко передавать суть проблемы так, чтобы её можно было понять без открытия полного описания.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818559"/>
            <a:ext cx="3531901" cy="14054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7354" y="4998244"/>
            <a:ext cx="309634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Где и что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917354" y="5331123"/>
            <a:ext cx="309634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Указывайте, где возникает проблема и что происходит неправильно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9897" y="4818559"/>
            <a:ext cx="3531901" cy="140543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85776" y="4998244"/>
            <a:ext cx="309634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Без общих слов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4585776" y="5331123"/>
            <a:ext cx="309634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Избегайте формулировок вроде «Ошибка при регистрации»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8319" y="4818559"/>
            <a:ext cx="3531901" cy="140543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54198" y="4998244"/>
            <a:ext cx="309634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Хороший пример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8254198" y="5331123"/>
            <a:ext cx="309634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«Форма регистрации принимает уже зарегистрированный адрес электронной почты»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54745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Предусловия и окружение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1361579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Перед шагами воспроизведения укажите состояние системы, которое должно существовать до начала проверки.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990626"/>
            <a:ext cx="401627" cy="4016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475" y="2562920"/>
            <a:ext cx="629686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Тип пользователя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61475" y="2895798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Администратор, обычный пользователь или гость — роль влияет на поведение системы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644305"/>
            <a:ext cx="401627" cy="4016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216598"/>
            <a:ext cx="629686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Состояние объектов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661475" y="4549477"/>
            <a:ext cx="629686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Заказ оплачен, профиль заполнен — зафиксируйте исходные данные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5060255"/>
            <a:ext cx="401627" cy="4016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475" y="5632549"/>
            <a:ext cx="629686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Параметры окружения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661475" y="5965428"/>
            <a:ext cx="629686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Версия браузера, ОС, версия приложения — только значимые параметры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338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Шаги воспроизведения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42" y="1474788"/>
            <a:ext cx="6227408" cy="3298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66323" y="3832237"/>
            <a:ext cx="1543045" cy="192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Будьте конкретны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760145" y="4079456"/>
            <a:ext cx="1649222" cy="292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Укажите точные данные и условия.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57940" y="1683405"/>
            <a:ext cx="1649222" cy="384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Разделяйте действия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57940" y="2123094"/>
            <a:ext cx="1649222" cy="292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шаг — одно действие.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853292" y="1875876"/>
            <a:ext cx="1539730" cy="192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Удаляйте лишнее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53292" y="2123094"/>
            <a:ext cx="1649222" cy="292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Исключите нерелевантные шаги.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434967" y="3832344"/>
            <a:ext cx="1598432" cy="192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Держите минимум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34967" y="4079563"/>
            <a:ext cx="1649222" cy="292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Опишите только необходимые шаги.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002189" y="2477591"/>
            <a:ext cx="3534282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Опишите последовательность действий, которая приводит к появлению проблемы. Другой человек должен повторить ваш путь и увидеть тот же результат.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1475" y="5117802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5221" y="5149652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197243" y="5176242"/>
            <a:ext cx="2959621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Конкретность и последовательность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197243" y="5799435"/>
            <a:ext cx="295962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шаг — одно чёткое действие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348153" y="5117802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11899" y="5149652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883921" y="5176242"/>
            <a:ext cx="29596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Разбивайте на операции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4883921" y="5533727"/>
            <a:ext cx="295962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скрывайте несколько действий в одном шаге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034831" y="5117802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98577" y="5149652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570599" y="5176242"/>
            <a:ext cx="2959621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Минимальная последовательность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8570599" y="5799435"/>
            <a:ext cx="295962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Исключайте всё, что не влияет на появление проблемы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3016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Фактический результат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898279"/>
            <a:ext cx="691944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Опишите то, что система действительно сделала после выполнения шагов. Это наблюдаемый результат без интерпретаций.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893" y="1566466"/>
            <a:ext cx="3180774" cy="318085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271" y="5097016"/>
            <a:ext cx="255085" cy="2550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14209" y="5091807"/>
            <a:ext cx="294265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Конкретное поведение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1214209" y="5449292"/>
            <a:ext cx="294265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Фиксируйте факты, а не общие оценки вроде «не работает»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11949" y="5097016"/>
            <a:ext cx="255085" cy="25509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00887" y="5091807"/>
            <a:ext cx="294265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Технические детали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4900887" y="5449292"/>
            <a:ext cx="294265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Сообщения об ошибках, коды ответов, изменения состояния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8627" y="5097016"/>
            <a:ext cx="255085" cy="2550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87565" y="5091807"/>
            <a:ext cx="294265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Пример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8587565" y="5449292"/>
            <a:ext cx="2942655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«После сохранения профиля номер телефона исчезает при обновлении страницы»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35695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Ожидаемый результат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1452761"/>
            <a:ext cx="629686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Покажите, как система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должна была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повести себя при тех же условиях. Основывайтесь на требованиях, бизнес-правилах или согласованных сценариях.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61475" y="2484934"/>
            <a:ext cx="6296860" cy="3737372"/>
          </a:xfrm>
          <a:prstGeom prst="roundRect">
            <a:avLst>
              <a:gd name="adj" fmla="val 201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2491284"/>
            <a:ext cx="3142080" cy="2422723"/>
          </a:xfrm>
          <a:custGeom>
            <a:avLst/>
            <a:gdLst/>
            <a:ahLst/>
            <a:cxnLst/>
            <a:rect l="l" t="t" r="r" b="b"/>
            <a:pathLst>
              <a:path w="3142080" h="2422723">
                <a:moveTo>
                  <a:pt x="62849" y="0"/>
                </a:moveTo>
                <a:lnTo>
                  <a:pt x="3142080" y="0"/>
                </a:lnTo>
                <a:lnTo>
                  <a:pt x="3142080" y="2422723"/>
                </a:lnTo>
                <a:lnTo>
                  <a:pt x="0" y="2422723"/>
                </a:lnTo>
                <a:lnTo>
                  <a:pt x="0" y="62850"/>
                </a:lnTo>
                <a:arcTo wR="62849" hR="62850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8" name="Text 5"/>
          <p:cNvSpPr/>
          <p:nvPr/>
        </p:nvSpPr>
        <p:spPr>
          <a:xfrm>
            <a:off x="847307" y="2670770"/>
            <a:ext cx="2783116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 просто противопоставление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47307" y="3334048"/>
            <a:ext cx="2783116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Ожидаемый результат — это не просто «противоположность» фактическому. Опишите конкретное состояние системы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809905" y="2491284"/>
            <a:ext cx="3142080" cy="2422723"/>
          </a:xfrm>
          <a:custGeom>
            <a:avLst/>
            <a:gdLst/>
            <a:ahLst/>
            <a:cxnLst/>
            <a:rect l="l" t="t" r="r" b="b"/>
            <a:pathLst>
              <a:path w="3142080" h="2422723">
                <a:moveTo>
                  <a:pt x="0" y="0"/>
                </a:moveTo>
                <a:lnTo>
                  <a:pt x="3079231" y="0"/>
                </a:lnTo>
                <a:arcTo wR="62849" hR="62850" stAng="16200000" swAng="5400000"/>
                <a:lnTo>
                  <a:pt x="3142080" y="2422723"/>
                </a:lnTo>
                <a:lnTo>
                  <a:pt x="0" y="2422723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1" name="Shape 8"/>
          <p:cNvSpPr/>
          <p:nvPr/>
        </p:nvSpPr>
        <p:spPr>
          <a:xfrm>
            <a:off x="3809905" y="2491284"/>
            <a:ext cx="25399" cy="2422723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12" name="Text 9"/>
          <p:cNvSpPr/>
          <p:nvPr/>
        </p:nvSpPr>
        <p:spPr>
          <a:xfrm>
            <a:off x="3989387" y="2670770"/>
            <a:ext cx="27831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Конкретизируйте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3989387" y="3053556"/>
            <a:ext cx="2783116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Укажите, какое именно состояние системы ожидается после выполнения шагов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67825" y="4914007"/>
            <a:ext cx="6284160" cy="1301948"/>
          </a:xfrm>
          <a:custGeom>
            <a:avLst/>
            <a:gdLst/>
            <a:ahLst/>
            <a:cxnLst/>
            <a:rect l="l" t="t" r="r" b="b"/>
            <a:pathLst>
              <a:path w="6284160" h="1301948">
                <a:moveTo>
                  <a:pt x="0" y="0"/>
                </a:moveTo>
                <a:lnTo>
                  <a:pt x="6284160" y="0"/>
                </a:lnTo>
                <a:lnTo>
                  <a:pt x="6284160" y="1239098"/>
                </a:lnTo>
                <a:arcTo wR="62849" hR="62850" stAng="0" swAng="5400000"/>
                <a:lnTo>
                  <a:pt x="62849" y="1301948"/>
                </a:lnTo>
                <a:arcTo wR="62849" hR="62850" stAng="5400000" swAng="5400000"/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5" name="Shape 12"/>
          <p:cNvSpPr/>
          <p:nvPr/>
        </p:nvSpPr>
        <p:spPr>
          <a:xfrm>
            <a:off x="667825" y="4914007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6" name="Text 13"/>
          <p:cNvSpPr/>
          <p:nvPr/>
        </p:nvSpPr>
        <p:spPr>
          <a:xfrm>
            <a:off x="847307" y="5093494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Источник ожидания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847307" y="5476280"/>
            <a:ext cx="59251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Убедитесь, что поведение определено по документации или согласовано с командой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5623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Серьёзность дефекта (Severity)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71" y="1556048"/>
            <a:ext cx="4452628" cy="44527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8149" y="1720155"/>
            <a:ext cx="523842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Severity показывает степень влияния дефекта на работу системы — насколько сильно проблема нарушает функциональность.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8149" y="2349202"/>
            <a:ext cx="5238421" cy="9846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54028" y="2528888"/>
            <a:ext cx="480286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Высокая серьёзность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6554028" y="2916436"/>
            <a:ext cx="480286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Полная невозможность выполнить ключевую операцию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8149" y="3470374"/>
            <a:ext cx="5238421" cy="98464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54028" y="3650059"/>
            <a:ext cx="480286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Низкая серьёзность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6554028" y="4037608"/>
            <a:ext cx="480286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Визуальное смещение текста, которое не мешает работать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8149" y="4591546"/>
            <a:ext cx="5238421" cy="12223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54028" y="4771231"/>
            <a:ext cx="480286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Реальный эффект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6554028" y="5158780"/>
            <a:ext cx="480286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Оценивайте по фактическому влиянию, а не по «эффектности» ошибки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988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Приоритет дефекта (Priority)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0855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Priority показывает, насколько срочно дефект нужно исправить с точки зрения текущих задач проекта. Это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 то же самое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что Severity.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26023"/>
            <a:ext cx="2009923" cy="12422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104481"/>
            <a:ext cx="34654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Высокий приоритет, низкая серьёзность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808438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Небольшая визуальная ошибка на главной странице перед презентацией требует срочного исправления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626023"/>
            <a:ext cx="2009923" cy="12422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3135" y="4104481"/>
            <a:ext cx="34654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Низкий приоритет, высокая серьёзность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363135" y="4808438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Серьёзный дефект в отключённой функции может не требовать немедленного исправления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626023"/>
            <a:ext cx="2009923" cy="12422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4794" y="410448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Командное решение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064794" y="4513163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Приоритет часто определяется совместно с менеджером продукта и разработкой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3803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Вложения: доказательства и контекст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02445"/>
            <a:ext cx="3509081" cy="35091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0721" y="1604764"/>
            <a:ext cx="690584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Дополните текстовое описание скриншотами, видео и логами, которые помогают понять проблему.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0721" y="2401292"/>
            <a:ext cx="2179781" cy="3666927"/>
          </a:xfrm>
          <a:prstGeom prst="roundRect">
            <a:avLst>
              <a:gd name="adj" fmla="val 358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823101" y="2593677"/>
            <a:ext cx="558191" cy="55820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6589" y="2747169"/>
            <a:ext cx="251116" cy="2511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23101" y="3335040"/>
            <a:ext cx="179502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Скриншоты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823101" y="3808909"/>
            <a:ext cx="1795021" cy="206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Показывают визуальное состояние в момент ошибки — обозначьте проблемную область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993656" y="2401292"/>
            <a:ext cx="2179881" cy="3666927"/>
          </a:xfrm>
          <a:prstGeom prst="roundRect">
            <a:avLst>
              <a:gd name="adj" fmla="val 358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186036" y="2593677"/>
            <a:ext cx="558191" cy="55820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39523" y="2747169"/>
            <a:ext cx="251116" cy="25112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86036" y="3335040"/>
            <a:ext cx="179512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Видео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7186036" y="3808909"/>
            <a:ext cx="179512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Полезно для проблем, связанных с последовательностью действий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9356689" y="2401292"/>
            <a:ext cx="2179781" cy="3666927"/>
          </a:xfrm>
          <a:prstGeom prst="roundRect">
            <a:avLst>
              <a:gd name="adj" fmla="val 358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549070" y="2593677"/>
            <a:ext cx="558191" cy="55820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2557" y="2747169"/>
            <a:ext cx="251116" cy="25112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549070" y="3335040"/>
            <a:ext cx="179502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Логи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9549070" y="3808909"/>
            <a:ext cx="1795021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Помогают при ошибках сервера — выбирайте только релевантный фрагмент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771" y="0"/>
            <a:ext cx="3047924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612" y="1491456"/>
            <a:ext cx="2906243" cy="3875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72703"/>
            <a:ext cx="7820822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перед отправкой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61475" y="1275159"/>
            <a:ext cx="843040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Перед сохранением дефекта убедитесь в качестве репорта.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61475" y="1593155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61475" y="1815009"/>
            <a:ext cx="7820822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1923951"/>
            <a:ext cx="78208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Воспроизведите ещё раз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61475" y="2209105"/>
            <a:ext cx="782082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Пройдите по собственным шагам и убедитесь, что проблема воспроизводится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61475" y="2620070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1475" y="2841923"/>
            <a:ext cx="7820822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2" name="Text 9"/>
          <p:cNvSpPr/>
          <p:nvPr/>
        </p:nvSpPr>
        <p:spPr>
          <a:xfrm>
            <a:off x="661475" y="2950865"/>
            <a:ext cx="78208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Взгляд со стороны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61475" y="3236020"/>
            <a:ext cx="782082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Прочитайте репорт как человек, который ничего не знает о вашей проверке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61475" y="3646984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61475" y="3868837"/>
            <a:ext cx="7820822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6" name="Text 13"/>
          <p:cNvSpPr/>
          <p:nvPr/>
        </p:nvSpPr>
        <p:spPr>
          <a:xfrm>
            <a:off x="661475" y="3977779"/>
            <a:ext cx="78208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Три вопроса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61475" y="4262934"/>
            <a:ext cx="782082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Достаточно ли информации о состоянии? Понятны ли шаги? Соответствуют ли вложения описанию?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61475" y="4673898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61475" y="4895751"/>
            <a:ext cx="7820822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20" name="Text 17"/>
          <p:cNvSpPr/>
          <p:nvPr/>
        </p:nvSpPr>
        <p:spPr>
          <a:xfrm>
            <a:off x="661475" y="5004693"/>
            <a:ext cx="78208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Результат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61475" y="5289848"/>
            <a:ext cx="782082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Хороший баг-репорт сокращает путь от обнаружения дефекта до его исправления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61475" y="5714107"/>
            <a:ext cx="7820822" cy="471190"/>
          </a:xfrm>
          <a:prstGeom prst="roundRect">
            <a:avLst>
              <a:gd name="adj" fmla="val 12636"/>
            </a:avLst>
          </a:prstGeom>
          <a:solidFill>
            <a:srgbClr val="D5F6F1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156" y="5871468"/>
            <a:ext cx="177200" cy="14168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122037" y="5855791"/>
            <a:ext cx="782816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Качественный репорт — это уважение к времени команды и вклад в скорость доставки продукта.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656</Words>
  <Application>Microsoft Office PowerPoint</Application>
  <PresentationFormat>Широкоэкранный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Open Sans</vt:lpstr>
      <vt:lpstr>Montserrat Bold</vt:lpstr>
      <vt:lpstr>Montserrat Light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2026-09-30T14:04:29Z</dcterms:created>
  <dcterms:modified xsi:type="dcterms:W3CDTF">2026-09-30T14:11:10Z</dcterms:modified>
</cp:coreProperties>
</file>