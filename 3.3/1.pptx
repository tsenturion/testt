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Montserrat Bold" panose="020B0604020202020204" charset="-52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806030504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5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889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141684"/>
            <a:ext cx="4382978" cy="657463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367631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Зачем анализировать качество требований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661475" y="3002459"/>
            <a:ext cx="2917851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Требование — это основа для разработки и тестирования. Если оно неполное, допускает разные трактовки или противоречит другим правилам, команда работает на предположениях.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3910708" y="2832398"/>
            <a:ext cx="3190101" cy="2657872"/>
          </a:xfrm>
          <a:prstGeom prst="roundRect">
            <a:avLst>
              <a:gd name="adj" fmla="val 5120"/>
            </a:avLst>
          </a:prstGeom>
          <a:solidFill>
            <a:srgbClr val="27B29F"/>
          </a:solidFill>
          <a:ln/>
        </p:spPr>
      </p:sp>
      <p:sp>
        <p:nvSpPr>
          <p:cNvPr id="7" name="Text 4"/>
          <p:cNvSpPr/>
          <p:nvPr/>
        </p:nvSpPr>
        <p:spPr>
          <a:xfrm>
            <a:off x="4099715" y="3021409"/>
            <a:ext cx="281208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Главный вопрос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4099715" y="3505696"/>
            <a:ext cx="2812087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Когда разные участники по-разному понимают одну фразу, проблемы возникают не из-за ошибок в работе — а из-за неясности исходного правила.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означает полнота требования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613819"/>
            <a:ext cx="690326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Полное требование содержит достаточно информации для понимания ожидаемого поведения системы. Это не о количестве текста — а о наличии всех существенных условий.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4633201" y="3733701"/>
            <a:ext cx="6903269" cy="1341834"/>
          </a:xfrm>
          <a:prstGeom prst="roundRect">
            <a:avLst>
              <a:gd name="adj" fmla="val 5916"/>
            </a:avLst>
          </a:prstGeom>
          <a:solidFill>
            <a:srgbClr val="D5F6F1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208" y="4026793"/>
            <a:ext cx="236234" cy="1890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47449" y="3950990"/>
            <a:ext cx="6100015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Задайте себе вопрос: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смогу ли я определить условия проверки и ожидаемый результат без предположений?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Если нет — в требовании информационный пробел.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501" y="134541"/>
            <a:ext cx="4392503" cy="65889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785713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Полнота входных условий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61475" y="2163961"/>
            <a:ext cx="6296860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Часто требование описывает результат, но не определяет, при каких условиях он должен наступить.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916039"/>
            <a:ext cx="6296860" cy="163284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7954" y="3120926"/>
            <a:ext cx="5785499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❌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Неполное требование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967954" y="3503712"/>
            <a:ext cx="5785499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«Пользователь получает скидку 10%» — не указано: какой пользователь, при какой сумме, совместима ли с другими скидками, когда применяется.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4719439"/>
            <a:ext cx="6296860" cy="13527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954" y="4924326"/>
            <a:ext cx="5785499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✅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Что нужно добавить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967954" y="5307112"/>
            <a:ext cx="5785499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Входные условия: кто, когда, при каких параметрах. Без них невозможно построить воспроизводимый сценарий проверки.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1603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Полнота ожидаемого результата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360216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Обратная проблема: условия описаны, но результат остаётся неопределённым.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944936" y="3347740"/>
            <a:ext cx="492033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«Если пароль введён неправильно пять раз, система должна принять необходимые меры»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61475" y="3177679"/>
            <a:ext cx="25399" cy="944959"/>
          </a:xfrm>
          <a:prstGeom prst="roundRect">
            <a:avLst>
              <a:gd name="adj" fmla="val 50001"/>
            </a:avLst>
          </a:prstGeom>
          <a:solidFill>
            <a:srgbClr val="27B29F"/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4335264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Что именно произойдёт? Блокировка? Сообщение? Уведомление администратора? Всё вместе?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32776" y="2402780"/>
            <a:ext cx="2507394" cy="981273"/>
          </a:xfrm>
          <a:prstGeom prst="roundRect">
            <a:avLst>
              <a:gd name="adj" fmla="val 8090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8133" y="2598142"/>
            <a:ext cx="211668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Блокировка аккаунта?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9029176" y="2402780"/>
            <a:ext cx="2507394" cy="981273"/>
          </a:xfrm>
          <a:prstGeom prst="roundRect">
            <a:avLst>
              <a:gd name="adj" fmla="val 8090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4533" y="2598142"/>
            <a:ext cx="211668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Сообщение пользователю?</a:t>
            </a:r>
            <a:endParaRPr lang="en-US" sz="1850" dirty="0"/>
          </a:p>
        </p:txBody>
      </p:sp>
      <p:sp>
        <p:nvSpPr>
          <p:cNvPr id="11" name="Shape 9"/>
          <p:cNvSpPr/>
          <p:nvPr/>
        </p:nvSpPr>
        <p:spPr>
          <a:xfrm>
            <a:off x="6332776" y="3573066"/>
            <a:ext cx="2507394" cy="981273"/>
          </a:xfrm>
          <a:prstGeom prst="roundRect">
            <a:avLst>
              <a:gd name="adj" fmla="val 8090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8133" y="3768427"/>
            <a:ext cx="211668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Email-уведомление?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9029176" y="3573066"/>
            <a:ext cx="2507394" cy="981273"/>
          </a:xfrm>
          <a:prstGeom prst="roundRect">
            <a:avLst>
              <a:gd name="adj" fmla="val 8090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24533" y="3768427"/>
            <a:ext cx="211668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Капча?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6332776" y="4766965"/>
            <a:ext cx="5203794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Полное требование описывает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наблюдаемый результат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то, что можно проверить.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2" y="134541"/>
            <a:ext cx="4392503" cy="65889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634901"/>
            <a:ext cx="6296860" cy="168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означает однозначность требования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5233360" y="2574330"/>
            <a:ext cx="6296860" cy="840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Однозначное требование допускает только одну разумную интерпретацию. Если два специалиста прочитают его и придут к разным выводам — требование неоднозначно.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233360" y="3606502"/>
            <a:ext cx="6296860" cy="2616597"/>
          </a:xfrm>
          <a:prstGeom prst="roundRect">
            <a:avLst>
              <a:gd name="adj" fmla="val 2882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239710" y="3612852"/>
            <a:ext cx="6284160" cy="1301948"/>
          </a:xfrm>
          <a:custGeom>
            <a:avLst/>
            <a:gdLst/>
            <a:ahLst/>
            <a:cxnLst/>
            <a:rect l="l" t="t" r="r" b="b"/>
            <a:pathLst>
              <a:path w="6284160" h="1301948">
                <a:moveTo>
                  <a:pt x="62849" y="0"/>
                </a:moveTo>
                <a:lnTo>
                  <a:pt x="6221311" y="0"/>
                </a:lnTo>
                <a:arcTo wR="62849" hR="62850" stAng="16200000" swAng="5400000"/>
                <a:lnTo>
                  <a:pt x="6284160" y="1301948"/>
                </a:lnTo>
                <a:lnTo>
                  <a:pt x="0" y="1301948"/>
                </a:lnTo>
                <a:lnTo>
                  <a:pt x="0" y="62850"/>
                </a:lnTo>
                <a:arcTo wR="62849" hR="62850" stAng="10800000" swAng="5400000"/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8" name="Text 5"/>
          <p:cNvSpPr/>
          <p:nvPr/>
        </p:nvSpPr>
        <p:spPr>
          <a:xfrm>
            <a:off x="5419193" y="3792339"/>
            <a:ext cx="59251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❌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Субъективно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5419193" y="4175125"/>
            <a:ext cx="592519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«Страница должна загружаться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быстро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» — для кого-то это 1 сек, для кого-то 5 сек.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239710" y="4914801"/>
            <a:ext cx="6284160" cy="1301948"/>
          </a:xfrm>
          <a:custGeom>
            <a:avLst/>
            <a:gdLst/>
            <a:ahLst/>
            <a:cxnLst/>
            <a:rect l="l" t="t" r="r" b="b"/>
            <a:pathLst>
              <a:path w="6284160" h="1301948">
                <a:moveTo>
                  <a:pt x="0" y="0"/>
                </a:moveTo>
                <a:lnTo>
                  <a:pt x="6284160" y="0"/>
                </a:lnTo>
                <a:lnTo>
                  <a:pt x="6284160" y="1239098"/>
                </a:lnTo>
                <a:arcTo wR="62849" hR="62850" stAng="0" swAng="5400000"/>
                <a:lnTo>
                  <a:pt x="62849" y="1301948"/>
                </a:lnTo>
                <a:arcTo wR="62849" hR="62850" stAng="5400000" swAng="5400000"/>
                <a:lnTo>
                  <a:pt x="0" y="0"/>
                </a:lnTo>
                <a:close/>
              </a:path>
            </a:pathLst>
          </a:custGeom>
          <a:solidFill>
            <a:srgbClr val="D5F6F1"/>
          </a:solidFill>
          <a:ln/>
        </p:spPr>
      </p:sp>
      <p:sp>
        <p:nvSpPr>
          <p:cNvPr id="11" name="Shape 8"/>
          <p:cNvSpPr/>
          <p:nvPr/>
        </p:nvSpPr>
        <p:spPr>
          <a:xfrm>
            <a:off x="5239710" y="4914801"/>
            <a:ext cx="6284160" cy="25400"/>
          </a:xfrm>
          <a:prstGeom prst="roundRect">
            <a:avLst>
              <a:gd name="adj" fmla="val 49999"/>
            </a:avLst>
          </a:prstGeom>
          <a:solidFill>
            <a:srgbClr val="BBDCD7"/>
          </a:solidFill>
          <a:ln/>
        </p:spPr>
      </p:sp>
      <p:sp>
        <p:nvSpPr>
          <p:cNvPr id="12" name="Text 9"/>
          <p:cNvSpPr/>
          <p:nvPr/>
        </p:nvSpPr>
        <p:spPr>
          <a:xfrm>
            <a:off x="5419193" y="5094288"/>
            <a:ext cx="59251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✅</a:t>
            </a:r>
            <a:r>
              <a:rPr lang="en-US" sz="17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Измеримо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5419193" y="5477073"/>
            <a:ext cx="592519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«Страница загружается </a:t>
            </a:r>
            <a:r>
              <a:rPr lang="en-US" sz="14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не более чем за 2 секунды</a:t>
            </a:r>
            <a:r>
              <a:rPr lang="en-US" sz="14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при стандартном соединении.»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3974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Неоднозначность из-за терминов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811" y="1457424"/>
            <a:ext cx="4704141" cy="470425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09659" y="2552105"/>
            <a:ext cx="5226911" cy="1171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Aft>
                <a:spcPts val="105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Одно слово может сделать требование неоднозначным, если его значение не определено заранее.</a:t>
            </a:r>
            <a:endParaRPr lang="en-US" sz="1300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Активный клиент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» — для отдела продаж это покупка за последние 3 месяца, для поддержки — незакрытый договор.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309659" y="3896320"/>
            <a:ext cx="5226911" cy="1136055"/>
          </a:xfrm>
          <a:prstGeom prst="roundRect">
            <a:avLst>
              <a:gd name="adj" fmla="val 6289"/>
            </a:avLst>
          </a:prstGeom>
          <a:solidFill>
            <a:srgbClr val="D5F6F1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9715" y="4133552"/>
            <a:ext cx="212620" cy="17006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62392" y="4076502"/>
            <a:ext cx="4504121" cy="775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Важные понятия должны использоваться </a:t>
            </a:r>
            <a:r>
              <a:rPr lang="en-US" sz="130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последовательно</a:t>
            </a:r>
            <a:r>
              <a:rPr lang="en-US" sz="13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с понятным смыслом в рамках всего проекта.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16794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Неоднозначность условий и логических связей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576116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Неоднозначность возникает из структуры фразы — особенно когда несколько условий соединены через «и» или «или».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944936" y="3776266"/>
            <a:ext cx="492033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«Скидка для постоянных клиентов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и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заказов больше 5000 рублей»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61475" y="3606205"/>
            <a:ext cx="25399" cy="944959"/>
          </a:xfrm>
          <a:prstGeom prst="roundRect">
            <a:avLst>
              <a:gd name="adj" fmla="val 50001"/>
            </a:avLst>
          </a:prstGeom>
          <a:solidFill>
            <a:srgbClr val="27B29F"/>
          </a:solidFill>
          <a:ln/>
        </p:spPr>
      </p:sp>
      <p:sp>
        <p:nvSpPr>
          <p:cNvPr id="6" name="Text 4"/>
          <p:cNvSpPr/>
          <p:nvPr/>
        </p:nvSpPr>
        <p:spPr>
          <a:xfrm>
            <a:off x="661475" y="4763790"/>
            <a:ext cx="5203794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Это две независимые категории или одна комбинация? Такие различия радикально меняют бизнес-логику и тесты.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32776" y="3606205"/>
            <a:ext cx="2507394" cy="1782266"/>
          </a:xfrm>
          <a:prstGeom prst="roundRect">
            <a:avLst>
              <a:gd name="adj" fmla="val 445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8133" y="3801566"/>
            <a:ext cx="211668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Вариант А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528133" y="4285853"/>
            <a:ext cx="211668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Скидка = постоянный клиент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ИЛИ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заказ &gt; 5000 ₽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029176" y="3606205"/>
            <a:ext cx="2507394" cy="1782266"/>
          </a:xfrm>
          <a:prstGeom prst="roundRect">
            <a:avLst>
              <a:gd name="adj" fmla="val 4454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24533" y="3801566"/>
            <a:ext cx="211668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Вариант Б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9224533" y="4285853"/>
            <a:ext cx="211668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Скидка = постоянный клиент </a:t>
            </a:r>
            <a:r>
              <a:rPr lang="en-US" sz="1450" b="1" dirty="0">
                <a:solidFill>
                  <a:srgbClr val="00000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И</a:t>
            </a:r>
            <a:r>
              <a:rPr lang="en-US" sz="14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заказ &gt; 5000 ₽ одновременно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5F6F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3" y="113407"/>
            <a:ext cx="4420680" cy="6631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813594"/>
            <a:ext cx="6296860" cy="1417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Что означает непротиворечивость требований</a:t>
            </a:r>
            <a:endParaRPr lang="en-US" sz="2950" dirty="0"/>
          </a:p>
        </p:txBody>
      </p:sp>
      <p:sp>
        <p:nvSpPr>
          <p:cNvPr id="5" name="Text 2"/>
          <p:cNvSpPr/>
          <p:nvPr/>
        </p:nvSpPr>
        <p:spPr>
          <a:xfrm>
            <a:off x="5233360" y="2412405"/>
            <a:ext cx="6296860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Непротиворечивость означает, что разные требования не задают взаимоисключающее поведение для одной ситуации.</a:t>
            </a:r>
            <a:endParaRPr lang="en-US" sz="11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2983805"/>
            <a:ext cx="6296860" cy="86697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79814" y="3154065"/>
            <a:ext cx="5880151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Требование 1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5479814" y="3462834"/>
            <a:ext cx="5880151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«Отмена заказа возможна до момента отправки.»</a:t>
            </a:r>
            <a:endParaRPr lang="en-US" sz="11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3971727"/>
            <a:ext cx="6296860" cy="86697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79814" y="4141986"/>
            <a:ext cx="5880151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Требование 2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5479814" y="4450755"/>
            <a:ext cx="5880151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«После оплаты отмена заказа запрещена.»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4959648"/>
            <a:ext cx="6296860" cy="108465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79814" y="5129907"/>
            <a:ext cx="5880151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⚠️</a:t>
            </a:r>
            <a:r>
              <a:rPr lang="en-US" sz="14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Конфликт</a:t>
            </a:r>
            <a:endParaRPr lang="en-US" sz="1450" dirty="0"/>
          </a:p>
        </p:txBody>
      </p:sp>
      <p:sp>
        <p:nvSpPr>
          <p:cNvPr id="14" name="Text 8"/>
          <p:cNvSpPr/>
          <p:nvPr/>
        </p:nvSpPr>
        <p:spPr>
          <a:xfrm>
            <a:off x="5479814" y="5438676"/>
            <a:ext cx="5880151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Что делать с оплаченным, но ещё не отправленным заказом? Конфликт делает невозможным определение единственного ожидаемого результата.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67755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Противоречия между разными источниками</a:t>
            </a:r>
            <a:endParaRPr lang="en-US" sz="3150" dirty="0"/>
          </a:p>
        </p:txBody>
      </p:sp>
      <p:sp>
        <p:nvSpPr>
          <p:cNvPr id="3" name="Text 1"/>
          <p:cNvSpPr/>
          <p:nvPr/>
        </p:nvSpPr>
        <p:spPr>
          <a:xfrm>
            <a:off x="661475" y="2342852"/>
            <a:ext cx="10868745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Требования конфликтуют не только внутри одного документа. Одно поведение может быть в SRS, другое — в User Story, третье — в макете или комментарии.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61475" y="2971899"/>
            <a:ext cx="10868745" cy="577255"/>
          </a:xfrm>
          <a:prstGeom prst="roundRect">
            <a:avLst>
              <a:gd name="adj" fmla="val 11690"/>
            </a:avLst>
          </a:prstGeom>
          <a:solidFill>
            <a:srgbClr val="FCF2B5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106" y="3166666"/>
            <a:ext cx="200814" cy="160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3551" y="3148509"/>
            <a:ext cx="10795623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Нужно определить, какое правило действующее, и привести все материалы к единому состоянию.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3702745"/>
            <a:ext cx="3531901" cy="482005"/>
          </a:xfrm>
          <a:prstGeom prst="roundRect">
            <a:avLst>
              <a:gd name="adj" fmla="val 4999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06877" y="3823196"/>
            <a:ext cx="240996" cy="2410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106" y="4321274"/>
            <a:ext cx="321063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SRS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822106" y="4654153"/>
            <a:ext cx="3210638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Пароль: минимум 8 символов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329897" y="3702745"/>
            <a:ext cx="3531901" cy="482005"/>
          </a:xfrm>
          <a:prstGeom prst="roundRect">
            <a:avLst>
              <a:gd name="adj" fmla="val 4999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75300" y="3823196"/>
            <a:ext cx="240996" cy="24100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490528" y="4321274"/>
            <a:ext cx="321063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User Story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4490528" y="4654153"/>
            <a:ext cx="3210638" cy="475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Критерии приёмки: минимум 10 символов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7998319" y="3702745"/>
            <a:ext cx="3531901" cy="482005"/>
          </a:xfrm>
          <a:prstGeom prst="roundRect">
            <a:avLst>
              <a:gd name="adj" fmla="val 49999"/>
            </a:avLst>
          </a:prstGeom>
          <a:solidFill>
            <a:srgbClr val="D5F6F1"/>
          </a:solidFill>
          <a:ln w="6350">
            <a:solidFill>
              <a:srgbClr val="BBDCD7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43722" y="3823196"/>
            <a:ext cx="240996" cy="24100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158951" y="4321274"/>
            <a:ext cx="3210638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Макет</a:t>
            </a:r>
            <a:endParaRPr lang="en-US" sz="1550" dirty="0"/>
          </a:p>
        </p:txBody>
      </p:sp>
      <p:sp>
        <p:nvSpPr>
          <p:cNvPr id="18" name="Text 12"/>
          <p:cNvSpPr/>
          <p:nvPr/>
        </p:nvSpPr>
        <p:spPr>
          <a:xfrm>
            <a:off x="8158951" y="4654153"/>
            <a:ext cx="3210638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Подсказка: «от 6 до 20 символов»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2555"/>
            <a:ext cx="10868745" cy="4134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Практический подход к анализу требований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61475" y="1201241"/>
            <a:ext cx="11478330" cy="1799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Читайте требование как основу для проверки. Определите четыре элемента:</a:t>
            </a:r>
            <a:endParaRPr lang="en-US" sz="1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9209" y="1485404"/>
            <a:ext cx="6193179" cy="38733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52590" y="3235877"/>
            <a:ext cx="1276833" cy="427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Ожидаемый результат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57095" y="4980407"/>
            <a:ext cx="1276833" cy="213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Ограничения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61955" y="3342035"/>
            <a:ext cx="1276833" cy="213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Действие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57095" y="1542584"/>
            <a:ext cx="1276833" cy="427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Условие входа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61475" y="5633244"/>
            <a:ext cx="3545791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Полнота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1475" y="5895479"/>
            <a:ext cx="3545791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Достаточно информации, чтобы написать тест без предположений.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322952" y="5633244"/>
            <a:ext cx="3545791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Однозначность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322952" y="5895479"/>
            <a:ext cx="3545791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Все участники команды понимают требование одинаково.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84429" y="5633244"/>
            <a:ext cx="3545791" cy="206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Непротиворечивость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984429" y="5895479"/>
            <a:ext cx="3545791" cy="359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Требование согласуется со всеми связанными правилами и источниками.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2425" y="5462885"/>
            <a:ext cx="3583890" cy="38100"/>
          </a:xfrm>
          <a:prstGeom prst="rect">
            <a:avLst/>
          </a:prstGeom>
          <a:solidFill>
            <a:srgbClr val="27B29F"/>
          </a:solidFill>
          <a:ln/>
        </p:spPr>
      </p:sp>
      <p:sp>
        <p:nvSpPr>
          <p:cNvPr id="16" name="Shape 13"/>
          <p:cNvSpPr/>
          <p:nvPr/>
        </p:nvSpPr>
        <p:spPr>
          <a:xfrm>
            <a:off x="4303902" y="5462885"/>
            <a:ext cx="3583890" cy="38100"/>
          </a:xfrm>
          <a:prstGeom prst="rect">
            <a:avLst/>
          </a:prstGeom>
          <a:solidFill>
            <a:srgbClr val="27B29F"/>
          </a:solidFill>
          <a:ln/>
        </p:spPr>
      </p:sp>
      <p:sp>
        <p:nvSpPr>
          <p:cNvPr id="17" name="Shape 14"/>
          <p:cNvSpPr/>
          <p:nvPr/>
        </p:nvSpPr>
        <p:spPr>
          <a:xfrm>
            <a:off x="7965380" y="5462885"/>
            <a:ext cx="3583890" cy="38100"/>
          </a:xfrm>
          <a:prstGeom prst="rect">
            <a:avLst/>
          </a:prstGeom>
          <a:solidFill>
            <a:srgbClr val="27B29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616</Words>
  <Application>Microsoft Office PowerPoint</Application>
  <PresentationFormat>Широкоэкранный</PresentationFormat>
  <Paragraphs>79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Open Sans</vt:lpstr>
      <vt:lpstr>Montserrat Bold</vt:lpstr>
      <vt:lpstr>Noto Color Emoji</vt:lpstr>
      <vt:lpstr>Open Sans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2026-09-30T13:16:27Z</dcterms:created>
  <dcterms:modified xsi:type="dcterms:W3CDTF">2026-09-30T13:25:02Z</dcterms:modified>
</cp:coreProperties>
</file>