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Montserrat Bold" panose="020B0604020202020204" charset="-52"/>
      <p:regular r:id="rId13"/>
    </p:embeddedFont>
    <p:embeddedFont>
      <p:font typeface="Open Sans" panose="020B0606030504020204" pitchFamily="34" charset="0"/>
      <p:regular r:id="rId14"/>
    </p:embeddedFont>
    <p:embeddedFont>
      <p:font typeface="Open Sans Bold" panose="020B0806030504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9334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380629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Понятие монолитной архитектуры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2845395"/>
            <a:ext cx="6296860" cy="2631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Монолитная архитектура — это подход, при котором всё приложение существует как единая система. Все компоненты разрабатываются, запускаются и обновляются вместе, в одном целом.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Это не устаревший или «плохой» способ — это полноценный стандарт, с которого начинали многие крупные продукты. Монолит позволяет быстро создать рабочую версию и удобен для управления небольшими проектами.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Структура монолитного приложения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462609"/>
            <a:ext cx="6903269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Представьте интернет-магазин: регистрация, каталог, корзина, оформление заказа и оплата — всё это живёт внутри одного приложения. Логические части могут быть разделены на уровне кода — модули, классы, пакеты — но они не являются самостоятельными сервисами.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4633201" y="3884910"/>
            <a:ext cx="6903269" cy="1341834"/>
          </a:xfrm>
          <a:prstGeom prst="roundRect">
            <a:avLst>
              <a:gd name="adj" fmla="val 5916"/>
            </a:avLst>
          </a:prstGeom>
          <a:solidFill>
            <a:srgbClr val="D5F6F1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208" y="4178002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47449" y="4102199"/>
            <a:ext cx="610001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Для тестировщика: изменение одного участка может повлиять на другие части системы. Важно учитывать взаимное влияние компонентов.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87214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Как работает взаимодействие внутри монолита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1662311"/>
            <a:ext cx="10868745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Компоненты общаются напрямую — один модуль вызывает другой через внутренние механизмы языка или фреймворка, без сети и внешних протоколов.</a:t>
            </a:r>
            <a:endParaRPr lang="en-US" sz="12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3723" y="2291358"/>
            <a:ext cx="7184250" cy="328801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04696" y="4668655"/>
            <a:ext cx="1348762" cy="519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Изменение статуса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304887" y="4408827"/>
            <a:ext cx="1348762" cy="1039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Сохранение информации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614316" y="4668655"/>
            <a:ext cx="1348761" cy="519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Расчёт стоимости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886792" y="4668655"/>
            <a:ext cx="1348762" cy="519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Проверка данных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61475" y="5732959"/>
            <a:ext cx="1147833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Ошибка в одном компоненте может проявляться совсем в другом месте — модули тесно связаны и используют общие данные.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684907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Развёртывание монолитного приложения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525350" y="2740323"/>
            <a:ext cx="3190101" cy="3432770"/>
          </a:xfrm>
          <a:prstGeom prst="roundRect">
            <a:avLst>
              <a:gd name="adj" fmla="val 4266"/>
            </a:avLst>
          </a:prstGeom>
          <a:solidFill>
            <a:srgbClr val="27B29F"/>
          </a:solidFill>
          <a:ln/>
        </p:spPr>
      </p:sp>
      <p:sp>
        <p:nvSpPr>
          <p:cNvPr id="6" name="Text 3"/>
          <p:cNvSpPr/>
          <p:nvPr/>
        </p:nvSpPr>
        <p:spPr>
          <a:xfrm>
            <a:off x="714357" y="2929334"/>
            <a:ext cx="281208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Единое развёртывание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714357" y="3708896"/>
            <a:ext cx="2812087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Если изменилась только одна функция — например, поиск — новая версия всё равно содержит весь код: регистрацию, заказы, оплату и всё остальное.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046833" y="2929334"/>
            <a:ext cx="291785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Плюс и вызов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4046833" y="3413621"/>
            <a:ext cx="2917851" cy="2589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Преимущество: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процесс запуска прост и предсказуем — один артефакт, одна операция.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Вызов: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с ростом системы единое развёртывание усложняется: объём изменений растёт, а риски увеличиваются.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3974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Масштабирование монолитной архитектуры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811" y="1457424"/>
            <a:ext cx="4704141" cy="47042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09659" y="2706390"/>
            <a:ext cx="5226911" cy="2206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spcAft>
                <a:spcPts val="105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 росте нагрузки монолит масштабируется целиком. Если поиск товаров перегружен, нельзя увеличить только этот блок — придётся запускать дополнительные копии всего приложения.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Для небольших и средних проектов это вполне эффективно. Сложности возникают тогда, когда разные части системы имеют принципиально разные требования к производительности.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28" y="494407"/>
            <a:ext cx="4401730" cy="58691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620911"/>
            <a:ext cx="6296860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Тестирование монолитных систем</a:t>
            </a:r>
            <a:endParaRPr lang="en-US" sz="33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1913731"/>
            <a:ext cx="6296860" cy="151139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98665" y="2102842"/>
            <a:ext cx="584244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Учитывайте связи</a:t>
            </a:r>
            <a:endParaRPr lang="en-US" sz="1650" dirty="0"/>
          </a:p>
        </p:txBody>
      </p:sp>
      <p:sp>
        <p:nvSpPr>
          <p:cNvPr id="7" name="Text 3"/>
          <p:cNvSpPr/>
          <p:nvPr/>
        </p:nvSpPr>
        <p:spPr>
          <a:xfrm>
            <a:off x="5498665" y="2460327"/>
            <a:ext cx="5842449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Изменение структуры пользователя может затронуть регистрацию, авторизацию, личный кабинет и оформление заказов одновременно.</a:t>
            </a:r>
            <a:endParaRPr lang="en-US" sz="1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3578225"/>
            <a:ext cx="6296860" cy="125283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498665" y="3767336"/>
            <a:ext cx="584244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Думайте шире задачи</a:t>
            </a:r>
            <a:endParaRPr lang="en-US" sz="1650" dirty="0"/>
          </a:p>
        </p:txBody>
      </p:sp>
      <p:sp>
        <p:nvSpPr>
          <p:cNvPr id="10" name="Text 5"/>
          <p:cNvSpPr/>
          <p:nvPr/>
        </p:nvSpPr>
        <p:spPr>
          <a:xfrm>
            <a:off x="5498665" y="4124821"/>
            <a:ext cx="5842449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Тестировщик должен понимать не только конкретную функцию, но и смежные сценарии, которые могут быть затронуты.</a:t>
            </a:r>
            <a:endParaRPr lang="en-US" sz="13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4984155"/>
            <a:ext cx="6296860" cy="125283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498665" y="5173266"/>
            <a:ext cx="584244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Плюс монолита</a:t>
            </a:r>
            <a:endParaRPr lang="en-US" sz="1650" dirty="0"/>
          </a:p>
        </p:txBody>
      </p:sp>
      <p:sp>
        <p:nvSpPr>
          <p:cNvPr id="13" name="Text 7"/>
          <p:cNvSpPr/>
          <p:nvPr/>
        </p:nvSpPr>
        <p:spPr>
          <a:xfrm>
            <a:off x="5498665" y="5530751"/>
            <a:ext cx="5842449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Все компоненты в одном месте — проще воспроизвести проблему и подготовить тестовое окружение на начальных этапах.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4127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Преимущества монолитной архитектуры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609949"/>
            <a:ext cx="3496877" cy="2606774"/>
          </a:xfrm>
          <a:prstGeom prst="roundRect">
            <a:avLst>
              <a:gd name="adj" fmla="val 3045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6832" y="2805311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Простота разработки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6832" y="3213993"/>
            <a:ext cx="3106164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Одна кодовая база, единый процесс сборки — не нужна сложная инфраструктура для взаимодействия между сервисами.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347359" y="2609949"/>
            <a:ext cx="3496877" cy="2606774"/>
          </a:xfrm>
          <a:prstGeom prst="roundRect">
            <a:avLst>
              <a:gd name="adj" fmla="val 3045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42716" y="2805311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Скорость старта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542716" y="3213993"/>
            <a:ext cx="3106164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Первые версии продукта создаются быстрее. Небольшая команда может сосредоточиться на бизнес-задачах, а не на инфраструктуре.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033244" y="2609949"/>
            <a:ext cx="3496877" cy="2606774"/>
          </a:xfrm>
          <a:prstGeom prst="roundRect">
            <a:avLst>
              <a:gd name="adj" fmla="val 3045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8600" y="2805311"/>
            <a:ext cx="310616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Удобство для тестировщика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228600" y="3509268"/>
            <a:ext cx="3106164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Все функции доступны в одной системе — легче подготовить окружение и выполнять комплексные проверки пользовательских сценариев.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Ограничения монолитной архитектуры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226370"/>
            <a:ext cx="6903269" cy="1682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Основная проблема проявляется при росте системы. Кодовая база увеличивается, зависимостей становится больше, и каждое изменение требует большей осторожности.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Когда части приложения сильно связаны, небольшая правка может привести к неожиданным последствиям в совершенно другом месте.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4633201" y="4121150"/>
            <a:ext cx="6903269" cy="1341834"/>
          </a:xfrm>
          <a:prstGeom prst="roundRect">
            <a:avLst>
              <a:gd name="adj" fmla="val 5916"/>
            </a:avLst>
          </a:prstGeom>
          <a:solidFill>
            <a:srgbClr val="FCF2B5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208" y="4414242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47449" y="4338439"/>
            <a:ext cx="610001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Для тестировщика: каждое обновление требует понимания затронутых областей. Объём необходимых проверок растёт вместе с системой.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28" y="494407"/>
            <a:ext cx="4401730" cy="58691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777577"/>
            <a:ext cx="6296860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Монолитная архитектура в современных проектах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5233360" y="2070398"/>
            <a:ext cx="6296860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Несмотря на популярность микросервисов, монолит продолжает активно использоваться. Он остаётся подходящим решением там, где система не требует множества независимых компонентов.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3360" y="3018334"/>
            <a:ext cx="850581" cy="10206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37032" y="3188395"/>
            <a:ext cx="529318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Монолит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6237032" y="3545880"/>
            <a:ext cx="5293188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Быстрый старт, единая система</a:t>
            </a: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3360" y="4038997"/>
            <a:ext cx="850581" cy="102066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37032" y="4209058"/>
            <a:ext cx="529318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Рост системы</a:t>
            </a:r>
            <a:endParaRPr lang="en-US" sz="1650" dirty="0"/>
          </a:p>
        </p:txBody>
      </p:sp>
      <p:sp>
        <p:nvSpPr>
          <p:cNvPr id="11" name="Text 6"/>
          <p:cNvSpPr/>
          <p:nvPr/>
        </p:nvSpPr>
        <p:spPr>
          <a:xfrm>
            <a:off x="6237032" y="4566543"/>
            <a:ext cx="5293188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Появляются независимые части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3360" y="5059660"/>
            <a:ext cx="850581" cy="102066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37032" y="5229721"/>
            <a:ext cx="529318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Постепенное выделение</a:t>
            </a:r>
            <a:endParaRPr lang="en-US" sz="1650" dirty="0"/>
          </a:p>
        </p:txBody>
      </p:sp>
      <p:sp>
        <p:nvSpPr>
          <p:cNvPr id="14" name="Text 8"/>
          <p:cNvSpPr/>
          <p:nvPr/>
        </p:nvSpPr>
        <p:spPr>
          <a:xfrm>
            <a:off x="6237032" y="5587206"/>
            <a:ext cx="5293188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Отдельные сервисы — по необходимости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6157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Значение понимания монолита для тестировщика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160984"/>
            <a:ext cx="5203794" cy="3364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Архитектура напрямую влияет на подход к проверке продукта. Понимая структуру системы, специалист видит зоны риска и может предсказать последствия изменений.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Ошибка редко существует изолированно — важно анализировать не только отдельную функцию, но и связанные процессы вокруг неё.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Это знание станет фундаментом при изучении других архитектур и поможет выбирать правильный подход к тестированию конкретного продукта.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332776" y="2203549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3666" y="2238970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947024" y="2268438"/>
            <a:ext cx="45895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Понимай структуру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947024" y="2752725"/>
            <a:ext cx="45895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Знай, как компоненты связаны между собой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332776" y="3433167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3666" y="3468588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947024" y="3498056"/>
            <a:ext cx="45895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Думай о связях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6947024" y="3982343"/>
            <a:ext cx="45895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Оценивай влияние изменений на смежные области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332776" y="4965204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3666" y="5000625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947024" y="5030093"/>
            <a:ext cx="45895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Расширяй кругозор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6947024" y="5514380"/>
            <a:ext cx="45895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Монолит — основа для понимания других архитектур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636</Words>
  <Application>Microsoft Office PowerPoint</Application>
  <PresentationFormat>Широкоэкранный</PresentationFormat>
  <Paragraphs>71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Montserrat Bold</vt:lpstr>
      <vt:lpstr>Arial</vt:lpstr>
      <vt:lpstr>Open Sans Bold</vt:lpstr>
      <vt:lpstr>Open Sans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2026-09-21T20:40:05Z</dcterms:created>
  <dcterms:modified xsi:type="dcterms:W3CDTF">2026-09-21T21:04:07Z</dcterms:modified>
</cp:coreProperties>
</file>