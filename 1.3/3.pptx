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Montserrat Bold" panose="020B0604020202020204" charset="-52"/>
      <p:regular r:id="rId13"/>
    </p:embeddedFont>
    <p:embeddedFont>
      <p:font typeface="Open Sans" panose="020B0606030504020204" pitchFamily="34" charset="0"/>
      <p:regular r:id="rId14"/>
      <p:italic r:id="rId15"/>
    </p:embeddedFont>
    <p:embeddedFont>
      <p:font typeface="Open Sans Bold" panose="020B0806030504020204" charset="0"/>
      <p:regular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93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927823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54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1261368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Независимость данных в микросервисах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5233360" y="2726134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Каждый сервис управляет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собственными данными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и бизнес-логикой — в отличие от монолита с единой базой данных.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5097236" y="3543598"/>
            <a:ext cx="3190101" cy="2053034"/>
          </a:xfrm>
          <a:prstGeom prst="roundRect">
            <a:avLst>
              <a:gd name="adj" fmla="val 6629"/>
            </a:avLst>
          </a:prstGeom>
          <a:solidFill>
            <a:srgbClr val="27B29F"/>
          </a:solidFill>
          <a:ln/>
        </p:spPr>
      </p:sp>
      <p:sp>
        <p:nvSpPr>
          <p:cNvPr id="7" name="Text 4"/>
          <p:cNvSpPr/>
          <p:nvPr/>
        </p:nvSpPr>
        <p:spPr>
          <a:xfrm>
            <a:off x="5286243" y="3732609"/>
            <a:ext cx="281208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Что это даёт?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5286243" y="4216896"/>
            <a:ext cx="2812087" cy="12757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Снижение связанности между компонентами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Чёткое разграничение ответственности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618719" y="3732609"/>
            <a:ext cx="291785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Для тестировщика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8618719" y="4216896"/>
            <a:ext cx="2917851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Важно понимать: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какой сервис является источником данных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и как они передаются между компонентами системы.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0075" y="488057"/>
            <a:ext cx="4411254" cy="58818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991791"/>
            <a:ext cx="6296860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Взаимодействие через API</a:t>
            </a:r>
            <a:endParaRPr lang="en-US" sz="3150" dirty="0"/>
          </a:p>
        </p:txBody>
      </p:sp>
      <p:sp>
        <p:nvSpPr>
          <p:cNvPr id="5" name="Text 2"/>
          <p:cNvSpPr/>
          <p:nvPr/>
        </p:nvSpPr>
        <p:spPr>
          <a:xfrm>
            <a:off x="661475" y="1698625"/>
            <a:ext cx="6296860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Сервисы общаются через </a:t>
            </a:r>
            <a:r>
              <a:rPr lang="en-US" sz="12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определённые интерфейсы (контракты)</a:t>
            </a: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Один компонент не знает внутреннего устройства другого — только его API.</a:t>
            </a:r>
            <a:endParaRPr lang="en-US" sz="12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327672"/>
            <a:ext cx="6296860" cy="92997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17354" y="2507357"/>
            <a:ext cx="5861300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Принцип</a:t>
            </a:r>
            <a:endParaRPr lang="en-US" sz="1550" dirty="0"/>
          </a:p>
        </p:txBody>
      </p:sp>
      <p:sp>
        <p:nvSpPr>
          <p:cNvPr id="8" name="Text 4"/>
          <p:cNvSpPr/>
          <p:nvPr/>
        </p:nvSpPr>
        <p:spPr>
          <a:xfrm>
            <a:off x="917354" y="2840236"/>
            <a:ext cx="5861300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Скрытая реализация, открытый контракт</a:t>
            </a:r>
            <a:endParaRPr lang="en-US" sz="12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3394174"/>
            <a:ext cx="6296860" cy="116770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17354" y="3573859"/>
            <a:ext cx="5861300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Точка контроля качества</a:t>
            </a:r>
            <a:endParaRPr lang="en-US" sz="1550" dirty="0"/>
          </a:p>
        </p:txBody>
      </p:sp>
      <p:sp>
        <p:nvSpPr>
          <p:cNvPr id="11" name="Text 6"/>
          <p:cNvSpPr/>
          <p:nvPr/>
        </p:nvSpPr>
        <p:spPr>
          <a:xfrm>
            <a:off x="917354" y="3906738"/>
            <a:ext cx="5861300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Корректность обработки запросов, входных данных, ошибок и граничных случаев</a:t>
            </a:r>
            <a:endParaRPr lang="en-US" sz="12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4698405"/>
            <a:ext cx="6296860" cy="116770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17354" y="4878090"/>
            <a:ext cx="5861300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Что проверять</a:t>
            </a:r>
            <a:endParaRPr lang="en-US" sz="1550" dirty="0"/>
          </a:p>
        </p:txBody>
      </p:sp>
      <p:sp>
        <p:nvSpPr>
          <p:cNvPr id="14" name="Text 8"/>
          <p:cNvSpPr/>
          <p:nvPr/>
        </p:nvSpPr>
        <p:spPr>
          <a:xfrm>
            <a:off x="917354" y="5210969"/>
            <a:ext cx="5861300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Форматы запросов и ответов, коды ошибок, поведение при невалидных данных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29370"/>
            <a:ext cx="1086874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Синхронное и асинхронное взаимодействие</a:t>
            </a:r>
            <a:endParaRPr lang="en-US" sz="3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225" y="2554585"/>
            <a:ext cx="6197941" cy="25098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83361" y="3419868"/>
            <a:ext cx="1390068" cy="222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Синхронное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483361" y="3705778"/>
            <a:ext cx="1390068" cy="507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9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Запрос → немедленный ответ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3432870" y="3500496"/>
            <a:ext cx="1390068" cy="222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Пересечение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432870" y="3786406"/>
            <a:ext cx="1390068" cy="338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9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Надёжность и контроль ошибок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385099" y="3496539"/>
            <a:ext cx="1390068" cy="222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Асинхронное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385099" y="3782449"/>
            <a:ext cx="1390068" cy="338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9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Сообщение → обработка позже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002189" y="1743670"/>
            <a:ext cx="3534282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Синхронное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8002189" y="2162473"/>
            <a:ext cx="3534282" cy="1430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spcAft>
                <a:spcPts val="105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Сервис ждёт </a:t>
            </a:r>
            <a:r>
              <a:rPr lang="en-US" sz="13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немедленного ответа</a:t>
            </a: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Задержки напрямую влияют на пользователя.</a:t>
            </a:r>
            <a:endParaRPr lang="en-US" sz="130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300" i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Пример: проверка платежа должна вернуть результат сразу.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002189" y="3807718"/>
            <a:ext cx="3534282" cy="19050"/>
          </a:xfrm>
          <a:prstGeom prst="roundRect">
            <a:avLst>
              <a:gd name="adj" fmla="val 49999"/>
            </a:avLst>
          </a:prstGeom>
          <a:solidFill>
            <a:srgbClr val="000000">
              <a:alpha val="50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8002189" y="4041477"/>
            <a:ext cx="3534282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Асинхронное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8002189" y="4460280"/>
            <a:ext cx="3534282" cy="1430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spcAft>
                <a:spcPts val="105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Сообщение отправлено — обработка </a:t>
            </a:r>
            <a:r>
              <a:rPr lang="en-US" sz="13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происходит позже</a:t>
            </a: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Подходит для фоновых задач.</a:t>
            </a:r>
            <a:endParaRPr lang="en-US" sz="130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300" i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Пример: отправка уведомлений, обработка больших объёмов данных.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03" y="481806"/>
            <a:ext cx="4420680" cy="58943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715566"/>
            <a:ext cx="6296860" cy="9449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Ошибки в распределённых системах</a:t>
            </a:r>
            <a:endParaRPr lang="en-US" sz="2950" dirty="0"/>
          </a:p>
        </p:txBody>
      </p:sp>
      <p:sp>
        <p:nvSpPr>
          <p:cNvPr id="5" name="Text 2"/>
          <p:cNvSpPr/>
          <p:nvPr/>
        </p:nvSpPr>
        <p:spPr>
          <a:xfrm>
            <a:off x="5233360" y="1841897"/>
            <a:ext cx="6296860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Нельзя предполагать успех каждого внешнего запроса. Сервис может быть </a:t>
            </a:r>
            <a:r>
              <a:rPr lang="en-US" sz="11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недоступен, отвечать слишком долго или вернуть некорректные данные</a:t>
            </a: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5233360" y="2413298"/>
            <a:ext cx="6296860" cy="841573"/>
          </a:xfrm>
          <a:prstGeom prst="roundRect">
            <a:avLst>
              <a:gd name="adj" fmla="val 7547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390916" y="2570857"/>
            <a:ext cx="5981749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Нет ответа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5390916" y="2879626"/>
            <a:ext cx="5981749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Сервис не отвечает вовсе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233360" y="3375819"/>
            <a:ext cx="6296860" cy="841573"/>
          </a:xfrm>
          <a:prstGeom prst="roundRect">
            <a:avLst>
              <a:gd name="adj" fmla="val 7547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390916" y="3533378"/>
            <a:ext cx="5981749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Таймаут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5390916" y="3842147"/>
            <a:ext cx="5981749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Ответ приходит слишком поздно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233360" y="4338340"/>
            <a:ext cx="6296860" cy="841573"/>
          </a:xfrm>
          <a:prstGeom prst="roundRect">
            <a:avLst>
              <a:gd name="adj" fmla="val 7547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390916" y="4495899"/>
            <a:ext cx="5981749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Ошибка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5390916" y="4804668"/>
            <a:ext cx="5981749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Сервис вернул код ошибки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233360" y="5300861"/>
            <a:ext cx="6296860" cy="841573"/>
          </a:xfrm>
          <a:prstGeom prst="roundRect">
            <a:avLst>
              <a:gd name="adj" fmla="val 7547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390916" y="5458420"/>
            <a:ext cx="5981749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Неожиданный результат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5390916" y="5767189"/>
            <a:ext cx="5981749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Данные некорректны или неполны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388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Отказоустойчивость системы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888728"/>
            <a:ext cx="599683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Ключевой принцип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2373015"/>
            <a:ext cx="599683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Сбой одного сервиса не должен полностью блокировать функциональность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всей системы.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61475" y="3190478"/>
            <a:ext cx="5996830" cy="1039416"/>
          </a:xfrm>
          <a:prstGeom prst="roundRect">
            <a:avLst>
              <a:gd name="adj" fmla="val 7638"/>
            </a:avLst>
          </a:prstGeom>
          <a:solidFill>
            <a:srgbClr val="B6FCB8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482" y="3483570"/>
            <a:ext cx="236234" cy="1890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75723" y="3407767"/>
            <a:ext cx="519357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Пример: если сервис уведомлений недоступен — заказ всё равно создаётся. Уведомление отправится позже.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61475" y="4442520"/>
            <a:ext cx="599683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Что проверять тестировщику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661475" y="4926806"/>
            <a:ext cx="5996830" cy="1039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Деградирует ли система корректно при сбое?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Восстанавливается ли функциональность автоматически?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Получает ли пользователь понятное сообщение?</a:t>
            </a:r>
            <a:endParaRPr lang="en-US" sz="14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812" y="1660624"/>
            <a:ext cx="4410659" cy="441077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41449"/>
            <a:ext cx="10868745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Логирование в микросервисах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661475" y="1297087"/>
            <a:ext cx="11478330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Каждый сервис имеет </a:t>
            </a:r>
            <a:r>
              <a:rPr lang="en-US" sz="11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собственные логи</a:t>
            </a: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Одно действие пользователя может затронуть несколько компонентов одновременно.</a:t>
            </a:r>
            <a:endParaRPr lang="en-US" sz="1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0043" y="1615083"/>
            <a:ext cx="8151509" cy="357832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402892" y="4208253"/>
            <a:ext cx="1428861" cy="220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Действие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3402892" y="4491873"/>
            <a:ext cx="1428861" cy="3091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1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Инициатива пользователя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414692" y="4153296"/>
            <a:ext cx="1428861" cy="2208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Анализ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414692" y="4436916"/>
            <a:ext cx="1428861" cy="309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1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Логи и поиск точки отказа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420568" y="1990323"/>
            <a:ext cx="1428861" cy="2208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Цепочка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5420568" y="2273944"/>
            <a:ext cx="1428861" cy="4637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1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События в нескольких сервисах</a:t>
            </a:r>
            <a:endParaRPr lang="en-US" sz="11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4556" y="5317331"/>
            <a:ext cx="212620" cy="21262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22037" y="5312966"/>
            <a:ext cx="3073720" cy="442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Анализировать цепочки событий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1122037" y="5819577"/>
            <a:ext cx="3073720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Отслеживать путь запроса через все затронутые сервисы</a:t>
            </a:r>
            <a:endParaRPr lang="en-US" sz="11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81688" y="5317331"/>
            <a:ext cx="212620" cy="21262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789169" y="5312966"/>
            <a:ext cx="307381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Находить точку отказа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4789169" y="5598120"/>
            <a:ext cx="3073819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Определять, в каком именно компоненте возникла проблема</a:t>
            </a:r>
            <a:endParaRPr lang="en-US" sz="110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48920" y="5317331"/>
            <a:ext cx="212620" cy="21262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456401" y="5312966"/>
            <a:ext cx="307381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Понимать последовательность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8456401" y="5598120"/>
            <a:ext cx="3073819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Восстанавливать хронологию взаимодействия между сервисами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54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966093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Мониторинг и наблюдаемость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5233360" y="2619871"/>
            <a:ext cx="291785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Что контролируем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5233360" y="3104158"/>
            <a:ext cx="2917851" cy="2012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Работоспособность каждого сервиса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Использование ресурсов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Производительность и время ответа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Общая картина системы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8618719" y="2619871"/>
            <a:ext cx="291785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Важно помнить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8618719" y="3104158"/>
            <a:ext cx="2917851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Проблема может проявиться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не как явный сбой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а как: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618719" y="3879056"/>
            <a:ext cx="2917851" cy="1946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Увеличение времени ответа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Нестабильность отдельной функции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Рост числа повторных запросов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3053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Контрактное тестирование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717278"/>
            <a:ext cx="4297354" cy="429746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26336" y="1866503"/>
            <a:ext cx="611013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Что такое контракт?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5426336" y="2350790"/>
            <a:ext cx="611013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Определяет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структуру запроса и ответа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а также правила взаимодействия между сервисами.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5426336" y="3215481"/>
            <a:ext cx="6110135" cy="25400"/>
          </a:xfrm>
          <a:prstGeom prst="roundRect">
            <a:avLst>
              <a:gd name="adj" fmla="val 49999"/>
            </a:avLst>
          </a:prstGeom>
          <a:solidFill>
            <a:srgbClr val="000000">
              <a:alpha val="5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5426336" y="3500735"/>
            <a:ext cx="611013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Зачем это нужно?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5426336" y="3985022"/>
            <a:ext cx="611013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Если один сервис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изменит формат ответа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зависимый компонент может перестать работать.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5426336" y="4802485"/>
            <a:ext cx="6110135" cy="1039416"/>
          </a:xfrm>
          <a:prstGeom prst="roundRect">
            <a:avLst>
              <a:gd name="adj" fmla="val 7638"/>
            </a:avLst>
          </a:prstGeom>
          <a:solidFill>
            <a:srgbClr val="D5F6F1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5343" y="5095577"/>
            <a:ext cx="236234" cy="18901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040584" y="5019774"/>
            <a:ext cx="530688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Контрактное тестирование выявляет такие несовместимости до того, как они попадут в продакшн.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0844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Интеграционное тестирование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877120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Проверка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взаимодействия нескольких сервисов вместе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Отдельный сервис может работать корректно, но ошибка возникает на границе между компонентами.</a:t>
            </a:r>
            <a:endParaRPr lang="en-US" sz="1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694583"/>
            <a:ext cx="3496877" cy="198387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296410" y="2836366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875881" y="3450530"/>
            <a:ext cx="30680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Юнит-тест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875881" y="3859212"/>
            <a:ext cx="306806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Сервис работает корректно изолированно</a:t>
            </a:r>
            <a:endParaRPr lang="en-US" sz="14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47359" y="2694583"/>
            <a:ext cx="3496877" cy="198387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982294" y="2836366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</a:t>
            </a:r>
            <a:endParaRPr lang="en-US" sz="1750" dirty="0"/>
          </a:p>
        </p:txBody>
      </p:sp>
      <p:sp>
        <p:nvSpPr>
          <p:cNvPr id="10" name="Text 6"/>
          <p:cNvSpPr/>
          <p:nvPr/>
        </p:nvSpPr>
        <p:spPr>
          <a:xfrm>
            <a:off x="4561766" y="3450530"/>
            <a:ext cx="30680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Граница компонентов</a:t>
            </a:r>
            <a:endParaRPr lang="en-US" sz="1850" dirty="0"/>
          </a:p>
        </p:txBody>
      </p:sp>
      <p:sp>
        <p:nvSpPr>
          <p:cNvPr id="11" name="Text 7"/>
          <p:cNvSpPr/>
          <p:nvPr/>
        </p:nvSpPr>
        <p:spPr>
          <a:xfrm>
            <a:off x="4561766" y="3859212"/>
            <a:ext cx="306806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Здесь чаще всего скрыта основная сложность</a:t>
            </a:r>
            <a:endParaRPr lang="en-US" sz="14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33244" y="2694583"/>
            <a:ext cx="3496877" cy="1983879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668179" y="2836366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3</a:t>
            </a:r>
            <a:endParaRPr lang="en-US" sz="1750" dirty="0"/>
          </a:p>
        </p:txBody>
      </p:sp>
      <p:sp>
        <p:nvSpPr>
          <p:cNvPr id="14" name="Text 9"/>
          <p:cNvSpPr/>
          <p:nvPr/>
        </p:nvSpPr>
        <p:spPr>
          <a:xfrm>
            <a:off x="8247650" y="3450530"/>
            <a:ext cx="30680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Интеграционный тест</a:t>
            </a:r>
            <a:endParaRPr lang="en-US" sz="1850" dirty="0"/>
          </a:p>
        </p:txBody>
      </p:sp>
      <p:sp>
        <p:nvSpPr>
          <p:cNvPr id="15" name="Text 10"/>
          <p:cNvSpPr/>
          <p:nvPr/>
        </p:nvSpPr>
        <p:spPr>
          <a:xfrm>
            <a:off x="8247650" y="3859212"/>
            <a:ext cx="306806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Проверяем совместную работу нескольких сервисов</a:t>
            </a:r>
            <a:endParaRPr lang="en-US" sz="1450" dirty="0"/>
          </a:p>
        </p:txBody>
      </p:sp>
      <p:sp>
        <p:nvSpPr>
          <p:cNvPr id="16" name="Shape 11"/>
          <p:cNvSpPr/>
          <p:nvPr/>
        </p:nvSpPr>
        <p:spPr>
          <a:xfrm>
            <a:off x="661475" y="4891088"/>
            <a:ext cx="10868745" cy="1058366"/>
          </a:xfrm>
          <a:prstGeom prst="roundRect">
            <a:avLst>
              <a:gd name="adj" fmla="val 7501"/>
            </a:avLst>
          </a:prstGeom>
          <a:solidFill>
            <a:srgbClr val="FCF2B5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482" y="5158780"/>
            <a:ext cx="236234" cy="18901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75723" y="5127327"/>
            <a:ext cx="1006549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 микросервисной архитектуре основная сложность часто находится именно в интеграции, а не внутри отдельного сервиса.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92" y="500559"/>
            <a:ext cx="4392403" cy="58567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734516"/>
            <a:ext cx="6296860" cy="1683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Роль тестировщика в микросервисной архитектуре</a:t>
            </a:r>
            <a:endParaRPr lang="en-US" sz="3500" dirty="0"/>
          </a:p>
        </p:txBody>
      </p:sp>
      <p:sp>
        <p:nvSpPr>
          <p:cNvPr id="5" name="Shape 2"/>
          <p:cNvSpPr/>
          <p:nvPr/>
        </p:nvSpPr>
        <p:spPr>
          <a:xfrm>
            <a:off x="5103982" y="2673945"/>
            <a:ext cx="3188116" cy="3449439"/>
          </a:xfrm>
          <a:prstGeom prst="roundRect">
            <a:avLst>
              <a:gd name="adj" fmla="val 4055"/>
            </a:avLst>
          </a:prstGeom>
          <a:solidFill>
            <a:srgbClr val="27B29F"/>
          </a:solidFill>
          <a:ln/>
        </p:spPr>
      </p:sp>
      <p:sp>
        <p:nvSpPr>
          <p:cNvPr id="6" name="Text 3"/>
          <p:cNvSpPr/>
          <p:nvPr/>
        </p:nvSpPr>
        <p:spPr>
          <a:xfrm>
            <a:off x="5283465" y="2844502"/>
            <a:ext cx="2829152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Что меняется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5283465" y="3295551"/>
            <a:ext cx="2829152" cy="2419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Более широкое техническое понимание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Знание о взаимодействии сервисов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Понимание потоков данных и запросов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Умение локализовать проблему в системе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607210" y="2844502"/>
            <a:ext cx="2929360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Что остаётся прежним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8607210" y="3295551"/>
            <a:ext cx="2929360" cy="26743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Задача не меняется</a:t>
            </a: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предоставлять объективную информацию о качестве системы.</a:t>
            </a:r>
            <a:endParaRPr lang="en-US" sz="14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Меняется лишь </a:t>
            </a:r>
            <a:r>
              <a:rPr lang="en-US" sz="14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объект проверки</a:t>
            </a: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: вместо монолита — система из независимых, взаимодействующих компонентов.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544</Words>
  <Application>Microsoft Office PowerPoint</Application>
  <PresentationFormat>Широкоэкранный</PresentationFormat>
  <Paragraphs>108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Montserrat Bold</vt:lpstr>
      <vt:lpstr>Arial</vt:lpstr>
      <vt:lpstr>Open Sans Bold</vt:lpstr>
      <vt:lpstr>Open Sans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Ефимов Матвей Александрович</cp:lastModifiedBy>
  <cp:revision>2</cp:revision>
  <dcterms:created xsi:type="dcterms:W3CDTF">2026-09-21T20:44:53Z</dcterms:created>
  <dcterms:modified xsi:type="dcterms:W3CDTF">2026-09-21T21:04:29Z</dcterms:modified>
</cp:coreProperties>
</file>