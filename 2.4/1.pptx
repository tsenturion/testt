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Montserrat Bold" panose="020B0604020202020204" charset="-52"/>
      <p:regular r:id="rId13"/>
    </p:embeddedFont>
    <p:embeddedFont>
      <p:font typeface="Open Sans" panose="020B0606030504020204" pitchFamily="34" charset="0"/>
      <p:regular r:id="rId14"/>
    </p:embeddedFont>
    <p:embeddedFont>
      <p:font typeface="Open Sans Bold" panose="020B0806030504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3334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0543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Что такое тест-дизайн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279551"/>
            <a:ext cx="1086874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Тест-дизайн — это систематический подход к определению того,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что проверять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и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как это проверять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Вместо случайных действий в приложении тестировщик анализирует требования, выявляет значимые условия и создаёт обоснованный набор проверок.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25350" y="3399433"/>
            <a:ext cx="5476043" cy="2053034"/>
          </a:xfrm>
          <a:prstGeom prst="roundRect">
            <a:avLst>
              <a:gd name="adj" fmla="val 6629"/>
            </a:avLst>
          </a:prstGeom>
          <a:solidFill>
            <a:srgbClr val="27B29F"/>
          </a:solidFill>
          <a:ln/>
        </p:spPr>
      </p:sp>
      <p:sp>
        <p:nvSpPr>
          <p:cNvPr id="5" name="Text 3"/>
          <p:cNvSpPr/>
          <p:nvPr/>
        </p:nvSpPr>
        <p:spPr>
          <a:xfrm>
            <a:off x="714357" y="3588445"/>
            <a:ext cx="50980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Зачем это нужно?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714357" y="4072731"/>
            <a:ext cx="5098029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Потенциальных проверок всегда больше, чем доступного времени. Хороший тест-дизайн превращает тестирование в управляемый процесс, где каждая проверка имеет смысл.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332776" y="3588445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Что даёт тест-дизайн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332776" y="4072731"/>
            <a:ext cx="5203794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Осознанный выбор проверок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Обоснование каждого сценария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Управляемый процесс тестирования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3343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Тестовая основа: откуда берутся проверки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1475" y="1391146"/>
            <a:ext cx="10868745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Перед созданием тестов нужно определить источник информации о том, как должна работать система. Качество тест-дизайна напрямую зависит от качества этой информации.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2080518"/>
            <a:ext cx="5357778" cy="1632248"/>
          </a:xfrm>
          <a:prstGeom prst="roundRect">
            <a:avLst>
              <a:gd name="adj" fmla="val 4377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7881" y="2256929"/>
            <a:ext cx="510269" cy="510282"/>
          </a:xfrm>
          <a:prstGeom prst="ellipse">
            <a:avLst/>
          </a:prstGeom>
          <a:solidFill>
            <a:srgbClr val="27B29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8173" y="2397224"/>
            <a:ext cx="229586" cy="2295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37881" y="2920305"/>
            <a:ext cx="5004965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Требования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837881" y="3277791"/>
            <a:ext cx="5004965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Описание ожидаемого поведения системы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72343" y="2080518"/>
            <a:ext cx="5357877" cy="1632248"/>
          </a:xfrm>
          <a:prstGeom prst="roundRect">
            <a:avLst>
              <a:gd name="adj" fmla="val 4377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348750" y="2256929"/>
            <a:ext cx="510269" cy="510282"/>
          </a:xfrm>
          <a:prstGeom prst="ellipse">
            <a:avLst/>
          </a:prstGeom>
          <a:solidFill>
            <a:srgbClr val="27B29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89042" y="2397224"/>
            <a:ext cx="229586" cy="2295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348750" y="2920305"/>
            <a:ext cx="5005064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Пользовательские сценарии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6348750" y="3277791"/>
            <a:ext cx="5005064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Как реальный пользователь взаимодействует с продуктом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61475" y="3865860"/>
            <a:ext cx="5357778" cy="1632248"/>
          </a:xfrm>
          <a:prstGeom prst="roundRect">
            <a:avLst>
              <a:gd name="adj" fmla="val 4377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7881" y="4042271"/>
            <a:ext cx="510269" cy="510282"/>
          </a:xfrm>
          <a:prstGeom prst="ellipse">
            <a:avLst/>
          </a:prstGeom>
          <a:solidFill>
            <a:srgbClr val="27B29F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8173" y="4182566"/>
            <a:ext cx="229586" cy="22959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7881" y="4705648"/>
            <a:ext cx="5004965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Макеты интерфейса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837881" y="5063133"/>
            <a:ext cx="5004965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Визуальные прототипы и схемы экранов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172343" y="3865860"/>
            <a:ext cx="5357877" cy="1632248"/>
          </a:xfrm>
          <a:prstGeom prst="roundRect">
            <a:avLst>
              <a:gd name="adj" fmla="val 4377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348750" y="4042271"/>
            <a:ext cx="510269" cy="510282"/>
          </a:xfrm>
          <a:prstGeom prst="ellipse">
            <a:avLst/>
          </a:prstGeom>
          <a:solidFill>
            <a:srgbClr val="27B29F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89042" y="4182566"/>
            <a:ext cx="229586" cy="22959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348750" y="4705648"/>
            <a:ext cx="5005064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Бизнес-правила</a:t>
            </a:r>
            <a:endParaRPr lang="en-US" sz="1650" dirty="0"/>
          </a:p>
        </p:txBody>
      </p:sp>
      <p:sp>
        <p:nvSpPr>
          <p:cNvPr id="23" name="Text 17"/>
          <p:cNvSpPr/>
          <p:nvPr/>
        </p:nvSpPr>
        <p:spPr>
          <a:xfrm>
            <a:off x="6348750" y="5063133"/>
            <a:ext cx="5005064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Логика и ограничения, заданные бизнесом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661475" y="5670352"/>
            <a:ext cx="10868745" cy="634305"/>
          </a:xfrm>
          <a:prstGeom prst="roundRect">
            <a:avLst>
              <a:gd name="adj" fmla="val 11264"/>
            </a:avLst>
          </a:prstGeom>
          <a:solidFill>
            <a:srgbClr val="FCF2B5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532" y="5888534"/>
            <a:ext cx="212620" cy="170061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214209" y="5865912"/>
            <a:ext cx="10755540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Устаревшие или неправильно понятые требования приводят к тестам, которые проверяют неактуальное поведение.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5887" y="469106"/>
            <a:ext cx="4439730" cy="59197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821531"/>
            <a:ext cx="6296860" cy="826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Тестовое условие: разделение на части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661475" y="1787327"/>
            <a:ext cx="6296860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Большую функцию нужно разбить на конкретные области проверки. Каждая область — это </a:t>
            </a:r>
            <a:r>
              <a:rPr lang="en-US" sz="10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тестовое условие</a:t>
            </a:r>
            <a:r>
              <a:rPr lang="en-US" sz="10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описывающее определённое свойство или правило системы.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61475" y="2344043"/>
            <a:ext cx="2987104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Пример: восстановление пароля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654895"/>
            <a:ext cx="2987104" cy="116849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88978" y="2806204"/>
            <a:ext cx="2608296" cy="4133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Существующая учётная запись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888978" y="3312120"/>
            <a:ext cx="2608296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Восстановление для зарегистрированного пользователя</a:t>
            </a:r>
            <a:endParaRPr lang="en-US" sz="10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915966"/>
            <a:ext cx="2987104" cy="96182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88978" y="4067274"/>
            <a:ext cx="2608296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Неизвестный адрес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888978" y="4366518"/>
            <a:ext cx="2608296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Обработка email, которого нет в системе</a:t>
            </a:r>
            <a:endParaRPr lang="en-US" sz="10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4970363"/>
            <a:ext cx="2987104" cy="96182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88978" y="5121672"/>
            <a:ext cx="2608296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Правила нового пароля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888978" y="5420916"/>
            <a:ext cx="2608296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Проверка требований к длине и символам</a:t>
            </a:r>
            <a:endParaRPr lang="en-US" sz="1000" dirty="0"/>
          </a:p>
        </p:txBody>
      </p:sp>
      <p:sp>
        <p:nvSpPr>
          <p:cNvPr id="16" name="Text 10"/>
          <p:cNvSpPr/>
          <p:nvPr/>
        </p:nvSpPr>
        <p:spPr>
          <a:xfrm>
            <a:off x="3977580" y="2344043"/>
            <a:ext cx="2987104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Зачем делить на условия?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3977580" y="2643287"/>
            <a:ext cx="2987104" cy="899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Это позволяет перейти от общей идеи к конкретным объектам проверки. Вместо размытого «протестировать восстановление пароля» появляется чёткий список того, что именно нужно проверить.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5340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От условия к конкретной проверке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022078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Абстрактное условие нужно превратить в воспроизводимый сценарий. Только тогда другой специалист сможет повторить проверку и получить сопоставимый результат.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839541"/>
            <a:ext cx="3622882" cy="75604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482" y="3784600"/>
            <a:ext cx="32448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Исходные данные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50482" y="4193282"/>
            <a:ext cx="3244868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Состояние системы и входные значения перед началом проверки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4357" y="2839541"/>
            <a:ext cx="3622882" cy="75604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473364" y="3784600"/>
            <a:ext cx="32448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Действия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4473364" y="4193282"/>
            <a:ext cx="324486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Что именно делает тестировщик — шаг за шагом</a:t>
            </a:r>
            <a:endParaRPr lang="en-US" sz="14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7239" y="2839541"/>
            <a:ext cx="3622882" cy="75604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96246" y="3784600"/>
            <a:ext cx="32448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Ожидаемый результат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8096246" y="4193282"/>
            <a:ext cx="324486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Что должно произойти в системе после выполнения действий</a:t>
            </a:r>
            <a:endParaRPr lang="en-US" sz="1450" dirty="0"/>
          </a:p>
        </p:txBody>
      </p:sp>
      <p:sp>
        <p:nvSpPr>
          <p:cNvPr id="13" name="Text 8"/>
          <p:cNvSpPr/>
          <p:nvPr/>
        </p:nvSpPr>
        <p:spPr>
          <a:xfrm>
            <a:off x="661475" y="5502176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Эти три компонента делают тест воспроизводимым и понятным для любого члена команды.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676797"/>
            <a:ext cx="3504219" cy="350430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33201" y="862112"/>
            <a:ext cx="6903269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Выбор значимых проверок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4633201" y="2232422"/>
            <a:ext cx="690326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Проверить все возможные варианты невозможно. Нужно выбрать такие условия, при которых поведение системы действительно может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различаться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4633201" y="3328690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Пример с числовой функцией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4633201" y="3812977"/>
            <a:ext cx="690326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Проверять каждое число по отдельности неэффективно. Важнее понять, какие значения относятся к разным правилам обработки и где поведение программы может измениться.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4633201" y="4932859"/>
            <a:ext cx="6903269" cy="1039416"/>
          </a:xfrm>
          <a:prstGeom prst="roundRect">
            <a:avLst>
              <a:gd name="adj" fmla="val 7638"/>
            </a:avLst>
          </a:prstGeom>
          <a:solidFill>
            <a:srgbClr val="D5F6F1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2208" y="5225951"/>
            <a:ext cx="236234" cy="1890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47449" y="5150148"/>
            <a:ext cx="610001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Техники тест-дизайна помогают сократить пространство проверок и выбрать наиболее информативные варианты.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91964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Ожидаемый результат: основа для сравнения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0043" y="1447602"/>
            <a:ext cx="8151509" cy="33738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12854" y="2383875"/>
            <a:ext cx="1317265" cy="225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До теста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2212854" y="2674042"/>
            <a:ext cx="1317265" cy="474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Ожидаемый результат задан по требованиям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654600" y="2383875"/>
            <a:ext cx="1317264" cy="451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Во время теста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654600" y="2899950"/>
            <a:ext cx="1317264" cy="632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Сравнение фактического поведения с ожиданием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61475" y="5047258"/>
            <a:ext cx="52614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Почему это важно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61475" y="5374977"/>
            <a:ext cx="5261439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Ожидаемый результат нужно знать </a:t>
            </a:r>
            <a:r>
              <a:rPr lang="en-US" sz="11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до</a:t>
            </a: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запуска проверки, а не после. Если определять его на основе того, что показала программа, тест теряет смысл — мы просто принимаем текущее поведение за правильное.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275131" y="5047258"/>
            <a:ext cx="52614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Откуда брать ожидаемый результат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275131" y="5374977"/>
            <a:ext cx="5261439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Он должен выводиться из тестовой основы. Если в требованиях есть пробелы — это нужно выявить и уточнить </a:t>
            </a:r>
            <a:r>
              <a:rPr lang="en-US" sz="11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перед</a:t>
            </a: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тестированием, а не в процессе.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92" y="500559"/>
            <a:ext cx="4392403" cy="58567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39452"/>
            <a:ext cx="6296860" cy="1122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Покрытие: насколько хорошо мы проверили</a:t>
            </a:r>
            <a:endParaRPr lang="en-US" sz="3500" dirty="0"/>
          </a:p>
        </p:txBody>
      </p:sp>
      <p:sp>
        <p:nvSpPr>
          <p:cNvPr id="5" name="Text 2"/>
          <p:cNvSpPr/>
          <p:nvPr/>
        </p:nvSpPr>
        <p:spPr>
          <a:xfrm>
            <a:off x="5233360" y="1917700"/>
            <a:ext cx="6296860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Покрытие показывает, какая часть тестовой основы затронута проверками. Это не количество тестов, а </a:t>
            </a:r>
            <a:r>
              <a:rPr lang="en-US" sz="14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качество их распределения</a:t>
            </a: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233360" y="2949873"/>
            <a:ext cx="6296860" cy="2616597"/>
          </a:xfrm>
          <a:prstGeom prst="roundRect">
            <a:avLst>
              <a:gd name="adj" fmla="val 2882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239710" y="2956223"/>
            <a:ext cx="6284160" cy="1301948"/>
          </a:xfrm>
          <a:custGeom>
            <a:avLst/>
            <a:gdLst/>
            <a:ahLst/>
            <a:cxnLst/>
            <a:rect l="l" t="t" r="r" b="b"/>
            <a:pathLst>
              <a:path w="6284160" h="1301948">
                <a:moveTo>
                  <a:pt x="62849" y="0"/>
                </a:moveTo>
                <a:lnTo>
                  <a:pt x="6221311" y="0"/>
                </a:lnTo>
                <a:arcTo wR="62849" hR="62850" stAng="16200000" swAng="5400000"/>
                <a:lnTo>
                  <a:pt x="6284160" y="1301948"/>
                </a:lnTo>
                <a:lnTo>
                  <a:pt x="0" y="1301948"/>
                </a:lnTo>
                <a:lnTo>
                  <a:pt x="0" y="62850"/>
                </a:lnTo>
                <a:arcTo wR="62849" hR="62850" stAng="10800000" swAng="5400000"/>
                <a:close/>
              </a:path>
            </a:pathLst>
          </a:custGeom>
          <a:solidFill>
            <a:srgbClr val="D5F6F1"/>
          </a:solidFill>
          <a:ln/>
        </p:spPr>
      </p:sp>
      <p:sp>
        <p:nvSpPr>
          <p:cNvPr id="8" name="Text 5"/>
          <p:cNvSpPr/>
          <p:nvPr/>
        </p:nvSpPr>
        <p:spPr>
          <a:xfrm>
            <a:off x="5419193" y="3135709"/>
            <a:ext cx="5925196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❌</a:t>
            </a: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Плохое покрытие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5419193" y="3518495"/>
            <a:ext cx="5925196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 похожих сценариев для одного правила — другие правила полностью пропущены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239710" y="4258171"/>
            <a:ext cx="6284160" cy="1301948"/>
          </a:xfrm>
          <a:custGeom>
            <a:avLst/>
            <a:gdLst/>
            <a:ahLst/>
            <a:cxnLst/>
            <a:rect l="l" t="t" r="r" b="b"/>
            <a:pathLst>
              <a:path w="6284160" h="1301948">
                <a:moveTo>
                  <a:pt x="0" y="0"/>
                </a:moveTo>
                <a:lnTo>
                  <a:pt x="6284160" y="0"/>
                </a:lnTo>
                <a:lnTo>
                  <a:pt x="6284160" y="1239098"/>
                </a:lnTo>
                <a:arcTo wR="62849" hR="62850" stAng="0" swAng="5400000"/>
                <a:lnTo>
                  <a:pt x="62849" y="1301948"/>
                </a:lnTo>
                <a:arcTo wR="62849" hR="62850" stAng="5400000" swAng="5400000"/>
                <a:lnTo>
                  <a:pt x="0" y="0"/>
                </a:lnTo>
                <a:close/>
              </a:path>
            </a:pathLst>
          </a:custGeom>
          <a:solidFill>
            <a:srgbClr val="D5F6F1"/>
          </a:solidFill>
          <a:ln/>
        </p:spPr>
      </p:sp>
      <p:sp>
        <p:nvSpPr>
          <p:cNvPr id="11" name="Shape 8"/>
          <p:cNvSpPr/>
          <p:nvPr/>
        </p:nvSpPr>
        <p:spPr>
          <a:xfrm>
            <a:off x="5239710" y="4258171"/>
            <a:ext cx="6284160" cy="25400"/>
          </a:xfrm>
          <a:prstGeom prst="roundRect">
            <a:avLst>
              <a:gd name="adj" fmla="val 49999"/>
            </a:avLst>
          </a:prstGeom>
          <a:solidFill>
            <a:srgbClr val="BBDCD7"/>
          </a:solidFill>
          <a:ln/>
        </p:spPr>
      </p:sp>
      <p:sp>
        <p:nvSpPr>
          <p:cNvPr id="12" name="Text 9"/>
          <p:cNvSpPr/>
          <p:nvPr/>
        </p:nvSpPr>
        <p:spPr>
          <a:xfrm>
            <a:off x="5419193" y="4437658"/>
            <a:ext cx="5925196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✅</a:t>
            </a: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Хорошее покрытие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5419193" y="4820444"/>
            <a:ext cx="5925196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Каждое значимое условие затронуто хотя бы одной осмысленной проверкой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233360" y="5758359"/>
            <a:ext cx="6296860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Хороший тест-дизайн ориентируется на осмысленное покрытие условий, а не на количество тест-кейсов.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64865"/>
            <a:ext cx="10868745" cy="1063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Приоритет проверок: что проверять в первую очередь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1475" y="2034282"/>
            <a:ext cx="10868745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Не все условия имеют одинаковую значимость. При ограниченных ресурсах первыми выполняются проверки, которые дают информацию о наиболее существенных рисках.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2723654"/>
            <a:ext cx="1811391" cy="956171"/>
          </a:xfrm>
          <a:prstGeom prst="roundRect">
            <a:avLst>
              <a:gd name="adj" fmla="val 7472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47565" y="3082131"/>
            <a:ext cx="239210" cy="239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642923" y="2893715"/>
            <a:ext cx="871724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Редко используемые функции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2642923" y="3251200"/>
            <a:ext cx="8717241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Низкий приоритет — проверяются при наличии времени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557895" y="3671888"/>
            <a:ext cx="8887297" cy="9525"/>
          </a:xfrm>
          <a:prstGeom prst="roundRect">
            <a:avLst>
              <a:gd name="adj" fmla="val 49999"/>
            </a:avLst>
          </a:prstGeom>
          <a:solidFill>
            <a:srgbClr val="BBDCD7"/>
          </a:solidFill>
          <a:ln/>
        </p:spPr>
      </p:sp>
      <p:sp>
        <p:nvSpPr>
          <p:cNvPr id="9" name="Shape 6"/>
          <p:cNvSpPr/>
          <p:nvPr/>
        </p:nvSpPr>
        <p:spPr>
          <a:xfrm>
            <a:off x="661475" y="3764855"/>
            <a:ext cx="3622882" cy="956171"/>
          </a:xfrm>
          <a:prstGeom prst="roundRect">
            <a:avLst>
              <a:gd name="adj" fmla="val 7472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53311" y="4123333"/>
            <a:ext cx="239210" cy="23921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454414" y="3934916"/>
            <a:ext cx="6905750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Функции, влияющие на данные</a:t>
            </a:r>
            <a:endParaRPr lang="en-US" sz="1650" dirty="0"/>
          </a:p>
        </p:txBody>
      </p:sp>
      <p:sp>
        <p:nvSpPr>
          <p:cNvPr id="12" name="Text 8"/>
          <p:cNvSpPr/>
          <p:nvPr/>
        </p:nvSpPr>
        <p:spPr>
          <a:xfrm>
            <a:off x="4454414" y="4292402"/>
            <a:ext cx="6905750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Средний приоритет — важны для целостности системы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369385" y="4713089"/>
            <a:ext cx="7075807" cy="9525"/>
          </a:xfrm>
          <a:prstGeom prst="roundRect">
            <a:avLst>
              <a:gd name="adj" fmla="val 49999"/>
            </a:avLst>
          </a:prstGeom>
          <a:solidFill>
            <a:srgbClr val="BBDCD7"/>
          </a:solidFill>
          <a:ln/>
        </p:spPr>
      </p:sp>
      <p:sp>
        <p:nvSpPr>
          <p:cNvPr id="14" name="Shape 10"/>
          <p:cNvSpPr/>
          <p:nvPr/>
        </p:nvSpPr>
        <p:spPr>
          <a:xfrm>
            <a:off x="661475" y="4806057"/>
            <a:ext cx="5434373" cy="956171"/>
          </a:xfrm>
          <a:prstGeom prst="roundRect">
            <a:avLst>
              <a:gd name="adj" fmla="val 7472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59056" y="5164534"/>
            <a:ext cx="239210" cy="23921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265904" y="4976118"/>
            <a:ext cx="509425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Критичные бизнес-сценарии</a:t>
            </a:r>
            <a:endParaRPr lang="en-US" sz="1650" dirty="0"/>
          </a:p>
        </p:txBody>
      </p:sp>
      <p:sp>
        <p:nvSpPr>
          <p:cNvPr id="17" name="Text 12"/>
          <p:cNvSpPr/>
          <p:nvPr/>
        </p:nvSpPr>
        <p:spPr>
          <a:xfrm>
            <a:off x="6265904" y="5333603"/>
            <a:ext cx="5094259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Высший приоритет — проверяются в первую очередь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61475" y="5934472"/>
            <a:ext cx="11478330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Даже неполный запуск набора предоставит команде полезную информацию, если приоритеты расставлены правильно.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732433"/>
            <a:ext cx="3504219" cy="350430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33201" y="859135"/>
            <a:ext cx="6903269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Трассируемость: связь тестов с требованиями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4633201" y="2229445"/>
            <a:ext cx="690326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Каждый тест должен быть связан с требованием или условием, из которого он появился. Эта связь называется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трассируемостью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4633201" y="3046909"/>
            <a:ext cx="6903269" cy="1039416"/>
          </a:xfrm>
          <a:prstGeom prst="roundRect">
            <a:avLst>
              <a:gd name="adj" fmla="val 7638"/>
            </a:avLst>
          </a:prstGeom>
          <a:solidFill>
            <a:srgbClr val="D5F6F1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2208" y="3340001"/>
            <a:ext cx="236234" cy="1890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47449" y="3264198"/>
            <a:ext cx="610001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Без трассируемости тестовый набор со временем накапливает устаревшие проверки.</a:t>
            </a:r>
            <a:endParaRPr lang="en-US" sz="1450" dirty="0"/>
          </a:p>
        </p:txBody>
      </p:sp>
      <p:sp>
        <p:nvSpPr>
          <p:cNvPr id="8" name="Shape 4"/>
          <p:cNvSpPr/>
          <p:nvPr/>
        </p:nvSpPr>
        <p:spPr>
          <a:xfrm>
            <a:off x="661475" y="4661991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32365" y="4697413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1275723" y="4726880"/>
            <a:ext cx="2851178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Найти проверки по требованию</a:t>
            </a:r>
            <a:endParaRPr lang="en-US" sz="1850" dirty="0"/>
          </a:p>
        </p:txBody>
      </p:sp>
      <p:sp>
        <p:nvSpPr>
          <p:cNvPr id="11" name="Text 7"/>
          <p:cNvSpPr/>
          <p:nvPr/>
        </p:nvSpPr>
        <p:spPr>
          <a:xfrm>
            <a:off x="1275723" y="5430837"/>
            <a:ext cx="285117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Смотрим на требование — видим все связанные тесты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4363135" y="4661991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434025" y="4697413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4977383" y="4726880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Понять смысл теста</a:t>
            </a:r>
            <a:endParaRPr lang="en-US" sz="1850" dirty="0"/>
          </a:p>
        </p:txBody>
      </p:sp>
      <p:sp>
        <p:nvSpPr>
          <p:cNvPr id="15" name="Text 11"/>
          <p:cNvSpPr/>
          <p:nvPr/>
        </p:nvSpPr>
        <p:spPr>
          <a:xfrm>
            <a:off x="4977383" y="5135563"/>
            <a:ext cx="2851178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Открываем тест — понимаем, какое поведение он подтверждает</a:t>
            </a:r>
            <a:endParaRPr lang="en-US" sz="1450" dirty="0"/>
          </a:p>
        </p:txBody>
      </p:sp>
      <p:sp>
        <p:nvSpPr>
          <p:cNvPr id="16" name="Shape 12"/>
          <p:cNvSpPr/>
          <p:nvPr/>
        </p:nvSpPr>
        <p:spPr>
          <a:xfrm>
            <a:off x="8064794" y="4661991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135684" y="4697413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8679042" y="4726880"/>
            <a:ext cx="2851178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Обновить при изменениях</a:t>
            </a:r>
            <a:endParaRPr lang="en-US" sz="1850" dirty="0"/>
          </a:p>
        </p:txBody>
      </p:sp>
      <p:sp>
        <p:nvSpPr>
          <p:cNvPr id="19" name="Text 15"/>
          <p:cNvSpPr/>
          <p:nvPr/>
        </p:nvSpPr>
        <p:spPr>
          <a:xfrm>
            <a:off x="8679042" y="5430837"/>
            <a:ext cx="2851178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Требование изменилось — находим и пересматриваем связанные тесты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2769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Техники тест-дизайна: разные задачи, разные подходы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122091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Главная задача тест-дизайна — получить обоснованный и управляемый набор проверок из огромного пространства возможных вариантов. Разные виды логики требуют разных техник.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939554"/>
            <a:ext cx="1117572" cy="69066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3866455"/>
            <a:ext cx="253993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Граничные значения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61475" y="4570413"/>
            <a:ext cx="253993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Для диапазонов чисел — проверяем значения на границах и рядом с ними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7645" y="2939554"/>
            <a:ext cx="1117572" cy="69066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437645" y="3866455"/>
            <a:ext cx="254003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Попарное тестирование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3437645" y="4570413"/>
            <a:ext cx="254003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Для множества параметров — покрываем все пары комбинаций</a:t>
            </a:r>
            <a:endParaRPr lang="en-US" sz="14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3915" y="2939554"/>
            <a:ext cx="1117572" cy="69066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213915" y="3866455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Таблицы решений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6213915" y="4275138"/>
            <a:ext cx="254003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Для сложных правил — систематизируем условия и действия</a:t>
            </a:r>
            <a:endParaRPr lang="en-US" sz="14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0184" y="2939554"/>
            <a:ext cx="1117572" cy="69066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990184" y="3866455"/>
            <a:ext cx="254003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Переходы состояний</a:t>
            </a:r>
            <a:endParaRPr lang="en-US" sz="1850" dirty="0"/>
          </a:p>
        </p:txBody>
      </p:sp>
      <p:sp>
        <p:nvSpPr>
          <p:cNvPr id="15" name="Text 9"/>
          <p:cNvSpPr/>
          <p:nvPr/>
        </p:nvSpPr>
        <p:spPr>
          <a:xfrm>
            <a:off x="8990184" y="4570413"/>
            <a:ext cx="254003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Для систем с состоянием — проверяем переходы между режимами</a:t>
            </a:r>
            <a:endParaRPr lang="en-US" sz="1450" dirty="0"/>
          </a:p>
        </p:txBody>
      </p:sp>
      <p:sp>
        <p:nvSpPr>
          <p:cNvPr id="16" name="Text 10"/>
          <p:cNvSpPr/>
          <p:nvPr/>
        </p:nvSpPr>
        <p:spPr>
          <a:xfrm>
            <a:off x="661475" y="5690295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Все техники основаны на одной идее: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проверки должны быть обоснованы устройством системы, а не случайны.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775</Words>
  <Application>Microsoft Office PowerPoint</Application>
  <PresentationFormat>Широкоэкранный</PresentationFormat>
  <Paragraphs>102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Open Sans</vt:lpstr>
      <vt:lpstr>Arial</vt:lpstr>
      <vt:lpstr>Montserrat Bold</vt:lpstr>
      <vt:lpstr>Noto Color Emoji</vt:lpstr>
      <vt:lpstr>Open Sans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Ефимов Матвей Александрович</cp:lastModifiedBy>
  <cp:revision>2</cp:revision>
  <dcterms:created xsi:type="dcterms:W3CDTF">2026-09-29T13:54:15Z</dcterms:created>
  <dcterms:modified xsi:type="dcterms:W3CDTF">2026-09-29T14:35:36Z</dcterms:modified>
</cp:coreProperties>
</file>