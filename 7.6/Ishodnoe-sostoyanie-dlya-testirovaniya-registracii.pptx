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Montserrat Bold" panose="020B0604020202020204" charset="-52"/>
      <p:regular r:id="rId17"/>
    </p:embeddedFont>
    <p:embeddedFont>
      <p:font typeface="Open Sans" panose="020B0606030504020204" pitchFamily="34" charset="0"/>
      <p:regular r:id="rId18"/>
    </p:embeddedFont>
    <p:embeddedFont>
      <p:font typeface="Open Sans Bold" panose="020B0806030504020204" charset="0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9041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181559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Исходное состояние для тестирования регистрации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3216374"/>
            <a:ext cx="629686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Перед проверкой функции регистрации база данных должна находиться в определённом состоянии. Это может быть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свободный адрес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для успешной регистрации, или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занятый адрес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для проверки запрета дубликатов.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61475" y="4638675"/>
            <a:ext cx="6296860" cy="1058366"/>
          </a:xfrm>
          <a:prstGeom prst="roundRect">
            <a:avLst>
              <a:gd name="adj" fmla="val 7501"/>
            </a:avLst>
          </a:prstGeom>
          <a:solidFill>
            <a:srgbClr val="D5F6F1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482" y="4906367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75723" y="4874915"/>
            <a:ext cx="54936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Ключевое правило: сама регистрация проходит через приложение, а подготовка данных — через SQL.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477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Какие таблицы затрагивает регистрация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552483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Основная таблица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33201" y="3024882"/>
            <a:ext cx="69032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Главные данные пользователя хранятся в таблице </a:t>
            </a:r>
            <a:r>
              <a:rPr lang="en-US" sz="14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Но регистрация часто затрагивает сразу несколько таблиц — профили, роли, настройки.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633201" y="3830619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важно понимать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633201" y="4303018"/>
            <a:ext cx="6903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 подготовке нужно чётко разграничить: какие записи должны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существовать до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регистрации, а какие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создаёт само приложение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в процессе.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448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Уникальность как условие регистрации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722463"/>
            <a:ext cx="5996830" cy="2286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Email, логин и другие поля часто имеют ограничение уникальности на уровне базы данных. При создании тестовых пользователей необходимо учитывать эти правила.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Особое внимание —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нормализации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разные регистры одного адреса (</a:t>
            </a:r>
            <a:r>
              <a:rPr lang="en-US" sz="14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User@mail.com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и </a:t>
            </a:r>
            <a:r>
              <a:rPr lang="en-US" sz="14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user@mail.com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) могут считаться одинаковыми. Это напрямую влияет на корректность проверки повторной регистрации.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5812" y="1660624"/>
            <a:ext cx="4410659" cy="44107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57552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Добавление записи через INSERT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835946"/>
            <a:ext cx="691130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Синтаксис команды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661475" y="2299097"/>
            <a:ext cx="6911306" cy="2082998"/>
          </a:xfrm>
          <a:prstGeom prst="roundRect">
            <a:avLst>
              <a:gd name="adj" fmla="val 3621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76873" y="2478584"/>
            <a:ext cx="6480509" cy="172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users (email, password_hash, created_at)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 (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'test@example.com',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'$2b$12$hashedpassword...',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NOW()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61475" y="4583214"/>
            <a:ext cx="691130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Важный нюанс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661475" y="5025033"/>
            <a:ext cx="6911306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Поле </a:t>
            </a: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password_hash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должно содержать именно </a:t>
            </a: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хеш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а не открытый пароль. Запись, созданная через SQL, может отличаться от созданной через приложение, если регистрация выполняет дополнительные операции.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5275" y="2165846"/>
            <a:ext cx="3343191" cy="33432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85867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Получение ID новой записи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069703"/>
            <a:ext cx="3509180" cy="36207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7954" y="2274590"/>
            <a:ext cx="299782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Зачем нужен ID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967954" y="2657376"/>
            <a:ext cx="2997820" cy="1400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После INSERT необходимо узнать идентификатор созданного пользователя — он нужен для связи с другими объектами: профилями, ролями, сессиями.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1208" y="2069703"/>
            <a:ext cx="3509180" cy="362079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47687" y="2274590"/>
            <a:ext cx="2997820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Конструкция RETURNING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4647687" y="2937867"/>
            <a:ext cx="299782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 PostgreSQL можно получить ID сразу, без отдельного запроса: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647687" y="3689945"/>
            <a:ext cx="2997820" cy="1795661"/>
          </a:xfrm>
          <a:prstGeom prst="roundRect">
            <a:avLst>
              <a:gd name="adj" fmla="val 4200"/>
            </a:avLst>
          </a:prstGeom>
          <a:solidFill>
            <a:srgbClr val="F2F2F2"/>
          </a:solidFill>
          <a:ln/>
        </p:spPr>
      </p:sp>
      <p:sp>
        <p:nvSpPr>
          <p:cNvPr id="10" name="Text 6"/>
          <p:cNvSpPr/>
          <p:nvPr/>
        </p:nvSpPr>
        <p:spPr>
          <a:xfrm>
            <a:off x="4863085" y="3869432"/>
            <a:ext cx="2567022" cy="1436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users (email, password_hash)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 ('test@example.com', '$2b$12$...')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RETURNING id;</a:t>
            </a:r>
            <a:endParaRPr lang="en-US" sz="1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20941" y="2069703"/>
            <a:ext cx="3509180" cy="362079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327420" y="2274590"/>
            <a:ext cx="299782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Почему это важно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8327420" y="2657376"/>
            <a:ext cx="2997820" cy="1680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Идентификаторы генерируются автоматически и непредсказуемы. </a:t>
            </a: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RETURNING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надёжный способ получить точное значение без дополнительных запросов.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501" y="500559"/>
            <a:ext cx="4392403" cy="5856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110163"/>
            <a:ext cx="6296860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Автоматические значения в базе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661475" y="2649738"/>
            <a:ext cx="292936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заполняет база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61475" y="3091557"/>
            <a:ext cx="2929360" cy="1400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Некоторые поля заполняются системой автоматически: первичный ключ (</a:t>
            </a: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), дата создания (</a:t>
            </a: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created_at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), значения по умолчанию через </a:t>
            </a: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035324" y="2649738"/>
            <a:ext cx="2929360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заполняет приложение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4035324" y="3372048"/>
            <a:ext cx="2929360" cy="2240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Приложение может добавлять свои данные поверх базовых — например, токены подтверждения или начальные настройки профиля. Если не разграничить эти уровни, можно </a:t>
            </a: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пропустить дефект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в логике регистрации.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2245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Транзакция как группа операций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1260" y="2270522"/>
            <a:ext cx="3649075" cy="21657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11056" y="3933911"/>
            <a:ext cx="907058" cy="174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COMMIT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667915" y="3933911"/>
            <a:ext cx="907058" cy="174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INSERT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06135" y="3933911"/>
            <a:ext cx="907058" cy="174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BEGIN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61475" y="4648895"/>
            <a:ext cx="1086874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Транзакция объединяет несколько SQL-команд в одно логическое целое. Если регистрация требует создать пользователя и профиль одновременно, транзакция гарантирует атомарность: либо оба объекта создадутся, либо ничего не создастся.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62766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Откат изменений через ROLLBACK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867320"/>
            <a:ext cx="691944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делает ROLLBACK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661475" y="2278405"/>
            <a:ext cx="6919442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во время подготовки данных произошла ошибка,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ROLLBACK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отменяет все незафиксированные изменения. Это предотвращает появление неполных или несогласованных данных в базе.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61475" y="3214909"/>
            <a:ext cx="691944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Поведение PostgreSQL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61475" y="3625994"/>
            <a:ext cx="6919442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После ошибки транзакция переходит в </a:t>
            </a: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состояние ошибки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и требует явного отката перед любыми дальнейшими действиями.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61475" y="4313337"/>
            <a:ext cx="6919442" cy="1429147"/>
          </a:xfrm>
          <a:prstGeom prst="roundRect">
            <a:avLst>
              <a:gd name="adj" fmla="val 4999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865563" y="4483398"/>
            <a:ext cx="6511266" cy="1089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BEGIN;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users ...;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произошла ошибка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ROLLBACK; -- отменяем всё</a:t>
            </a:r>
            <a:endParaRPr lang="en-US" sz="13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8893" y="2219127"/>
            <a:ext cx="3180774" cy="318085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14140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Видимость данных в разных подключениях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3052862"/>
            <a:ext cx="3496877" cy="2311499"/>
          </a:xfrm>
          <a:prstGeom prst="roundRect">
            <a:avLst>
              <a:gd name="adj" fmla="val 3434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3248223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До COMMIT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3656905"/>
            <a:ext cx="3106164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Другие подключения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не видят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изменения незавершённой транзакции. Приложение не найдёт тестовые данные, пока они не зафиксированы.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47359" y="3052862"/>
            <a:ext cx="3496877" cy="2311499"/>
          </a:xfrm>
          <a:prstGeom prst="roundRect">
            <a:avLst>
              <a:gd name="adj" fmla="val 3434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42716" y="3248223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После COMMIT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542716" y="3656905"/>
            <a:ext cx="310616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Данные становятся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видны всем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подключениям. Обычный </a:t>
            </a:r>
            <a:r>
              <a:rPr lang="en-US" sz="14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ROLLBACK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уже не отменит зафиксированные изменения.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033244" y="3052862"/>
            <a:ext cx="3496877" cy="2311499"/>
          </a:xfrm>
          <a:prstGeom prst="roundRect">
            <a:avLst>
              <a:gd name="adj" fmla="val 3434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8600" y="3248223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Практический вывод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228600" y="3656905"/>
            <a:ext cx="3106164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 тестировании всегда выполняйте </a:t>
            </a:r>
            <a:r>
              <a:rPr lang="en-US" sz="145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COMMIT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перед запуском проверки через приложение — иначе тест будет работать с пустой базой.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29358"/>
            <a:ext cx="10868745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Проверка регистрации с использованием транзакций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2167676"/>
            <a:ext cx="523842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Практический сценарий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61475" y="2549013"/>
            <a:ext cx="5848005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Полный цикл подготовки и проверки: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61475" y="2936280"/>
            <a:ext cx="5238421" cy="2120106"/>
          </a:xfrm>
          <a:prstGeom prst="roundRect">
            <a:avLst>
              <a:gd name="adj" fmla="val 3183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854252" y="3096915"/>
            <a:ext cx="4852866" cy="17988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BEGIN;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users (email, password_hash)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 ('taken@example.com', '$2b$12$...')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RETURNING id;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COMMIT;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61475" y="5214029"/>
            <a:ext cx="5238421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После фиксации — открыть приложение и попытаться зарегистрироваться с тем же email. Ожидаемый результат: </a:t>
            </a:r>
            <a:r>
              <a:rPr lang="en-US" sz="12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отказ с сообщением об ошибке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98149" y="2167676"/>
            <a:ext cx="523842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Главный принцип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298149" y="2549013"/>
            <a:ext cx="5238421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Транзакции обеспечивают </a:t>
            </a:r>
            <a:r>
              <a:rPr lang="en-US" sz="12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согласованность подготовки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тестовых данных. Но сама проверка функции регистрации всегда должна проходить </a:t>
            </a:r>
            <a:r>
              <a:rPr lang="en-US" sz="12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через приложение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а не через SQL — только так можно обнаружить реальные дефекты в бизнес-логике.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98149" y="3649464"/>
            <a:ext cx="5238421" cy="801291"/>
          </a:xfrm>
          <a:prstGeom prst="roundRect">
            <a:avLst>
              <a:gd name="adj" fmla="val 8421"/>
            </a:avLst>
          </a:prstGeom>
          <a:solidFill>
            <a:srgbClr val="D5F6F1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8781" y="3863280"/>
            <a:ext cx="200814" cy="16063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820225" y="3816434"/>
            <a:ext cx="4555713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SQL — инструмент подготовки среды. Приложение — объект тестирования.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680</Words>
  <Application>Microsoft Office PowerPoint</Application>
  <PresentationFormat>Широкоэкранный</PresentationFormat>
  <Paragraphs>81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Open Sans</vt:lpstr>
      <vt:lpstr>Montserrat Bold</vt:lpstr>
      <vt:lpstr>Arial</vt:lpstr>
      <vt:lpstr>Open Sans Bold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2026-10-08T12:25:50Z</dcterms:created>
  <dcterms:modified xsi:type="dcterms:W3CDTF">2026-10-08T12:41:40Z</dcterms:modified>
</cp:coreProperties>
</file>