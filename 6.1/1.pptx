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Montserrat Bold" panose="020B0604020202020204" charset="-52"/>
      <p:regular r:id="rId17"/>
    </p:embeddedFont>
    <p:embeddedFont>
      <p:font typeface="Open Sans" panose="020B0606030504020204" pitchFamily="34" charset="0"/>
      <p:regular r:id="rId18"/>
      <p:bold r:id="rId19"/>
    </p:embeddedFont>
    <p:embeddedFont>
      <p:font typeface="Open Sans Bold" panose="020B0806030504020204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6702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6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862310"/>
            <a:ext cx="6296860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такое API и RESTful API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5233360" y="1691977"/>
            <a:ext cx="2952478" cy="2975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spcAft>
                <a:spcPts val="95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API — это способ, которым одна программа общается с другой. Когда браузер загружает список товаров, он отправляет запрос серверу через API и получает данные для отображения.</a:t>
            </a:r>
            <a:endParaRPr lang="en-US" sz="12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REST — архитектурный стиль, где всё организовано вокруг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ресурсов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пользователи, заказы, товары. Каждый ресурс имеет свой адрес, а действия над ним выполняются стандартными HTTP-методами.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8584092" y="1722735"/>
            <a:ext cx="2952478" cy="959247"/>
          </a:xfrm>
          <a:prstGeom prst="roundRect">
            <a:avLst>
              <a:gd name="adj" fmla="val 7035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51073" y="1889720"/>
            <a:ext cx="2618516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Куда идёт запрос?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751073" y="2277269"/>
            <a:ext cx="2618516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Адрес ресурса (URL)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584092" y="2818507"/>
            <a:ext cx="2952478" cy="959247"/>
          </a:xfrm>
          <a:prstGeom prst="roundRect">
            <a:avLst>
              <a:gd name="adj" fmla="val 7035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51073" y="2985492"/>
            <a:ext cx="2618516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передаётся?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751073" y="3373041"/>
            <a:ext cx="2618516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Метод, заголовки, тело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584092" y="3914279"/>
            <a:ext cx="2952478" cy="959247"/>
          </a:xfrm>
          <a:prstGeom prst="roundRect">
            <a:avLst>
              <a:gd name="adj" fmla="val 7035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51073" y="4081264"/>
            <a:ext cx="2618516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вернулось?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8751073" y="4468813"/>
            <a:ext cx="2618516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Код ответа и данные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233360" y="5180707"/>
            <a:ext cx="6296860" cy="814983"/>
          </a:xfrm>
          <a:prstGeom prst="roundRect">
            <a:avLst>
              <a:gd name="adj" fmla="val 8280"/>
            </a:avLst>
          </a:prstGeom>
          <a:solidFill>
            <a:srgbClr val="D5F6F1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3992" y="5375473"/>
            <a:ext cx="200814" cy="16063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755436" y="5357316"/>
            <a:ext cx="5614153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Три вопроса тестировщика: куда идёт запрос, что в нём передаётся и какой результат вернулся.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7415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Ресурсы и URL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480" y="2165846"/>
            <a:ext cx="3343191" cy="33432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25165" y="1717973"/>
            <a:ext cx="6911306" cy="1553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 RESTful API каждый объект имеет свой уникальный адрес.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/users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коллекция всех пользователей, а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/users/15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конкретный пользователь с ID 15.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Ключевой принцип: </a:t>
            </a:r>
            <a:r>
              <a:rPr lang="en-US" sz="1400" b="1" dirty="0">
                <a:solidFill>
                  <a:srgbClr val="27B29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URL описывает что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мы запрашиваем, а </a:t>
            </a:r>
            <a:r>
              <a:rPr lang="en-US" sz="1400" b="1" dirty="0">
                <a:solidFill>
                  <a:srgbClr val="27B29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HTTP-метод описывает как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мы это делаем.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25165" y="3463826"/>
          <a:ext cx="6911306" cy="914400"/>
        </p:xfrm>
        <a:graphic>
          <a:graphicData uri="http://schemas.openxmlformats.org/drawingml/2006/table">
            <a:tbl>
              <a:tblPr/>
              <a:tblGrid>
                <a:gridCol w="23037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3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37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05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Адрес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Метод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Действие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7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/users/15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GET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Получить данные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7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/users/15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PUT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Изменить данные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5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/users/15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DELETE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Удалить объект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625165" y="5676999"/>
            <a:ext cx="7520891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 тестировании всегда учитывайте не только адрес, но и метод запроса.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92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26455"/>
            <a:ext cx="6296860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HTTP-метод GET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5233360" y="1497013"/>
            <a:ext cx="2929360" cy="35146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GET используется для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чтения данных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Это безопасная операция — она не должна ничего менять на сервере. Сколько бы раз вы ни запросили одного пользователя, его данные останутся прежними.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Это свойство делает GET предсказуемым и удобным для тестирования: результат всегда должен быть одинаковым при одинаковых условиях.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07210" y="1535410"/>
            <a:ext cx="2929360" cy="142101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913689" y="1740297"/>
            <a:ext cx="241800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Список объектов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8913689" y="2191345"/>
            <a:ext cx="241800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 /users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все пользователи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07210" y="3126978"/>
            <a:ext cx="2929360" cy="142101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913689" y="3331865"/>
            <a:ext cx="241800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Один объект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8913689" y="3782913"/>
            <a:ext cx="241800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 /users/15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пользователь с ID 15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07210" y="4718546"/>
            <a:ext cx="2929360" cy="142101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13689" y="4923433"/>
            <a:ext cx="241800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Фильтрация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8913689" y="5374481"/>
            <a:ext cx="241800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 /users?role=admin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по параметрам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9116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HTTP-метод POST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4206" y="1423491"/>
            <a:ext cx="8623283" cy="37186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64495" y="4436921"/>
            <a:ext cx="1956315" cy="244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201 Created + ID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2364495" y="3576121"/>
            <a:ext cx="1956315" cy="244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Создание ресурса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364495" y="2724016"/>
            <a:ext cx="2843314" cy="244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Тело: name,email,password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364495" y="1863215"/>
            <a:ext cx="1956315" cy="244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Отправка POST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61475" y="5386983"/>
            <a:ext cx="5249930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POST создаёт новый ресурс или запускает операцию, изменяющую состояние системы. В отличие от GET, POST требует </a:t>
            </a: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тело запроса</a:t>
            </a: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данные, которые нужно отправить серверу.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286640" y="5386983"/>
            <a:ext cx="524993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 тестировании важно проверить не только успешный ответ, но и то, что объект действительно создался с </a:t>
            </a: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правильными данными</a:t>
            </a: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83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723900"/>
            <a:ext cx="6296860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HTTP-метод PUT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61475" y="1485106"/>
            <a:ext cx="6296860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PUT обновляет существующий ресурс. Классический смысл: клиент отправляет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новое полное представление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объекта. Например,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PUT /users/15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заменяет данные пользователя с ID 15.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61475" y="2433042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97243" y="2491482"/>
            <a:ext cx="576109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Обязательные поля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197243" y="2848967"/>
            <a:ext cx="5761092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Какие поля необходимо передать для успешного обновления?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61475" y="3413720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97243" y="3472160"/>
            <a:ext cx="576109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Пропущенные поля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197243" y="3829645"/>
            <a:ext cx="5761092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Что происходит с полями, которые вы не передали в запросе?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61475" y="4394398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97243" y="4452838"/>
            <a:ext cx="576109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Частичные обновления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1197243" y="4810323"/>
            <a:ext cx="5761092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Как API обрабатывает запросы с неполным набором данных?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61475" y="5241131"/>
            <a:ext cx="6296860" cy="892870"/>
          </a:xfrm>
          <a:prstGeom prst="roundRect">
            <a:avLst>
              <a:gd name="adj" fmla="val 8002"/>
            </a:avLst>
          </a:prstGeom>
          <a:solidFill>
            <a:srgbClr val="FCF2B5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" y="5459313"/>
            <a:ext cx="212620" cy="17006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14209" y="5436691"/>
            <a:ext cx="557406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 переносите поведение одного API на другой — всегда проверяйте документацию конкретного сервиса.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9444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HTTP-метод DELETE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79" y="1562894"/>
            <a:ext cx="3180774" cy="31808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17029" y="2438003"/>
            <a:ext cx="6919442" cy="1430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DELETE удаляет ресурс. Запрос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/users/15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означает удаление пользователя с ID 15.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Важный нюанс: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удаление не всегда означает физическое стирание из базы. Объект может быть помечен как удалённый или переведён в специальный статус — с точки зрения API это всё равно выглядит как DELETE.</a:t>
            </a:r>
            <a:endParaRPr lang="en-US" sz="1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5271" y="5093444"/>
            <a:ext cx="255085" cy="2550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14209" y="5088235"/>
            <a:ext cx="294265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После удаления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1214209" y="5445720"/>
            <a:ext cx="294265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Повторный запрос должен вернуть ошибку (404)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11949" y="5093444"/>
            <a:ext cx="255085" cy="25509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00887" y="5088235"/>
            <a:ext cx="2942655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Несуществующий объект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4900887" y="5711428"/>
            <a:ext cx="294265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Как API реагирует на удаление того, чего нет?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8627" y="5093444"/>
            <a:ext cx="255085" cy="25509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587565" y="5088235"/>
            <a:ext cx="294265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Побочные эффекты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8587565" y="5445720"/>
            <a:ext cx="294265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Удаляются ли связанные данные вместе с объектом?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8243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HTTP-коды ответа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51112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Код ответа — трёхзначное число, показывающее результат обработки запроса. По первой цифре определяется класс результата.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568575"/>
            <a:ext cx="10868745" cy="2538313"/>
          </a:xfrm>
          <a:prstGeom prst="roundRect">
            <a:avLst>
              <a:gd name="adj" fmla="val 3128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825" y="2574925"/>
            <a:ext cx="3618616" cy="2525613"/>
          </a:xfrm>
          <a:custGeom>
            <a:avLst/>
            <a:gdLst/>
            <a:ahLst/>
            <a:cxnLst/>
            <a:rect l="l" t="t" r="r" b="b"/>
            <a:pathLst>
              <a:path w="3618616" h="2525613">
                <a:moveTo>
                  <a:pt x="66156" y="0"/>
                </a:moveTo>
                <a:lnTo>
                  <a:pt x="3618616" y="0"/>
                </a:lnTo>
                <a:lnTo>
                  <a:pt x="3618616" y="2525613"/>
                </a:lnTo>
                <a:lnTo>
                  <a:pt x="66156" y="2525613"/>
                </a:lnTo>
                <a:arcTo wR="66156" hR="66158" stAng="5400000" swAng="5400000"/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6" name="Text 4"/>
          <p:cNvSpPr/>
          <p:nvPr/>
        </p:nvSpPr>
        <p:spPr>
          <a:xfrm>
            <a:off x="856832" y="2763937"/>
            <a:ext cx="32406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B29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2xx — Успех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56832" y="3172619"/>
            <a:ext cx="3240602" cy="1436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200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OK — данные получены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201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Created — ресурс создан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204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 Content — успешно, тела нет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286440" y="2574925"/>
            <a:ext cx="3618715" cy="2525613"/>
          </a:xfrm>
          <a:prstGeom prst="rect">
            <a:avLst/>
          </a:prstGeom>
          <a:solidFill>
            <a:srgbClr val="D5F6F1"/>
          </a:solidFill>
          <a:ln/>
        </p:spPr>
      </p:sp>
      <p:sp>
        <p:nvSpPr>
          <p:cNvPr id="9" name="Shape 7"/>
          <p:cNvSpPr/>
          <p:nvPr/>
        </p:nvSpPr>
        <p:spPr>
          <a:xfrm>
            <a:off x="4286440" y="2574925"/>
            <a:ext cx="25399" cy="2525613"/>
          </a:xfrm>
          <a:prstGeom prst="roundRect">
            <a:avLst>
              <a:gd name="adj" fmla="val 50001"/>
            </a:avLst>
          </a:prstGeom>
          <a:solidFill>
            <a:srgbClr val="BBDCD7"/>
          </a:solidFill>
          <a:ln/>
        </p:spPr>
      </p:sp>
      <p:sp>
        <p:nvSpPr>
          <p:cNvPr id="10" name="Text 8"/>
          <p:cNvSpPr/>
          <p:nvPr/>
        </p:nvSpPr>
        <p:spPr>
          <a:xfrm>
            <a:off x="4475447" y="2763937"/>
            <a:ext cx="324070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4xx — Ошибка клиента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4475447" y="3172619"/>
            <a:ext cx="3240701" cy="173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400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Bad Request — некорректный запрос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401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Unauthorized — нужна аутентификация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404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Not Found — ресурс не найден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905155" y="2574925"/>
            <a:ext cx="3618715" cy="2525613"/>
          </a:xfrm>
          <a:custGeom>
            <a:avLst/>
            <a:gdLst/>
            <a:ahLst/>
            <a:cxnLst/>
            <a:rect l="l" t="t" r="r" b="b"/>
            <a:pathLst>
              <a:path w="3618715" h="2525613">
                <a:moveTo>
                  <a:pt x="0" y="0"/>
                </a:moveTo>
                <a:lnTo>
                  <a:pt x="3552558" y="0"/>
                </a:lnTo>
                <a:arcTo wR="66156" hR="66158" stAng="16200000" swAng="5400000"/>
                <a:lnTo>
                  <a:pt x="3618715" y="2459455"/>
                </a:lnTo>
                <a:arcTo wR="66156" hR="66158" stAng="0" swAng="5400000"/>
                <a:lnTo>
                  <a:pt x="0" y="2525613"/>
                </a:lnTo>
                <a:lnTo>
                  <a:pt x="0" y="0"/>
                </a:lnTo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13" name="Shape 11"/>
          <p:cNvSpPr/>
          <p:nvPr/>
        </p:nvSpPr>
        <p:spPr>
          <a:xfrm>
            <a:off x="7905155" y="2574925"/>
            <a:ext cx="25399" cy="2525613"/>
          </a:xfrm>
          <a:prstGeom prst="roundRect">
            <a:avLst>
              <a:gd name="adj" fmla="val 50001"/>
            </a:avLst>
          </a:prstGeom>
          <a:solidFill>
            <a:srgbClr val="BBDCD7"/>
          </a:solidFill>
          <a:ln/>
        </p:spPr>
      </p:sp>
      <p:sp>
        <p:nvSpPr>
          <p:cNvPr id="14" name="Text 12"/>
          <p:cNvSpPr/>
          <p:nvPr/>
        </p:nvSpPr>
        <p:spPr>
          <a:xfrm>
            <a:off x="8094162" y="2763937"/>
            <a:ext cx="324070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5xx — Ошибка сервера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8094162" y="3172619"/>
            <a:ext cx="324070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500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Internal Server Error — внутренняя ошибка сервера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61475" y="5319514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D5F6F1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5587206"/>
            <a:ext cx="236234" cy="18901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275723" y="5555754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 тестировании проверяйте не только сам код, но и соответствует ли он реальной ситуации.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92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26455"/>
            <a:ext cx="6296860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Заголовки HTTP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5233360" y="1497013"/>
            <a:ext cx="2929360" cy="3234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Заголовки передают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служебную информацию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о запросе и ответе. Это не основные данные, но они помогают клиенту и серверу правильно интерпретировать содержимое.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заголовок указан неправильно, сервер может не понять данные даже при корректном содержимом тела запроса.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607210" y="1535410"/>
            <a:ext cx="2929360" cy="1421011"/>
          </a:xfrm>
          <a:prstGeom prst="roundRect">
            <a:avLst>
              <a:gd name="adj" fmla="val 5307"/>
            </a:avLst>
          </a:prstGeom>
          <a:solidFill>
            <a:srgbClr val="FFFFFF"/>
          </a:solidFill>
          <a:ln w="25399">
            <a:solidFill>
              <a:srgbClr val="BB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12091" y="1740297"/>
            <a:ext cx="2519597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Content-Type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812091" y="2191345"/>
            <a:ext cx="2519597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Формат тела запроса. Для JSON: </a:t>
            </a: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application/json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607210" y="3126978"/>
            <a:ext cx="2929360" cy="1421011"/>
          </a:xfrm>
          <a:prstGeom prst="roundRect">
            <a:avLst>
              <a:gd name="adj" fmla="val 5307"/>
            </a:avLst>
          </a:prstGeom>
          <a:solidFill>
            <a:srgbClr val="FFFFFF"/>
          </a:solidFill>
          <a:ln w="25399">
            <a:solidFill>
              <a:srgbClr val="BBDC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12091" y="3331865"/>
            <a:ext cx="2519597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Authorization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8812091" y="3782913"/>
            <a:ext cx="2519597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Токен или ключ для аутентификации запроса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607210" y="4718546"/>
            <a:ext cx="2929360" cy="1421011"/>
          </a:xfrm>
          <a:prstGeom prst="roundRect">
            <a:avLst>
              <a:gd name="adj" fmla="val 5307"/>
            </a:avLst>
          </a:prstGeom>
          <a:solidFill>
            <a:srgbClr val="FFFFFF"/>
          </a:solidFill>
          <a:ln w="25399">
            <a:solidFill>
              <a:srgbClr val="BBDC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12091" y="4923433"/>
            <a:ext cx="2519597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Accept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8812091" y="5374481"/>
            <a:ext cx="2519597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Какой формат ответа ожидает клиент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584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Тело запроса и форматы данных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40024"/>
            <a:ext cx="5203794" cy="168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Тело запроса используется для передачи основных данных на сервер — особенно важно для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POST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и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PUT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 тестировании важно понимать структуру данных: обязательные поля, типы значений и как сервер реагирует на некорректное содержимое.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332776" y="1982589"/>
            <a:ext cx="2507394" cy="3766840"/>
          </a:xfrm>
          <a:prstGeom prst="roundRect">
            <a:avLst>
              <a:gd name="adj" fmla="val 3166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28133" y="2177951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JSON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528133" y="2662238"/>
            <a:ext cx="2116680" cy="2589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Самый распространённый формат. Пары «ключ — значение» и вложенные структуры. Удобен для чтения.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{"name": "Ivan", "email": "ivan@mail.ru"}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029176" y="1982589"/>
            <a:ext cx="2507394" cy="3766840"/>
          </a:xfrm>
          <a:prstGeom prst="roundRect">
            <a:avLst>
              <a:gd name="adj" fmla="val 3166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24533" y="2177951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XML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9224533" y="2662238"/>
            <a:ext cx="2116680" cy="2891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Альтернативный формат с тегами. Часто используется в корпоративных системах и интеграциях.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&lt;user&gt;&lt;name&gt;Ivan&lt;/name&gt;&lt;/user&gt;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2032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Структура полного HTTP-взаимодействия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3723" y="1317129"/>
            <a:ext cx="7184250" cy="32880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04696" y="3694426"/>
            <a:ext cx="1348762" cy="519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Проверка тестером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304887" y="3694426"/>
            <a:ext cx="1348762" cy="519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Возврат ответа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614316" y="3694426"/>
            <a:ext cx="1348761" cy="519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Обработка сервером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886792" y="3564512"/>
            <a:ext cx="1348762" cy="779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Формирование запроса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1475" y="4881563"/>
            <a:ext cx="5238421" cy="1073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spcAft>
                <a:spcPts val="95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Пример GET: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запрос к </a:t>
            </a:r>
            <a:r>
              <a:rPr lang="en-US" sz="12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/users/15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возвращает код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200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и JSON с данными пользователя.</a:t>
            </a:r>
            <a:endParaRPr lang="en-US" sz="12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Пример POST: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запрос на создание возвращает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201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и информацию о созданном объекте.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298149" y="4881563"/>
            <a:ext cx="5238421" cy="1311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spcAft>
                <a:spcPts val="95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Читайте API-взаимодействие как единую конструкцию: какой ресурс запрошен, каким методом, с какими данными и какой результат вернулся.</a:t>
            </a:r>
            <a:endParaRPr lang="en-US" sz="12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Это основа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ручного и автоматизированного тестирования API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853</Words>
  <Application>Microsoft Office PowerPoint</Application>
  <PresentationFormat>Широкоэкранный</PresentationFormat>
  <Paragraphs>110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Open Sans</vt:lpstr>
      <vt:lpstr>Arial</vt:lpstr>
      <vt:lpstr>Consolas</vt:lpstr>
      <vt:lpstr>Montserrat Bold</vt:lpstr>
      <vt:lpstr>Open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2026-10-06T11:54:52Z</dcterms:created>
  <dcterms:modified xsi:type="dcterms:W3CDTF">2026-10-06T13:08:44Z</dcterms:modified>
</cp:coreProperties>
</file>