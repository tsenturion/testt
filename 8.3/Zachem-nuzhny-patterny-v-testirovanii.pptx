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Montserrat Bold" panose="020B0604020202020204" charset="-52"/>
      <p:regular r:id="rId17"/>
    </p:embeddedFont>
    <p:embeddedFont>
      <p:font typeface="Open Sans" panose="020B0606030504020204" pitchFamily="34" charset="0"/>
      <p:regular r:id="rId18"/>
      <p:italic r:id="rId19"/>
    </p:embeddedFont>
    <p:embeddedFont>
      <p:font typeface="Open Sans Bold" panose="020B0806030504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426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5862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08174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Зачем нужны паттерны в тестировании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052340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Когда тестов становится много, код начинает «разрастаться»: одни и те же действия повторяются, а изменение одного элемента интерфейса требует правок в десятках мест.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3172222"/>
            <a:ext cx="6296860" cy="3098205"/>
          </a:xfrm>
          <a:prstGeom prst="roundRect">
            <a:avLst>
              <a:gd name="adj" fmla="val 2562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825" y="3178572"/>
            <a:ext cx="3142080" cy="1693962"/>
          </a:xfrm>
          <a:custGeom>
            <a:avLst/>
            <a:gdLst/>
            <a:ahLst/>
            <a:cxnLst/>
            <a:rect l="l" t="t" r="r" b="b"/>
            <a:pathLst>
              <a:path w="3142080" h="1693962">
                <a:moveTo>
                  <a:pt x="66156" y="0"/>
                </a:moveTo>
                <a:lnTo>
                  <a:pt x="3142080" y="0"/>
                </a:lnTo>
                <a:lnTo>
                  <a:pt x="3142080" y="1693962"/>
                </a:lnTo>
                <a:lnTo>
                  <a:pt x="0" y="1693962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8" name="Text 5"/>
          <p:cNvSpPr/>
          <p:nvPr/>
        </p:nvSpPr>
        <p:spPr>
          <a:xfrm>
            <a:off x="856832" y="3367584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Проблема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56832" y="3776266"/>
            <a:ext cx="276406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Дублирование кода и хрупкость при изменениях UI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3809905" y="3178572"/>
            <a:ext cx="3142080" cy="1693962"/>
          </a:xfrm>
          <a:custGeom>
            <a:avLst/>
            <a:gdLst/>
            <a:ahLst/>
            <a:cxnLst/>
            <a:rect l="l" t="t" r="r" b="b"/>
            <a:pathLst>
              <a:path w="3142080" h="1693962">
                <a:moveTo>
                  <a:pt x="0" y="0"/>
                </a:moveTo>
                <a:lnTo>
                  <a:pt x="3075924" y="0"/>
                </a:lnTo>
                <a:arcTo wR="66156" hR="66158" stAng="16200000" swAng="5400000"/>
                <a:lnTo>
                  <a:pt x="3142080" y="1693962"/>
                </a:lnTo>
                <a:lnTo>
                  <a:pt x="0" y="1693962"/>
                </a:lnTo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11" name="Shape 8"/>
          <p:cNvSpPr/>
          <p:nvPr/>
        </p:nvSpPr>
        <p:spPr>
          <a:xfrm>
            <a:off x="3809905" y="3178572"/>
            <a:ext cx="25399" cy="1693962"/>
          </a:xfrm>
          <a:prstGeom prst="roundRect">
            <a:avLst>
              <a:gd name="adj" fmla="val 50001"/>
            </a:avLst>
          </a:prstGeom>
          <a:solidFill>
            <a:srgbClr val="BBDCD7"/>
          </a:solidFill>
          <a:ln/>
        </p:spPr>
      </p:sp>
      <p:sp>
        <p:nvSpPr>
          <p:cNvPr id="12" name="Text 9"/>
          <p:cNvSpPr/>
          <p:nvPr/>
        </p:nvSpPr>
        <p:spPr>
          <a:xfrm>
            <a:off x="3998912" y="3367584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Решение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3998912" y="3776266"/>
            <a:ext cx="276406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Паттерны проектирования — проверенные способы организации кода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67825" y="4872534"/>
            <a:ext cx="6284160" cy="1391543"/>
          </a:xfrm>
          <a:custGeom>
            <a:avLst/>
            <a:gdLst/>
            <a:ahLst/>
            <a:cxnLst/>
            <a:rect l="l" t="t" r="r" b="b"/>
            <a:pathLst>
              <a:path w="6284160" h="1391543">
                <a:moveTo>
                  <a:pt x="0" y="0"/>
                </a:moveTo>
                <a:lnTo>
                  <a:pt x="6284160" y="0"/>
                </a:lnTo>
                <a:lnTo>
                  <a:pt x="6284160" y="1325385"/>
                </a:lnTo>
                <a:arcTo wR="66156" hR="66158" stAng="0" swAng="5400000"/>
                <a:lnTo>
                  <a:pt x="66156" y="1391543"/>
                </a:lnTo>
                <a:arcTo wR="66156" hR="66158" stAng="5400000" swAng="5400000"/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15" name="Shape 12"/>
          <p:cNvSpPr/>
          <p:nvPr/>
        </p:nvSpPr>
        <p:spPr>
          <a:xfrm>
            <a:off x="667825" y="4872534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16" name="Text 13"/>
          <p:cNvSpPr/>
          <p:nvPr/>
        </p:nvSpPr>
        <p:spPr>
          <a:xfrm>
            <a:off x="856832" y="5061545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Результат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856832" y="5470227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Page Object Model централизует работу с интерфейсом в одном месте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477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Суть Page Object Model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377579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POM — это паттерн, при котором каждая страница приложения представляется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отдельным классом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Класс знает, как найти элементы и взаимодействовать с ними.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3497461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D5F6F1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3790553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3714750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 обращается к готовым методам, не зная внутренней структуры страницы.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4633201" y="4749502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Ключевая идея —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разделение ответственности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тест отвечает за то, </a:t>
            </a:r>
            <a:r>
              <a:rPr lang="en-US" sz="1450" i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что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проверять, а Page Object — за то, </a:t>
            </a:r>
            <a:r>
              <a:rPr lang="en-US" sz="1450" i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как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это сделать через интерфейс.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0063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Структура Page Object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48706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Page Object — это класс, который получает объект управления браузером и сохраняет его для дальнейшей работы.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863751"/>
            <a:ext cx="3496877" cy="261421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68183" y="3027660"/>
            <a:ext cx="283461" cy="2834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75881" y="3645198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Локаторы элементов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875881" y="4053880"/>
            <a:ext cx="306806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Описывают, как найти конкретные элементы на странице — кнопки, поля, ссылки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2863751"/>
            <a:ext cx="3496877" cy="2614216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54067" y="3027660"/>
            <a:ext cx="283461" cy="28346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561766" y="3645198"/>
            <a:ext cx="30680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Методы взаимодействия</a:t>
            </a:r>
            <a:endParaRPr lang="en-US" sz="1850" dirty="0"/>
          </a:p>
        </p:txBody>
      </p:sp>
      <p:sp>
        <p:nvSpPr>
          <p:cNvPr id="11" name="Text 5"/>
          <p:cNvSpPr/>
          <p:nvPr/>
        </p:nvSpPr>
        <p:spPr>
          <a:xfrm>
            <a:off x="4561766" y="4349155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Операции с интерфейсом: заполнение полей, клики, получение текста</a:t>
            </a:r>
            <a:endParaRPr lang="en-US" sz="14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2863751"/>
            <a:ext cx="3496877" cy="2614216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39952" y="3027660"/>
            <a:ext cx="283461" cy="28346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247650" y="3645198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Удобный интерфейс</a:t>
            </a:r>
            <a:endParaRPr lang="en-US" sz="1850" dirty="0"/>
          </a:p>
        </p:txBody>
      </p:sp>
      <p:sp>
        <p:nvSpPr>
          <p:cNvPr id="15" name="Text 7"/>
          <p:cNvSpPr/>
          <p:nvPr/>
        </p:nvSpPr>
        <p:spPr>
          <a:xfrm>
            <a:off x="8247650" y="4053880"/>
            <a:ext cx="306806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Тестировщик работает с понятными операциями, а не с техническими командами браузеру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817823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Разделение обязанностей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5350" y="2261989"/>
            <a:ext cx="3190101" cy="2678906"/>
          </a:xfrm>
          <a:prstGeom prst="roundRect">
            <a:avLst>
              <a:gd name="adj" fmla="val 5080"/>
            </a:avLst>
          </a:prstGeom>
          <a:solidFill>
            <a:srgbClr val="27B29F"/>
          </a:solidFill>
          <a:ln/>
        </p:spPr>
      </p:sp>
      <p:sp>
        <p:nvSpPr>
          <p:cNvPr id="6" name="Text 3"/>
          <p:cNvSpPr/>
          <p:nvPr/>
        </p:nvSpPr>
        <p:spPr>
          <a:xfrm>
            <a:off x="714357" y="2462889"/>
            <a:ext cx="281208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Page Object отвечает за: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14357" y="3230563"/>
            <a:ext cx="2812087" cy="164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Техническую готовность страницы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Доступность элементов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Предоставление данных из интерфейса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046833" y="2462889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Тест отвечает за: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046833" y="2935288"/>
            <a:ext cx="2917851" cy="164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Проверку бизнес-требований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Сравнение ожидаемого и фактического результата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Логику сценария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61475" y="5153521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Например: Page Object возвращает текст сообщения об ошибке, а тест сравнивает его с ожидаемым значением. Бизнес-логика остаётся в тесте.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862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Переходы между страницами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48470"/>
            <a:ext cx="6450050" cy="36350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4056" y="2363443"/>
            <a:ext cx="1194632" cy="178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Вызов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14056" y="2593002"/>
            <a:ext cx="1194632" cy="28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LoginPage.invokeLogin()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770507" y="3240375"/>
            <a:ext cx="1188278" cy="178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Успех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770507" y="3469934"/>
            <a:ext cx="1188278" cy="28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Возвращает DashboardPage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58636" y="4697957"/>
            <a:ext cx="1150151" cy="178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Ошибка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58636" y="4927517"/>
            <a:ext cx="1150151" cy="428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Возвращает LoginPage с ошибкой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579031" y="1612205"/>
            <a:ext cx="3957439" cy="198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Действия пользователя часто приводят к открытию новых страниц. Page Object учитывает это: метод может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возвращать объект следующей страницы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Один и тот же метод может иметь разные реализации для разных сценариев: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579031" y="3766840"/>
            <a:ext cx="3957439" cy="1275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Успешная авторизация → возвращает </a:t>
            </a:r>
            <a:r>
              <a:rPr lang="en-US" sz="14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DashboardPage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Неверные данные → остаётся на </a:t>
            </a:r>
            <a:r>
              <a:rPr lang="en-US" sz="14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LoginPage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с ошибкой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579031" y="5212655"/>
            <a:ext cx="395743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Это позволяет описывать цепочки действий через взаимодействие объектов.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92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61682"/>
            <a:ext cx="6296860" cy="168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Повторное использование компонентов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5233360" y="2482652"/>
            <a:ext cx="629686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реальных приложениях одни и те же элементы встречаются на разных страницах: меню, панель навигации, модальные окна.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233360" y="3234730"/>
            <a:ext cx="3063104" cy="1594743"/>
          </a:xfrm>
          <a:prstGeom prst="roundRect">
            <a:avLst>
              <a:gd name="adj" fmla="val 472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19193" y="3420566"/>
            <a:ext cx="269144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Проблема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5419193" y="3803352"/>
            <a:ext cx="2691440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Дублирование кода для одного и того же компонента на каждой странице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467017" y="3234730"/>
            <a:ext cx="3063203" cy="1594743"/>
          </a:xfrm>
          <a:prstGeom prst="roundRect">
            <a:avLst>
              <a:gd name="adj" fmla="val 472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52849" y="3420566"/>
            <a:ext cx="269153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Решение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8652849" y="3803352"/>
            <a:ext cx="2691539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Page Component Objects — отдельные классы для повторяющихся компонентов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233360" y="5000030"/>
            <a:ext cx="6296860" cy="1314648"/>
          </a:xfrm>
          <a:prstGeom prst="roundRect">
            <a:avLst>
              <a:gd name="adj" fmla="val 573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19193" y="5185866"/>
            <a:ext cx="592519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Результат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5419193" y="5568652"/>
            <a:ext cx="592519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Изменение компонента в одном месте автоматически обновляет его везде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2680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такое Page Factory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1506637"/>
            <a:ext cx="3180774" cy="31808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17029" y="2169066"/>
            <a:ext cx="6919442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Page Factory — это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вспомогательный механизм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для Selenium Java, который упрощает создание и инициализацию Page Object. Это не то же самое, что сам POM.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617029" y="3114973"/>
            <a:ext cx="6919442" cy="877491"/>
          </a:xfrm>
          <a:prstGeom prst="roundRect">
            <a:avLst>
              <a:gd name="adj" fmla="val 8142"/>
            </a:avLst>
          </a:prstGeom>
          <a:solidFill>
            <a:srgbClr val="B6D6FC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7086" y="3352205"/>
            <a:ext cx="212620" cy="1700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69763" y="3297183"/>
            <a:ext cx="619665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Page Factory не является обязательным. Полноценный POM можно реализовать и без него.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5031978"/>
            <a:ext cx="5357778" cy="125283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26779" y="5221089"/>
            <a:ext cx="490336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POM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926779" y="5578574"/>
            <a:ext cx="4903367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Архитектурный принцип организации кода — применим в любом языке и фреймворке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72343" y="5031978"/>
            <a:ext cx="5357877" cy="125283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437648" y="5221089"/>
            <a:ext cx="4903466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Page Factory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6437648" y="5578574"/>
            <a:ext cx="4903466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Конкретный инструмент Selenium Java для описания и поиска элементов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6365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Аннотации @FindBy и инициализация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511723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Selenium Java аннотация </a:t>
            </a:r>
            <a:r>
              <a:rPr lang="en-US" sz="14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@FindBy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указывает, каким способом находить элемент. Метод </a:t>
            </a:r>
            <a:r>
              <a:rPr lang="en-US" sz="14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PageFactory.initElements()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обрабатывает объявления и создаёт объекты-посредники для поиска.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329186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2365" y="3364607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75723" y="3394075"/>
            <a:ext cx="285117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Объявление элемента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275723" y="4098032"/>
            <a:ext cx="285117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@FindBy(id = "email")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связывает поле класса с HTML-элементом по идентификатору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63135" y="3329186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025" y="3364607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977383" y="3394075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Инициализация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4977383" y="3802757"/>
            <a:ext cx="285117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PageFactory.initElements(driver, this)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вызывается в конструкторе и активирует все аннотации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064794" y="3329186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5684" y="3364607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679042" y="3394075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Важное ограничение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8679042" y="3802757"/>
            <a:ext cx="2851178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Page Factory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не гарантирует автоматическое ожидание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готовности элемента — тест может упасть, если элемент ещё не появился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779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POM и Page Factory на практике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73932"/>
            <a:ext cx="4184049" cy="41841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13031" y="2308008"/>
            <a:ext cx="622344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важно понимать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313031" y="2780407"/>
            <a:ext cx="6223440" cy="137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Для теста разницы нет — в обоих случаях он обращается к методу страницы и не ищет элементы самостоятельно.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Page Factory относится только к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Selenium Java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В Python и Playwright POM реализуется через обычные классы и локаторы.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313031" y="4372769"/>
            <a:ext cx="6223440" cy="1039416"/>
          </a:xfrm>
          <a:prstGeom prst="roundRect">
            <a:avLst>
              <a:gd name="adj" fmla="val 7638"/>
            </a:avLst>
          </a:prstGeom>
          <a:solidFill>
            <a:srgbClr val="FCF2B5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2038" y="4665861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27279" y="4590058"/>
            <a:ext cx="542018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 смешивайте общий архитектурный паттерн с конкретными возможностями библиотеки.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47647"/>
            <a:ext cx="6296860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Типичные ошибки</a:t>
            </a:r>
            <a:endParaRPr lang="en-US" sz="3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389360"/>
            <a:ext cx="6296860" cy="151139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98665" y="1578471"/>
            <a:ext cx="584244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Слишком большой Page Object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5498665" y="1935956"/>
            <a:ext cx="5842449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Когда в один класс помещают авторизацию, работу с заказами и настройки профиля — класс становится громоздким. Разбивайте по зонам ответственности.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3053854"/>
            <a:ext cx="6296860" cy="151139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98665" y="3242965"/>
            <a:ext cx="584244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Раскрытие внутренней реализации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5498665" y="3600450"/>
            <a:ext cx="5842449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Page Object просто возвращает локаторы, а тест сам кликает и вводит данные — преимущество паттерна теряется. Логика взаимодействия должна быть внутри Page Object.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4718348"/>
            <a:ext cx="6296860" cy="151139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98665" y="4907459"/>
            <a:ext cx="584244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Неправильное кеширование элементов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5498665" y="5264944"/>
            <a:ext cx="5842449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@CacheLookup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подходит только для статичных элементов. Динамически обновляемые элементы при кешировании могут вызывать ошибки.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675</Words>
  <Application>Microsoft Office PowerPoint</Application>
  <PresentationFormat>Широкоэкранный</PresentationFormat>
  <Paragraphs>90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Open Sans</vt:lpstr>
      <vt:lpstr>Montserrat Bold</vt:lpstr>
      <vt:lpstr>Arial</vt:lpstr>
      <vt:lpstr>Open Sans Bold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2026-10-08T16:47:27Z</dcterms:created>
  <dcterms:modified xsi:type="dcterms:W3CDTF">2026-10-08T17:27:33Z</dcterms:modified>
</cp:coreProperties>
</file>