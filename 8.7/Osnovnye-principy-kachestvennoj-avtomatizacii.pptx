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Montserrat Bold" panose="020B0604020202020204" charset="-52"/>
      <p:regular r:id="rId17"/>
    </p:embeddedFont>
    <p:embeddedFont>
      <p:font typeface="Open Sans" panose="020B0606030504020204" pitchFamily="34" charset="0"/>
      <p:regular r:id="rId18"/>
    </p:embeddedFont>
    <p:embeddedFont>
      <p:font typeface="Open Sans Bold" panose="020B0806030504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1600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412" y="481806"/>
            <a:ext cx="4420680" cy="5894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50533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Основные принципы качественной автоматизации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661475" y="1961190"/>
            <a:ext cx="629686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Надежные тесты — это не количество проверок, а их качество и стабильность. Хороший автотест проверяет конкретное поведение и дает однозначный результат.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529880"/>
            <a:ext cx="6296860" cy="10846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07928" y="2700139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Понятный результат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907928" y="3008908"/>
            <a:ext cx="588015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Сбой должен сразу указывать: проблема в приложении, в тесте или в окружении.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735487"/>
            <a:ext cx="6296860" cy="10846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7928" y="3905746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Качество важнее количества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907928" y="4214515"/>
            <a:ext cx="588015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Лучше иметь меньше надежных тестов, чем сотни нестабильных, которым нельзя доверять.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941094"/>
            <a:ext cx="6296860" cy="108465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07928" y="5111353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Скорость диагностики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907928" y="5420122"/>
            <a:ext cx="588015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Практическая ценность автоматизации определяется тем, насколько быстро можно найти причину сбоя.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9667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Независимость автоматизированных тестов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1533624"/>
            <a:ext cx="3180774" cy="31808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17029" y="2738184"/>
            <a:ext cx="6919442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Каждый тест должен работать самостоятельно, независимо от других проверок и их порядка выполнения. Это особенно критично при параллельном запуске, когда фреймворк сам определяет порядок.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5058966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97243" y="5117405"/>
            <a:ext cx="2959621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Нет зависимостей между тестами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197243" y="5740598"/>
            <a:ext cx="295962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Результат одного теста не должен влиять на другой.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48153" y="5058966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83921" y="5117405"/>
            <a:ext cx="2959621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Самостоятельная подготовка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4883921" y="5740598"/>
            <a:ext cx="295962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Каждая проверка сама создает необходимые условия для запуска.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34831" y="5058966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70599" y="5117405"/>
            <a:ext cx="295962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Проверка изоляции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570599" y="5474891"/>
            <a:ext cx="2959621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 должен проходить отдельно, без предварительного запуска других проверок.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01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02076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Изоляция состояния и воспроизводимость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61475" y="2061865"/>
            <a:ext cx="629686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Тесты должны работать в изолированном контексте, чтобы одинаковые условия всегда давали одинаковые результаты.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61475" y="2813943"/>
            <a:ext cx="3063104" cy="1875234"/>
          </a:xfrm>
          <a:prstGeom prst="roundRect">
            <a:avLst>
              <a:gd name="adj" fmla="val 402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7307" y="2999780"/>
            <a:ext cx="269144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Контроль состояния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47307" y="3382566"/>
            <a:ext cx="2691440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Следите за настройками, фильтрами и активными сессиями приложения перед каждым тестом.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895131" y="2813943"/>
            <a:ext cx="3063203" cy="1875234"/>
          </a:xfrm>
          <a:prstGeom prst="roundRect">
            <a:avLst>
              <a:gd name="adj" fmla="val 402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80964" y="2999780"/>
            <a:ext cx="2691539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Собственный контекст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080964" y="3663057"/>
            <a:ext cx="2691539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Используйте разные учетные записи и изолированные сессии для каждого теста.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61475" y="4859734"/>
            <a:ext cx="6296860" cy="1314648"/>
          </a:xfrm>
          <a:prstGeom prst="roundRect">
            <a:avLst>
              <a:gd name="adj" fmla="val 573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7307" y="5045571"/>
            <a:ext cx="59251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Flaky-тесты — сигнал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847307" y="5428357"/>
            <a:ext cx="592519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Нестабильный тест требует исследования и исправления, а не простого перезапуска.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9623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такое fixtures в Pytest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2638172"/>
            <a:ext cx="6919442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Fixtures — это механизм для вынесения подготовительных действий из тела теста в отдельную переиспользуемую функцию. Тест получает готовый объект через параметр, не зная деталей его создания.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955" y="1653580"/>
            <a:ext cx="2740750" cy="274081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5271" y="4744095"/>
            <a:ext cx="255085" cy="2550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14209" y="4738886"/>
            <a:ext cx="2942655" cy="537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Декоратор </a:t>
            </a:r>
            <a:r>
              <a:rPr lang="en-US" sz="1650" b="1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@pytest.fixture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1214209" y="5368429"/>
            <a:ext cx="294265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Объявляет функцию как fixture, доступную другим тестам.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11949" y="4744095"/>
            <a:ext cx="255085" cy="25509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00887" y="4738886"/>
            <a:ext cx="2942655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Повторное использование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4900887" y="5362079"/>
            <a:ext cx="2942655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Логика подготовки описывается один раз и применяется в десятках тестов.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8627" y="4744095"/>
            <a:ext cx="255085" cy="25509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87565" y="4738886"/>
            <a:ext cx="2942655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Централизованное обновление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8587565" y="5362079"/>
            <a:ext cx="2942655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Изменение fixture автоматически применяется ко всем тестам, которые её используют.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6237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Области действия fixtures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40073"/>
            <a:ext cx="1147833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Параметр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scope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определяет, как долго существует подготовленный объект и сколько тестов его разделяют.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3673277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5" name="Shape 3"/>
          <p:cNvSpPr/>
          <p:nvPr/>
        </p:nvSpPr>
        <p:spPr>
          <a:xfrm>
            <a:off x="3312633" y="3134618"/>
            <a:ext cx="25399" cy="538659"/>
          </a:xfrm>
          <a:prstGeom prst="roundRect">
            <a:avLst>
              <a:gd name="adj" fmla="val 50001"/>
            </a:avLst>
          </a:prstGeom>
          <a:solidFill>
            <a:srgbClr val="BBDCD7"/>
          </a:solidFill>
          <a:ln/>
        </p:spPr>
      </p:sp>
      <p:sp>
        <p:nvSpPr>
          <p:cNvPr id="6" name="Shape 4"/>
          <p:cNvSpPr/>
          <p:nvPr/>
        </p:nvSpPr>
        <p:spPr>
          <a:xfrm>
            <a:off x="3123328" y="3471267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90696" y="3504952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40907" y="2012057"/>
            <a:ext cx="496875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function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840957" y="2394843"/>
            <a:ext cx="4968751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 умолчанию. Отдельный экземпляр для каждого теста — максимальная изоляция.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3049" y="3673277"/>
            <a:ext cx="25399" cy="538659"/>
          </a:xfrm>
          <a:prstGeom prst="roundRect">
            <a:avLst>
              <a:gd name="adj" fmla="val 50001"/>
            </a:avLst>
          </a:prstGeom>
          <a:solidFill>
            <a:srgbClr val="BBDCD7"/>
          </a:solidFill>
          <a:ln/>
        </p:spPr>
      </p:sp>
      <p:sp>
        <p:nvSpPr>
          <p:cNvPr id="11" name="Shape 9"/>
          <p:cNvSpPr/>
          <p:nvPr/>
        </p:nvSpPr>
        <p:spPr>
          <a:xfrm>
            <a:off x="5893744" y="3471267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61112" y="3504952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611373" y="4391521"/>
            <a:ext cx="496885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module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3611373" y="4774307"/>
            <a:ext cx="496885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Один объект на весь модуль тестов. Экономит ресурсы при безопасных данных.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853564" y="3134618"/>
            <a:ext cx="25399" cy="538659"/>
          </a:xfrm>
          <a:prstGeom prst="roundRect">
            <a:avLst>
              <a:gd name="adj" fmla="val 50001"/>
            </a:avLst>
          </a:prstGeom>
          <a:solidFill>
            <a:srgbClr val="BBDCD7"/>
          </a:solidFill>
          <a:ln/>
        </p:spPr>
      </p:sp>
      <p:sp>
        <p:nvSpPr>
          <p:cNvPr id="16" name="Shape 14"/>
          <p:cNvSpPr/>
          <p:nvPr/>
        </p:nvSpPr>
        <p:spPr>
          <a:xfrm>
            <a:off x="8664259" y="3471267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31627" y="3504952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381888" y="2012057"/>
            <a:ext cx="496885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session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6381888" y="2394843"/>
            <a:ext cx="496885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Один объект на весь запуск Pytest. Подходит для дорогостоящих ресурсов.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61475" y="5526385"/>
            <a:ext cx="10868745" cy="693837"/>
          </a:xfrm>
          <a:prstGeom prst="roundRect">
            <a:avLst>
              <a:gd name="adj" fmla="val 10870"/>
            </a:avLst>
          </a:prstGeom>
          <a:solidFill>
            <a:srgbClr val="FCF2B5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57" y="5768876"/>
            <a:ext cx="224427" cy="17948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44867" y="5741789"/>
            <a:ext cx="1071545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Расширяйте область осторожно: изменяемые объекты с широким scope могут незаметно влиять друг на друга.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08555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Подготовка и завершение через fixtures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1883911"/>
            <a:ext cx="629686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Fixtures могут выполнять действия как до, так и после теста — освобождая ресурсы даже в случае ошибки.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61475" y="2743498"/>
            <a:ext cx="2940969" cy="3353197"/>
          </a:xfrm>
          <a:prstGeom prst="roundRect">
            <a:avLst>
              <a:gd name="adj" fmla="val 242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825" y="2749848"/>
            <a:ext cx="2928269" cy="1799530"/>
          </a:xfrm>
          <a:custGeom>
            <a:avLst/>
            <a:gdLst/>
            <a:ahLst/>
            <a:cxnLst/>
            <a:rect l="l" t="t" r="r" b="b"/>
            <a:pathLst>
              <a:path w="2928269" h="1799530">
                <a:moveTo>
                  <a:pt x="59541" y="0"/>
                </a:moveTo>
                <a:lnTo>
                  <a:pt x="2868728" y="0"/>
                </a:lnTo>
                <a:arcTo wR="59541" hR="59542" stAng="16200000" swAng="5400000"/>
                <a:lnTo>
                  <a:pt x="2928269" y="1799530"/>
                </a:lnTo>
                <a:lnTo>
                  <a:pt x="0" y="1799530"/>
                </a:lnTo>
                <a:lnTo>
                  <a:pt x="0" y="59542"/>
                </a:lnTo>
                <a:arcTo wR="59541" hR="59542" stAng="10800000" swAng="5400000"/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8" name="Text 5"/>
          <p:cNvSpPr/>
          <p:nvPr/>
        </p:nvSpPr>
        <p:spPr>
          <a:xfrm>
            <a:off x="837881" y="2919909"/>
            <a:ext cx="2588156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До </a:t>
            </a:r>
            <a:r>
              <a:rPr lang="en-US" sz="1650" b="1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yield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37881" y="3345061"/>
            <a:ext cx="2588156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Подготовка: создание объектов, открытие соединений, настройка окружения.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7825" y="4549378"/>
            <a:ext cx="2928269" cy="1540966"/>
          </a:xfrm>
          <a:custGeom>
            <a:avLst/>
            <a:gdLst/>
            <a:ahLst/>
            <a:cxnLst/>
            <a:rect l="l" t="t" r="r" b="b"/>
            <a:pathLst>
              <a:path w="2928269" h="1540966">
                <a:moveTo>
                  <a:pt x="0" y="0"/>
                </a:moveTo>
                <a:lnTo>
                  <a:pt x="2928269" y="0"/>
                </a:lnTo>
                <a:lnTo>
                  <a:pt x="2928269" y="1481424"/>
                </a:lnTo>
                <a:arcTo wR="59541" hR="59542" stAng="0" swAng="5400000"/>
                <a:lnTo>
                  <a:pt x="59541" y="1540966"/>
                </a:lnTo>
                <a:arcTo wR="59541" hR="59542" stAng="5400000" swAng="5400000"/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1" name="Shape 8"/>
          <p:cNvSpPr/>
          <p:nvPr/>
        </p:nvSpPr>
        <p:spPr>
          <a:xfrm>
            <a:off x="667825" y="4549378"/>
            <a:ext cx="2928269" cy="1905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2" name="Text 9"/>
          <p:cNvSpPr/>
          <p:nvPr/>
        </p:nvSpPr>
        <p:spPr>
          <a:xfrm>
            <a:off x="837881" y="4719439"/>
            <a:ext cx="2588156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После </a:t>
            </a:r>
            <a:r>
              <a:rPr lang="en-US" sz="1650" b="1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yield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37881" y="5144591"/>
            <a:ext cx="2588156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Очистка: закрытие соединений, удаление данных, сброс состояния.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023716" y="2734095"/>
            <a:ext cx="294096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Ключевые правила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4023716" y="3143151"/>
            <a:ext cx="2940969" cy="2434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Завершающие действия выполняются даже при ошибке теста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Создавайте небольшие независимые fixtures для упрощения обработки ошибок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Это предотвращает незакрытые соединения и зависшие процессы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2583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Параметризация автоматизированных тестов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2897774"/>
            <a:ext cx="5822110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Параметризация позволяет выполнять одну тестовую функцию несколько раз с разными входными значениями. Фреймворк создает отдельный запуск для каждого набора данных автоматически.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361" y="1428353"/>
            <a:ext cx="3525452" cy="352554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193010"/>
            <a:ext cx="283461" cy="2834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77786" y="5241727"/>
            <a:ext cx="3117970" cy="449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Декоратор </a:t>
            </a:r>
            <a:r>
              <a:rPr lang="en-US" sz="1350" b="1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@pytest.mark.parametrize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1077786" y="5754688"/>
            <a:ext cx="311797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Объявляет наборы входных данных прямо над функцией теста.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28607" y="5193010"/>
            <a:ext cx="283461" cy="2834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744919" y="5241727"/>
            <a:ext cx="311807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Разделение логики и данных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4744919" y="5526881"/>
            <a:ext cx="311807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Логика проверки отделена от конкретных значений — добавить новый вариант легко.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95839" y="5193010"/>
            <a:ext cx="283461" cy="2834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412150" y="5241727"/>
            <a:ext cx="311807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Масштабируемость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8412150" y="5526881"/>
            <a:ext cx="311807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Новые сценарии добавляются без изменения основного кода теста.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5204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Организация параметризованных проверок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93925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Подбирайте осмысленные наборы данных — каждый должен проверять конкретное условие, а не просто увеличивать счетчик тестов.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011388"/>
            <a:ext cx="3496877" cy="32119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68183" y="3139877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75881" y="3792835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Осмысленные данные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75881" y="4201517"/>
            <a:ext cx="3068065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добавляйте десятки значений ради количества. Каждый набор должен проверять отдельное условие или граничный случай.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3011388"/>
            <a:ext cx="3496877" cy="321190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54067" y="3139877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4561766" y="3792835"/>
            <a:ext cx="30680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Ожидаемый результат как параметр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4561766" y="4496792"/>
            <a:ext cx="306806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Передавайте ожидаемое значение вместе с входными данными — тест становится самодокументируемым.</a:t>
            </a:r>
            <a:endParaRPr lang="en-US" sz="1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3011388"/>
            <a:ext cx="3496877" cy="321190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39952" y="3139877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8247650" y="3792835"/>
            <a:ext cx="30680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Понятные идентификаторы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8247650" y="4496792"/>
            <a:ext cx="3068065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Используйте </a:t>
            </a: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ids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или </a:t>
            </a: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pytest.param(..., id="...")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чтобы в выводе отображались названия ситуаций, а не неочевидные значения.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8" y="469106"/>
            <a:ext cx="4439730" cy="5919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95525"/>
            <a:ext cx="6296860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Allure и формирование отчетов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233360" y="1139585"/>
            <a:ext cx="629686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Allure Report создает наглядные HTML-отчеты с результатами автоматизированного тестирования — значительно удобнее текстового вывода в консоли.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233360" y="1695953"/>
            <a:ext cx="298710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Быстрый старт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33360" y="1989733"/>
            <a:ext cx="2987104" cy="784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Установите пакет </a:t>
            </a:r>
            <a:r>
              <a:rPr lang="en-US" sz="10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allure-pytest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Запустите: </a:t>
            </a:r>
            <a:r>
              <a:rPr lang="en-US" sz="10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pytest --alluredir=allure-results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Сгенерируйте HTML-отчет командой </a:t>
            </a:r>
            <a:r>
              <a:rPr lang="en-US" sz="10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allure serve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549466" y="1695953"/>
            <a:ext cx="298710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Статусы проверок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549466" y="2001341"/>
            <a:ext cx="2987104" cy="973336"/>
          </a:xfrm>
          <a:prstGeom prst="roundRect">
            <a:avLst>
              <a:gd name="adj" fmla="val 570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8071" y="2139950"/>
            <a:ext cx="396865" cy="396875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97209" y="2249091"/>
            <a:ext cx="178589" cy="1785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8071" y="2629396"/>
            <a:ext cx="270989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Passed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549466" y="3067248"/>
            <a:ext cx="2987104" cy="973336"/>
          </a:xfrm>
          <a:prstGeom prst="roundRect">
            <a:avLst>
              <a:gd name="adj" fmla="val 570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688071" y="3205857"/>
            <a:ext cx="396865" cy="396875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97209" y="3314998"/>
            <a:ext cx="178589" cy="17859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88071" y="3695303"/>
            <a:ext cx="270989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Failed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549466" y="4133155"/>
            <a:ext cx="2987104" cy="973336"/>
          </a:xfrm>
          <a:prstGeom prst="roundRect">
            <a:avLst>
              <a:gd name="adj" fmla="val 570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688071" y="4271764"/>
            <a:ext cx="396865" cy="396875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97209" y="4380905"/>
            <a:ext cx="178589" cy="17859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688071" y="4761210"/>
            <a:ext cx="270989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Broken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8549466" y="5199063"/>
            <a:ext cx="2987104" cy="973336"/>
          </a:xfrm>
          <a:prstGeom prst="roundRect">
            <a:avLst>
              <a:gd name="adj" fmla="val 570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688071" y="5337671"/>
            <a:ext cx="396865" cy="396875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97209" y="5446812"/>
            <a:ext cx="178589" cy="17859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688071" y="5827117"/>
            <a:ext cx="270989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Skipped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0812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Шаги, вложения и анализ результатов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56197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Повышайте информативность отчета через описание этапов и диагностические материалы — это ускоряет анализ сбоев.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773660"/>
            <a:ext cx="2009923" cy="12422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425211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Шаги теста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4660801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Используйте </a:t>
            </a: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@allure.step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или </a:t>
            </a: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with allure.step()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для обозначения этапов. Каждый шаг отображается со статусом и продолжительностью.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773660"/>
            <a:ext cx="2009923" cy="12422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63135" y="425211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Вложения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363135" y="4660801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Прикрепляйте диагностику через </a:t>
            </a: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allure.attach()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скриншоты, логи, данные запросов. Исключайте пароли и токены из вложений.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773660"/>
            <a:ext cx="2009923" cy="124221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64794" y="425211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История запусков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064794" y="4660801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История Allure помогает отслеживать нестабильные тесты и сравнивать результаты между запусками.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719</Words>
  <Application>Microsoft Office PowerPoint</Application>
  <PresentationFormat>Широкоэкранный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Open Sans</vt:lpstr>
      <vt:lpstr>Consolas</vt:lpstr>
      <vt:lpstr>Montserrat Bold</vt:lpstr>
      <vt:lpstr>Open Sans Bold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2026-10-09T12:47:36Z</dcterms:created>
  <dcterms:modified xsi:type="dcterms:W3CDTF">2026-10-09T13:04:32Z</dcterms:modified>
</cp:coreProperties>
</file>