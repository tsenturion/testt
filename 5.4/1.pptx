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6479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07244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такое нагрузочное тестирование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661475" y="2237780"/>
            <a:ext cx="2940969" cy="2327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Проверка того, как приложение работает, когда его одновременно используют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много пользователей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Мы смотрим не на отдельные функции, а на способность системы выполнять множество операций одновременно и оставаться стабильной.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023716" y="2272308"/>
            <a:ext cx="2940969" cy="3606205"/>
          </a:xfrm>
          <a:prstGeom prst="roundRect">
            <a:avLst>
              <a:gd name="adj" fmla="val 242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30066" y="2278658"/>
            <a:ext cx="2928269" cy="2058888"/>
          </a:xfrm>
          <a:custGeom>
            <a:avLst/>
            <a:gdLst/>
            <a:ahLst/>
            <a:cxnLst/>
            <a:rect l="l" t="t" r="r" b="b"/>
            <a:pathLst>
              <a:path w="2928269" h="2058888">
                <a:moveTo>
                  <a:pt x="59541" y="0"/>
                </a:moveTo>
                <a:lnTo>
                  <a:pt x="2868728" y="0"/>
                </a:lnTo>
                <a:arcTo wR="59541" hR="59542" stAng="16200000" swAng="5400000"/>
                <a:lnTo>
                  <a:pt x="2928269" y="2058888"/>
                </a:lnTo>
                <a:lnTo>
                  <a:pt x="0" y="2058888"/>
                </a:lnTo>
                <a:lnTo>
                  <a:pt x="0" y="59542"/>
                </a:lnTo>
                <a:arcTo wR="59541" hR="59542" stAng="10800000" swAng="5400000"/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8" name="Text 5"/>
          <p:cNvSpPr/>
          <p:nvPr/>
        </p:nvSpPr>
        <p:spPr>
          <a:xfrm>
            <a:off x="4200122" y="2448719"/>
            <a:ext cx="2588156" cy="531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Нагрузочное тестирование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4200122" y="3133229"/>
            <a:ext cx="2588156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Работает с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ожидаемой нагрузкой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проверяет стабильность в штатных условиях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30066" y="4337546"/>
            <a:ext cx="2928269" cy="1534616"/>
          </a:xfrm>
          <a:custGeom>
            <a:avLst/>
            <a:gdLst/>
            <a:ahLst/>
            <a:cxnLst/>
            <a:rect l="l" t="t" r="r" b="b"/>
            <a:pathLst>
              <a:path w="2928269" h="1534616">
                <a:moveTo>
                  <a:pt x="0" y="0"/>
                </a:moveTo>
                <a:lnTo>
                  <a:pt x="2928269" y="0"/>
                </a:lnTo>
                <a:lnTo>
                  <a:pt x="2928269" y="1475074"/>
                </a:lnTo>
                <a:arcTo wR="59541" hR="59542" stAng="0" swAng="5400000"/>
                <a:lnTo>
                  <a:pt x="59541" y="1534616"/>
                </a:lnTo>
                <a:arcTo wR="59541" hR="59542" stAng="5400000" swAng="5400000"/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1" name="Shape 8"/>
          <p:cNvSpPr/>
          <p:nvPr/>
        </p:nvSpPr>
        <p:spPr>
          <a:xfrm>
            <a:off x="4030066" y="4337546"/>
            <a:ext cx="2928269" cy="19050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2" name="Text 9"/>
          <p:cNvSpPr/>
          <p:nvPr/>
        </p:nvSpPr>
        <p:spPr>
          <a:xfrm>
            <a:off x="4200122" y="4507607"/>
            <a:ext cx="2588156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Стресс-тестирование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4200122" y="4926409"/>
            <a:ext cx="2588156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Намеренно доводит систему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до отказа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ищет предел прочности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такое нагрузка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377579"/>
            <a:ext cx="690326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Нагрузка — это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объём работы за определённый период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Измеряется количеством одновременно активных пользователей, числом запросов или бизнес-операций.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3497461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FCF2B5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208" y="3790553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3714750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Миллион зарегистрированных пользователей ≠ миллион активных. Нагрузку создаёт именно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текущая активность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4633201" y="4749502"/>
            <a:ext cx="690326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в обычное время работают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500 сотрудников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а в пик —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2 000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тест должен проверить оба сценария.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501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066304"/>
            <a:ext cx="6296860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Время отклика системы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61475" y="1883370"/>
            <a:ext cx="6296860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Промежуток между отправкой запроса и получением ответа — один из главных показателей производительности.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635448"/>
            <a:ext cx="6296860" cy="16328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7954" y="2840335"/>
            <a:ext cx="5785499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⚠️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Ловушка среднего значения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967954" y="3223121"/>
            <a:ext cx="5785499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95% запросов выполняются за 1 сек, а 5% — за 10 сек, среднее выглядит нормально. Но пользователи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видят задержки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438848"/>
            <a:ext cx="6296860" cy="13527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954" y="4643735"/>
            <a:ext cx="5785499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Решение: перцентили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967954" y="5026521"/>
            <a:ext cx="5785499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95-й перцентиль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показывает, за какое время выполнилось 95% операций. Это честная картина реального опыта пользователей.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135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Пропускная способность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24" y="1728093"/>
            <a:ext cx="6258562" cy="27473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32244" y="3515637"/>
            <a:ext cx="1097051" cy="339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Быстрая операция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932244" y="3902929"/>
            <a:ext cx="1097051" cy="27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Низкая задержка одиночного запроса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12426" y="3337813"/>
            <a:ext cx="1097051" cy="339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Потолок системы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12426" y="3725106"/>
            <a:ext cx="1097051" cy="406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Максимальная общая пропускная способность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481377" y="2016196"/>
            <a:ext cx="1097051" cy="339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Ограничение параллели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481377" y="2403488"/>
            <a:ext cx="1097051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Максимум одновременных запросов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805641" y="2496939"/>
            <a:ext cx="373082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Сколько работы система может обработать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за единицу времени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запросов в секунду, заказов в минуту, сообщений в час.</a:t>
            </a:r>
            <a:endParaRPr lang="en-US" sz="14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075" y="4875312"/>
            <a:ext cx="5341605" cy="13667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01281" y="4900712"/>
            <a:ext cx="50764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Быстрая операция ≠ высокая пропускная способность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901281" y="5604669"/>
            <a:ext cx="507640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Приложение может обслуживать лишь ограниченное число одновременных запросов.</a:t>
            </a:r>
            <a:endParaRPr lang="en-US" sz="14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8515" y="4875312"/>
            <a:ext cx="5341705" cy="136673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53721" y="4900712"/>
            <a:ext cx="50765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Признак предела системы</a:t>
            </a:r>
            <a:endParaRPr lang="en-US" sz="1850" dirty="0"/>
          </a:p>
        </p:txBody>
      </p:sp>
      <p:sp>
        <p:nvSpPr>
          <p:cNvPr id="16" name="Text 11"/>
          <p:cNvSpPr/>
          <p:nvPr/>
        </p:nvSpPr>
        <p:spPr>
          <a:xfrm>
            <a:off x="6453721" y="5309394"/>
            <a:ext cx="5076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пропускная способность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перестаёт расти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при увеличении нагрузки — система достигла своего потолка.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01365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реально ведут себя пользователи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233360" y="1894185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Реальный пользователь не отправляет запросы без остановки. Он открывает страницы, читает, вводит данные, делает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паузы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233360" y="2583557"/>
            <a:ext cx="3071835" cy="1227435"/>
          </a:xfrm>
          <a:prstGeom prst="roundRect">
            <a:avLst>
              <a:gd name="adj" fmla="val 582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09767" y="2759968"/>
            <a:ext cx="271902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🛍️</a:t>
            </a: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Каталог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5409767" y="3117453"/>
            <a:ext cx="271902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Просматривают товары, листают страницы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58286" y="2583557"/>
            <a:ext cx="3071934" cy="1227435"/>
          </a:xfrm>
          <a:prstGeom prst="roundRect">
            <a:avLst>
              <a:gd name="adj" fmla="val 582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34693" y="2759968"/>
            <a:ext cx="271912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🛒</a:t>
            </a: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Корзина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8634693" y="3117453"/>
            <a:ext cx="2719121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Добавляют и удаляют позиции, сравнивают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233360" y="3964087"/>
            <a:ext cx="6296860" cy="968871"/>
          </a:xfrm>
          <a:prstGeom prst="roundRect">
            <a:avLst>
              <a:gd name="adj" fmla="val 737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09767" y="4140498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💳</a:t>
            </a: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Оформление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5409767" y="4497983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Вводят данные, подтверждают заказ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233360" y="5105202"/>
            <a:ext cx="6296860" cy="1151434"/>
          </a:xfrm>
          <a:prstGeom prst="roundRect">
            <a:avLst>
              <a:gd name="adj" fmla="val 6205"/>
            </a:avLst>
          </a:prstGeom>
          <a:solidFill>
            <a:srgbClr val="D5F6F1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3417" y="5323384"/>
            <a:ext cx="212620" cy="17006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786094" y="5300762"/>
            <a:ext cx="5574069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Соотношение этих действий в тесте должно быть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близко к реальности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Один технический запрос без пауз покажет только себя, а не работу приложения в целом.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3028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Виртуальные пользователи и интенсивность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79" y="1666478"/>
            <a:ext cx="3180774" cy="31808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17029" y="2998291"/>
            <a:ext cx="691944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Инструменты нагрузочного тестирования имитируют работу большого числа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виртуальных пользователей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Каждый выполняет подготовленный сценарий.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61475" y="5191820"/>
            <a:ext cx="382677" cy="382687"/>
          </a:xfrm>
          <a:prstGeom prst="roundRect">
            <a:avLst>
              <a:gd name="adj" fmla="val 1867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25221" y="5223669"/>
            <a:ext cx="255085" cy="318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197243" y="5250259"/>
            <a:ext cx="480296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Пользователи ≠ запросы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197243" y="5607745"/>
            <a:ext cx="48029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Один делает запрос раз в минуту, другой — несколько в секунду. Это разная нагрузка.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1492" y="5191820"/>
            <a:ext cx="382677" cy="382687"/>
          </a:xfrm>
          <a:prstGeom prst="roundRect">
            <a:avLst>
              <a:gd name="adj" fmla="val 1867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55238" y="5223669"/>
            <a:ext cx="255085" cy="318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727260" y="5250259"/>
            <a:ext cx="480296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Постепенный ramp-up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6727260" y="5607745"/>
            <a:ext cx="48029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Нагрузка растёт плавно, а не появляется мгновенно — так видно, как система реагирует на рост активности.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8107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Тестовое окружение и данные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49748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Конфигурация сервера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867150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тестовый сервер слабее промышленного, результаты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нельзя переносить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на боевую систему.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749748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Объём данных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867150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Пустая база работает быстрее базы с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миллионами записей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Окружение должно содержать реалистичный объём информации.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749748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Одинаковые условия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867150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 сравнении двух тестов условия должны быть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идентичными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иначе непонятно, что именно изменилось.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759420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Поиск узких мест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163353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система медленнеет под нагрузкой, нужно найти,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какой компонент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это вызывает.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233360" y="2640013"/>
            <a:ext cx="291785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Пользовательские показатели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233360" y="3419574"/>
            <a:ext cx="2917851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отклика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Процент ошибок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Пропускная способность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18719" y="2640013"/>
            <a:ext cx="291785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Технические метрики инфраструктуры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8618719" y="3419574"/>
            <a:ext cx="2917851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Загрузка CPU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Использование памяти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Запросы к базе данных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233360" y="4737695"/>
            <a:ext cx="6296860" cy="1360785"/>
          </a:xfrm>
          <a:prstGeom prst="roundRect">
            <a:avLst>
              <a:gd name="adj" fmla="val 5834"/>
            </a:avLst>
          </a:prstGeom>
          <a:solidFill>
            <a:srgbClr val="D5F6F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2367" y="5005388"/>
            <a:ext cx="236234" cy="1890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847608" y="4973935"/>
            <a:ext cx="54936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Высокая загрузка ресурса не всегда означает, что именно он виноват. Ищите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связь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между нагрузкой, поведением приложения и состоянием компонентов.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8067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Критерии успеха теста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490762"/>
            <a:ext cx="5249930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 запуска теста нужно определить, какой результат будет считаться </a:t>
            </a: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приемлемым</a:t>
            </a: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Иначе после получения графиков невозможно объективно решить, прошла ли система проверку.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61475" y="2279848"/>
            <a:ext cx="5249930" cy="728663"/>
          </a:xfrm>
          <a:prstGeom prst="roundRect">
            <a:avLst>
              <a:gd name="adj" fmla="val 8716"/>
            </a:avLst>
          </a:prstGeom>
          <a:solidFill>
            <a:srgbClr val="FCF2B5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80" y="2471341"/>
            <a:ext cx="189007" cy="1512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2893" y="2426494"/>
            <a:ext cx="4607306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заранее определённых критериев выводы становятся </a:t>
            </a: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субъективными</a:t>
            </a: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1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6640" y="1517948"/>
            <a:ext cx="5249930" cy="15564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98201" y="1618853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6456895" y="2111573"/>
            <a:ext cx="490941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Время отклика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6456895" y="2468761"/>
            <a:ext cx="4909419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 N активных пользователях 95% операций выполняются за </a:t>
            </a: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X секунд</a:t>
            </a:r>
            <a:endParaRPr lang="en-US" sz="11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640" y="3195340"/>
            <a:ext cx="5249930" cy="133875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798201" y="3296245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6456895" y="3788966"/>
            <a:ext cx="490941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Процент ошибок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6456895" y="4146153"/>
            <a:ext cx="4909419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Допустимый уровень ошибок не превышает </a:t>
            </a: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Y%</a:t>
            </a:r>
            <a:endParaRPr lang="en-US" sz="11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640" y="4655046"/>
            <a:ext cx="5249930" cy="1338759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798201" y="4755952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750" dirty="0"/>
          </a:p>
        </p:txBody>
      </p:sp>
      <p:sp>
        <p:nvSpPr>
          <p:cNvPr id="17" name="Text 11"/>
          <p:cNvSpPr/>
          <p:nvPr/>
        </p:nvSpPr>
        <p:spPr>
          <a:xfrm>
            <a:off x="6456895" y="5248672"/>
            <a:ext cx="490941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Пропускная способность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6456895" y="5605859"/>
            <a:ext cx="4909419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 менее </a:t>
            </a: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Z запросов</a:t>
            </a: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в секунду при пиковой нагрузке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924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2" y="1516559"/>
            <a:ext cx="2868442" cy="3824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09399" y="526852"/>
            <a:ext cx="7820822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Анализ результатов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3709399" y="1343918"/>
            <a:ext cx="7820822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После теста смотрим не на одно итоговое число, а на то, как система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вела себя на протяжении всей проверки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6766" y="2101453"/>
            <a:ext cx="269273" cy="2692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92889" y="2095996"/>
            <a:ext cx="7237331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Динамика времени отклика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4292889" y="2478782"/>
            <a:ext cx="7237331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показатель меняется при росте нагрузки — плавно или скачкообразно?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6766" y="3105448"/>
            <a:ext cx="269273" cy="2692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292889" y="3099991"/>
            <a:ext cx="7237331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Точка деградации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4292889" y="3482777"/>
            <a:ext cx="7237331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какой момент показатели начинают ухудшаться — это и есть реальный предел системы.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6766" y="4389537"/>
            <a:ext cx="269273" cy="2692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292889" y="4384080"/>
            <a:ext cx="7237331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Ошибки и инфраструктура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4292889" y="4766866"/>
            <a:ext cx="7237331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Количество ошибок, их связь с нагрузкой, состояние CPU, памяти и диска.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6766" y="5393531"/>
            <a:ext cx="269273" cy="26928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292889" y="5388074"/>
            <a:ext cx="7237331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Итоговый вывод</a:t>
            </a:r>
            <a:endParaRPr lang="en-US" sz="1750" dirty="0"/>
          </a:p>
        </p:txBody>
      </p:sp>
      <p:sp>
        <p:nvSpPr>
          <p:cNvPr id="17" name="Text 10"/>
          <p:cNvSpPr/>
          <p:nvPr/>
        </p:nvSpPr>
        <p:spPr>
          <a:xfrm>
            <a:off x="4292889" y="5770860"/>
            <a:ext cx="7237331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Готово ли приложение к ожидаемому объёму использования и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что требует оптимизации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676</Words>
  <Application>Microsoft Office PowerPoint</Application>
  <PresentationFormat>Широкоэкранный</PresentationFormat>
  <Paragraphs>95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Open Sans</vt:lpstr>
      <vt:lpstr>Montserrat Bold</vt:lpstr>
      <vt:lpstr>Noto Color Emoji</vt:lpstr>
      <vt:lpstr>Open Sans Bold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2026-10-02T13:24:15Z</dcterms:created>
  <dcterms:modified xsi:type="dcterms:W3CDTF">2026-10-02T13:52:35Z</dcterms:modified>
</cp:coreProperties>
</file>