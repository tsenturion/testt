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Montserrat Bold" panose="020B0604020202020204" charset="-52"/>
      <p:regular r:id="rId17"/>
    </p:embeddedFont>
    <p:embeddedFont>
      <p:font typeface="Open Sans" panose="020B0606030504020204" pitchFamily="34" charset="0"/>
      <p:regular r:id="rId18"/>
    </p:embeddedFont>
    <p:embeddedFont>
      <p:font typeface="Open Sans Bold" panose="020B0806030504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8833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54919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SQL и работа с данными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5233360" y="1248454"/>
            <a:ext cx="629686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 — язык для общения с базой данных. Тестировщик использует его, чтобы проверить, что именно сохранило приложение, найти нужные записи и подготовить БД к проверкам.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233360" y="2111177"/>
            <a:ext cx="6296860" cy="3580209"/>
          </a:xfrm>
          <a:prstGeom prst="roundRect">
            <a:avLst>
              <a:gd name="adj" fmla="val 188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39710" y="2117527"/>
            <a:ext cx="6284160" cy="891877"/>
          </a:xfrm>
          <a:custGeom>
            <a:avLst/>
            <a:gdLst/>
            <a:ahLst/>
            <a:cxnLst/>
            <a:rect l="l" t="t" r="r" b="b"/>
            <a:pathLst>
              <a:path w="6284160" h="891877">
                <a:moveTo>
                  <a:pt x="56233" y="0"/>
                </a:moveTo>
                <a:lnTo>
                  <a:pt x="6227927" y="0"/>
                </a:lnTo>
                <a:arcTo wR="56233" hR="56234" stAng="16200000" swAng="5400000"/>
                <a:lnTo>
                  <a:pt x="6284160" y="891877"/>
                </a:lnTo>
                <a:lnTo>
                  <a:pt x="0" y="891877"/>
                </a:lnTo>
                <a:lnTo>
                  <a:pt x="0" y="56234"/>
                </a:lnTo>
                <a:arcTo wR="56233" hR="56234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8" name="Text 5"/>
          <p:cNvSpPr/>
          <p:nvPr/>
        </p:nvSpPr>
        <p:spPr>
          <a:xfrm>
            <a:off x="5400341" y="2278162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SELECT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400341" y="2611041"/>
            <a:ext cx="596289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Чтение данных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239710" y="3009404"/>
            <a:ext cx="6284160" cy="891877"/>
          </a:xfrm>
          <a:prstGeom prst="rect">
            <a:avLst/>
          </a:prstGeom>
          <a:solidFill>
            <a:srgbClr val="D5F6F1"/>
          </a:solidFill>
          <a:ln/>
        </p:spPr>
      </p:sp>
      <p:sp>
        <p:nvSpPr>
          <p:cNvPr id="11" name="Shape 8"/>
          <p:cNvSpPr/>
          <p:nvPr/>
        </p:nvSpPr>
        <p:spPr>
          <a:xfrm>
            <a:off x="5239710" y="3009404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2" name="Text 9"/>
          <p:cNvSpPr/>
          <p:nvPr/>
        </p:nvSpPr>
        <p:spPr>
          <a:xfrm>
            <a:off x="5400341" y="3170039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INSERT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400341" y="3502918"/>
            <a:ext cx="596289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Добавление записей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239710" y="3901281"/>
            <a:ext cx="6284160" cy="891877"/>
          </a:xfrm>
          <a:prstGeom prst="rect">
            <a:avLst/>
          </a:prstGeom>
          <a:solidFill>
            <a:srgbClr val="D5F6F1"/>
          </a:solidFill>
          <a:ln/>
        </p:spPr>
      </p:sp>
      <p:sp>
        <p:nvSpPr>
          <p:cNvPr id="15" name="Shape 12"/>
          <p:cNvSpPr/>
          <p:nvPr/>
        </p:nvSpPr>
        <p:spPr>
          <a:xfrm>
            <a:off x="5239710" y="3901281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6" name="Text 13"/>
          <p:cNvSpPr/>
          <p:nvPr/>
        </p:nvSpPr>
        <p:spPr>
          <a:xfrm>
            <a:off x="5400341" y="4061916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UPDATE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5400341" y="4394795"/>
            <a:ext cx="596289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Изменение данных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239710" y="4793159"/>
            <a:ext cx="6284160" cy="891877"/>
          </a:xfrm>
          <a:custGeom>
            <a:avLst/>
            <a:gdLst/>
            <a:ahLst/>
            <a:cxnLst/>
            <a:rect l="l" t="t" r="r" b="b"/>
            <a:pathLst>
              <a:path w="6284160" h="891877">
                <a:moveTo>
                  <a:pt x="0" y="0"/>
                </a:moveTo>
                <a:lnTo>
                  <a:pt x="6284160" y="0"/>
                </a:lnTo>
                <a:lnTo>
                  <a:pt x="6284160" y="835643"/>
                </a:lnTo>
                <a:arcTo wR="56233" hR="56234" stAng="0" swAng="5400000"/>
                <a:lnTo>
                  <a:pt x="56233" y="891877"/>
                </a:lnTo>
                <a:arcTo wR="56233" hR="56234" stAng="5400000" swAng="5400000"/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9" name="Shape 16"/>
          <p:cNvSpPr/>
          <p:nvPr/>
        </p:nvSpPr>
        <p:spPr>
          <a:xfrm>
            <a:off x="5239710" y="4793159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20" name="Text 17"/>
          <p:cNvSpPr/>
          <p:nvPr/>
        </p:nvSpPr>
        <p:spPr>
          <a:xfrm>
            <a:off x="5400341" y="4953794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DELETE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5400341" y="5286673"/>
            <a:ext cx="596289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Удаление записей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233360" y="5849029"/>
            <a:ext cx="629686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Каждый запрос — точная инструкция для СУБД. Чем точнее формулировка, тем точнее база определяет, с какими данными работать.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80" y="1757263"/>
            <a:ext cx="3343191" cy="33432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25165" y="1044377"/>
            <a:ext cx="1902770" cy="272752"/>
          </a:xfrm>
          <a:prstGeom prst="roundRect">
            <a:avLst>
              <a:gd name="adj" fmla="val 22121"/>
            </a:avLst>
          </a:prstGeom>
          <a:solidFill>
            <a:srgbClr val="D5F6F1"/>
          </a:solidFill>
          <a:ln/>
        </p:spPr>
      </p:sp>
      <p:sp>
        <p:nvSpPr>
          <p:cNvPr id="4" name="Text 1"/>
          <p:cNvSpPr/>
          <p:nvPr/>
        </p:nvSpPr>
        <p:spPr>
          <a:xfrm>
            <a:off x="4732814" y="1108452"/>
            <a:ext cx="2297055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БЕЗОПАСНАЯ КОМАНДА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625165" y="1403751"/>
            <a:ext cx="6911306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SELECT: получение данных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4625165" y="2117030"/>
            <a:ext cx="691130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Только читает — никогда не меняет данные. Идеальная отправная точка для любой проверки.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625165" y="2869109"/>
            <a:ext cx="6911306" cy="1795661"/>
          </a:xfrm>
          <a:prstGeom prst="roundRect">
            <a:avLst>
              <a:gd name="adj" fmla="val 4200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4840563" y="3048595"/>
            <a:ext cx="6480509" cy="1436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Все столбцы таблицы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users;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Только нужные поля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email FROM users;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25165" y="4856659"/>
            <a:ext cx="6911306" cy="956866"/>
          </a:xfrm>
          <a:prstGeom prst="roundRect">
            <a:avLst>
              <a:gd name="adj" fmla="val 7882"/>
            </a:avLst>
          </a:prstGeom>
          <a:solidFill>
            <a:srgbClr val="B6D6F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647" y="5124549"/>
            <a:ext cx="224427" cy="17948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08556" y="5054997"/>
            <a:ext cx="614843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После действия в приложении используйте SELECT, чтобы убедиться: запись появилась, значение изменилось, статус сохранился.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8541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WHERE: фильтрация данных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52377"/>
            <a:ext cx="10868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Условие WHERE ограничивает результат — выбирает только строки, соответствующие критерию. Без него база вернёт все строки таблицы.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2496344"/>
            <a:ext cx="5215303" cy="3519686"/>
          </a:xfrm>
          <a:prstGeom prst="roundRect">
            <a:avLst>
              <a:gd name="adj" fmla="val 2143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76873" y="2675830"/>
            <a:ext cx="4784506" cy="3160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Конкретный пользователь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= 15;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Заказы определённого статуса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orders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status = 'new';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Записи после даты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created_at &gt; '2024-01-01';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1267" y="2496344"/>
            <a:ext cx="2522375" cy="25421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27746" y="2701230"/>
            <a:ext cx="2011015" cy="841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WHERE дополняет команду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627746" y="3713262"/>
            <a:ext cx="2011015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Сам по себе не меняет данные — только уточняет, с какими строками работать.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14195" y="2496344"/>
            <a:ext cx="2522375" cy="25421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320674" y="2701230"/>
            <a:ext cx="2011015" cy="841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⚠️</a:t>
            </a: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Критично для UPDATE и DELETE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9320674" y="3713262"/>
            <a:ext cx="2011015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Ошибка в WHERE при изменении данных может затронуть все строки таблицы.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2" y="480219"/>
            <a:ext cx="4423061" cy="58975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86770"/>
            <a:ext cx="6296860" cy="93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ORDER BY: сортировка результатов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233360" y="1679739"/>
            <a:ext cx="6296860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Упорядочивает вывод запроса. Данные в таблице не меняются — только порядок отображения.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2233315"/>
            <a:ext cx="744221" cy="1693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4756" y="2382143"/>
            <a:ext cx="543546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ASC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094756" y="2684859"/>
            <a:ext cx="5435464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 возрастанию</a:t>
            </a:r>
            <a:endParaRPr lang="en-US" sz="11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(по умолчанию)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094756" y="3242370"/>
            <a:ext cx="5435464" cy="535781"/>
          </a:xfrm>
          <a:prstGeom prst="roundRect">
            <a:avLst>
              <a:gd name="adj" fmla="val 11669"/>
            </a:avLst>
          </a:prstGeom>
          <a:solidFill>
            <a:srgbClr val="F2F2F2"/>
          </a:solidFill>
          <a:ln/>
        </p:spPr>
      </p:sp>
      <p:sp>
        <p:nvSpPr>
          <p:cNvPr id="10" name="Text 6"/>
          <p:cNvSpPr/>
          <p:nvPr/>
        </p:nvSpPr>
        <p:spPr>
          <a:xfrm>
            <a:off x="6273345" y="3391198"/>
            <a:ext cx="507828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name ASC;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360" y="3926979"/>
            <a:ext cx="744221" cy="16936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94756" y="4075807"/>
            <a:ext cx="543546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DESC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6094756" y="4378523"/>
            <a:ext cx="5435464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 убыванию</a:t>
            </a:r>
            <a:endParaRPr lang="en-US" sz="11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(новые первыми)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094756" y="4936034"/>
            <a:ext cx="5435464" cy="535781"/>
          </a:xfrm>
          <a:prstGeom prst="roundRect">
            <a:avLst>
              <a:gd name="adj" fmla="val 11669"/>
            </a:avLst>
          </a:prstGeom>
          <a:solidFill>
            <a:srgbClr val="F2F2F2"/>
          </a:solidFill>
          <a:ln/>
        </p:spPr>
      </p:sp>
      <p:sp>
        <p:nvSpPr>
          <p:cNvPr id="15" name="Text 10"/>
          <p:cNvSpPr/>
          <p:nvPr/>
        </p:nvSpPr>
        <p:spPr>
          <a:xfrm>
            <a:off x="6273345" y="5084862"/>
            <a:ext cx="507828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created_at DESC;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233360" y="5752505"/>
            <a:ext cx="6296860" cy="535781"/>
          </a:xfrm>
          <a:prstGeom prst="roundRect">
            <a:avLst>
              <a:gd name="adj" fmla="val 11669"/>
            </a:avLst>
          </a:prstGeom>
          <a:solidFill>
            <a:srgbClr val="F2F2F2"/>
          </a:solidFill>
          <a:ln/>
        </p:spPr>
      </p:sp>
      <p:sp>
        <p:nvSpPr>
          <p:cNvPr id="17" name="Text 12"/>
          <p:cNvSpPr/>
          <p:nvPr/>
        </p:nvSpPr>
        <p:spPr>
          <a:xfrm>
            <a:off x="5411950" y="5901333"/>
            <a:ext cx="654926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orders ORDER BY created_at DESC;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386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GROUP BY: группировка и подсчёты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07443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Объединяет строки с одинаковым значением поля и позволяет считать агрегаты по группам.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424906"/>
            <a:ext cx="5203794" cy="1285280"/>
          </a:xfrm>
          <a:prstGeom prst="roundRect">
            <a:avLst>
              <a:gd name="adj" fmla="val 6177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88283" y="2613918"/>
            <a:ext cx="47501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status, COUNT(*)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status;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3922812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Результат: сколько заказов в каждом статусе —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new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completed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cancelled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1475" y="4740275"/>
            <a:ext cx="5203794" cy="1341834"/>
          </a:xfrm>
          <a:prstGeom prst="roundRect">
            <a:avLst>
              <a:gd name="adj" fmla="val 5916"/>
            </a:avLst>
          </a:prstGeom>
          <a:solidFill>
            <a:srgbClr val="D5F6F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033367"/>
            <a:ext cx="236234" cy="1890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5723" y="4957564"/>
            <a:ext cx="440053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GROUP BY объединяет строки в логические группы. ORDER BY только меняет порядок вывода — это разные операции.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332776" y="1650008"/>
            <a:ext cx="2507394" cy="1479848"/>
          </a:xfrm>
          <a:prstGeom prst="roundRect">
            <a:avLst>
              <a:gd name="adj" fmla="val 536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28133" y="1845370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COUNT(*)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528133" y="2329656"/>
            <a:ext cx="21166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Количество строк в группе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9029176" y="1650008"/>
            <a:ext cx="2507394" cy="1479848"/>
          </a:xfrm>
          <a:prstGeom prst="roundRect">
            <a:avLst>
              <a:gd name="adj" fmla="val 536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224533" y="1845370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SUM()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9224533" y="2329656"/>
            <a:ext cx="21166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Сумма значений поля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332776" y="3318867"/>
            <a:ext cx="5203794" cy="1177429"/>
          </a:xfrm>
          <a:prstGeom prst="roundRect">
            <a:avLst>
              <a:gd name="adj" fmla="val 674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28133" y="3514229"/>
            <a:ext cx="48130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AVG()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6528133" y="3998516"/>
            <a:ext cx="48130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Среднее значение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412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55333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INSERT: добавление записей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661475" y="1793511"/>
            <a:ext cx="690644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Создаёт новую строку в таблице. Меняет состояние БД — требует осторожности.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61475" y="2144514"/>
            <a:ext cx="6296860" cy="786209"/>
          </a:xfrm>
          <a:prstGeom prst="roundRect">
            <a:avLst>
              <a:gd name="adj" fmla="val 8078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842842" y="2295723"/>
            <a:ext cx="5934125" cy="483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users (name, email, status)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('John', 'john@mail.com', 'active');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61475" y="3066752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22632" y="3118644"/>
            <a:ext cx="583570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Явно указывайте столбцы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122632" y="3427413"/>
            <a:ext cx="583570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Запрос становится понятнее и не зависит от порядка колонок в таблице.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61475" y="3886994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22632" y="3938885"/>
            <a:ext cx="583570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Автозаполняемые поля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122632" y="4247654"/>
            <a:ext cx="583570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Идентификатор </a:t>
            </a: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дата создания </a:t>
            </a: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часто заполняются автоматически — их не нужно указывать вручную.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61475" y="4924921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22632" y="4976813"/>
            <a:ext cx="583570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Проверьте ограничения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122632" y="5285581"/>
            <a:ext cx="583570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Новая запись не должна конфликтовать с существующими данными (уникальные поля, внешние ключи).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7181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UPDATE: изменение данных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61475" y="1481137"/>
            <a:ext cx="1549460" cy="264815"/>
          </a:xfrm>
          <a:prstGeom prst="roundRect">
            <a:avLst>
              <a:gd name="adj" fmla="val 21585"/>
            </a:avLst>
          </a:prstGeom>
          <a:noFill/>
          <a:ln w="6350">
            <a:solidFill>
              <a:srgbClr val="27B29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3469" y="1541645"/>
            <a:ext cx="1955057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⚠️</a:t>
            </a:r>
            <a:r>
              <a:rPr lang="en-US" sz="1050" dirty="0">
                <a:solidFill>
                  <a:srgbClr val="27B2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МЕНЯЕТ ДАННЫЕ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61475" y="1816917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Синтаксис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61475" y="2245122"/>
            <a:ext cx="5226911" cy="2245916"/>
          </a:xfrm>
          <a:prstGeom prst="roundRect">
            <a:avLst>
              <a:gd name="adj" fmla="val 3181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865563" y="2415183"/>
            <a:ext cx="4818736" cy="1905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users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status = 'blocked'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= 15;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orders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status = 'completed'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created_at &lt; '2024-01-01';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659" y="1471735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Правило безопасности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309659" y="1882820"/>
            <a:ext cx="522691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Перед UPDATE выполните аналогичный SELECT с тем же условием: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659" y="2570163"/>
            <a:ext cx="5226911" cy="2518172"/>
          </a:xfrm>
          <a:prstGeom prst="roundRect">
            <a:avLst>
              <a:gd name="adj" fmla="val 2837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6513746" y="2740223"/>
            <a:ext cx="4818736" cy="2178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Шаг 1: проверяем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= 15;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Шаг 2: если всё верно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users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status = 'blocked'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= 15;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659" y="5260578"/>
            <a:ext cx="5226911" cy="877491"/>
          </a:xfrm>
          <a:prstGeom prst="roundRect">
            <a:avLst>
              <a:gd name="adj" fmla="val 8142"/>
            </a:avLst>
          </a:prstGeom>
          <a:solidFill>
            <a:srgbClr val="FCF2B5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715" y="5497810"/>
            <a:ext cx="212620" cy="17006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862392" y="5442788"/>
            <a:ext cx="450412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Без WHERE изменятся все строки таблицы — без исключения.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5859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DELETE: удаление записей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20275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Самая опасная операция — удаляет строки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безвозвратно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Всегда требует условия WHERE.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3020219"/>
            <a:ext cx="6296860" cy="3099792"/>
          </a:xfrm>
          <a:prstGeom prst="roundRect">
            <a:avLst>
              <a:gd name="adj" fmla="val 2561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5460169" y="3209230"/>
            <a:ext cx="5843243" cy="272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Удалить конкретного пользователя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users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= 15;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Удалить отменённые заказы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orders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status = 'cancelled';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8616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Комбинирование конструкций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22366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Реальные запросы содержат несколько конструкций одновременно. Каждая часть отвечает за свою задачу.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1536005"/>
            <a:ext cx="10868745" cy="1190625"/>
          </a:xfrm>
          <a:prstGeom prst="roundRect">
            <a:avLst>
              <a:gd name="adj" fmla="val 5001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31532" y="1677690"/>
            <a:ext cx="1052863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email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users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status = 'active'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created_at DESC;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086323" y="2846189"/>
            <a:ext cx="19050" cy="2660154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7" name="Shape 5"/>
          <p:cNvSpPr/>
          <p:nvPr/>
        </p:nvSpPr>
        <p:spPr>
          <a:xfrm>
            <a:off x="5530216" y="2996109"/>
            <a:ext cx="425241" cy="1905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8" name="Shape 6"/>
          <p:cNvSpPr/>
          <p:nvPr/>
        </p:nvSpPr>
        <p:spPr>
          <a:xfrm>
            <a:off x="5936407" y="2846189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537" y="2872730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61475" y="2894905"/>
            <a:ext cx="47255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SELECT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1475" y="3180060"/>
            <a:ext cx="472557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Выбираем нужные столбцы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6239" y="3775770"/>
            <a:ext cx="425241" cy="1905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3" name="Shape 11"/>
          <p:cNvSpPr/>
          <p:nvPr/>
        </p:nvSpPr>
        <p:spPr>
          <a:xfrm>
            <a:off x="5936407" y="3625850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537" y="3652391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804649" y="3674566"/>
            <a:ext cx="47255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WHERE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04649" y="3959721"/>
            <a:ext cx="472557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Ограничиваем только активных пользователей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30216" y="4473476"/>
            <a:ext cx="425241" cy="1905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8" name="Shape 16"/>
          <p:cNvSpPr/>
          <p:nvPr/>
        </p:nvSpPr>
        <p:spPr>
          <a:xfrm>
            <a:off x="5936407" y="4323556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537" y="4350097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61475" y="4372273"/>
            <a:ext cx="47255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ORDER BY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61475" y="4657427"/>
            <a:ext cx="472557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Сортируем по дате — новые первыми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1475" y="5625902"/>
            <a:ext cx="10868745" cy="669627"/>
          </a:xfrm>
          <a:prstGeom prst="roundRect">
            <a:avLst>
              <a:gd name="adj" fmla="val 8892"/>
            </a:avLst>
          </a:prstGeom>
          <a:solidFill>
            <a:srgbClr val="B6D6FC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56" y="5783263"/>
            <a:ext cx="177200" cy="14168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22037" y="5771942"/>
            <a:ext cx="10266503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Совет при отладке:</a:t>
            </a: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начните с простого SELECT, затем добавляйте WHERE, потом сортировку. Так быстрее найти, где результат расходится с ожиданиями. Порядок конструкций нельзя менять произвольно.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80" y="1757362"/>
            <a:ext cx="3343191" cy="33432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25165" y="1020767"/>
            <a:ext cx="6911306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SQL в работе тестировщика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4625165" y="1734046"/>
            <a:ext cx="6911306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 — способ проверить приложение независимо от интерфейса. Если пользователь создал объект через программу, тестировщик находит запись в БД и убеждается, что данные действительно сохранились.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625165" y="2754116"/>
            <a:ext cx="691130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Типичные проверки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625165" y="3195935"/>
            <a:ext cx="6911306" cy="1299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Появилась ли новая запись после действия в приложении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Изменилось ли значение поля после редактирования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Удалилась ли запись после удаления через интерфейс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Сохранился ли правильный статус объекта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894438" y="4840585"/>
            <a:ext cx="6642033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Главный принцип: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всегда контролируйте область действия запроса. Понимайте, какую таблицу используете, какие строки выбираете — и меняете ли данные вообще.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25165" y="4687094"/>
            <a:ext cx="25399" cy="1147266"/>
          </a:xfrm>
          <a:prstGeom prst="roundRect">
            <a:avLst>
              <a:gd name="adj" fmla="val 50001"/>
            </a:avLst>
          </a:prstGeom>
          <a:solidFill>
            <a:srgbClr val="27B29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767</Words>
  <Application>Microsoft Office PowerPoint</Application>
  <PresentationFormat>Широкоэкранный</PresentationFormat>
  <Paragraphs>137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Consolas</vt:lpstr>
      <vt:lpstr>Open Sans Bold</vt:lpstr>
      <vt:lpstr>Arial</vt:lpstr>
      <vt:lpstr>Open Sans</vt:lpstr>
      <vt:lpstr>Montserrat Bold</vt:lpstr>
      <vt:lpstr>Noto Color Emoji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2026-10-07T13:39:17Z</dcterms:created>
  <dcterms:modified xsi:type="dcterms:W3CDTF">2026-10-07T14:23:14Z</dcterms:modified>
</cp:coreProperties>
</file>