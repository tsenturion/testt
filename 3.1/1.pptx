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786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8062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различать виды документации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845395"/>
            <a:ext cx="6296860" cy="2631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разных проектах требования описываются по-разному: техническое задание, спецификация, User Story, Use Case. Каждый документ решает свою задачу и содержит информацию разного уровня детализации.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должен понимать не только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требуется, но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 какой форме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это зафиксировано — чтобы правильно интерпретировать требования и не ожидать от краткой истории той же подробности, что от детального сценария.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32148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Техническое задание: рамки проекта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958479"/>
            <a:ext cx="6296860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ТЗ определяет, какой результат должен быть создан и какие задачи должен решать продукт. Это широкий взгляд на систему: назначение, основные функции, ограничения, требования к среде.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747566"/>
            <a:ext cx="6296860" cy="8669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9814" y="2917825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и границы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5479814" y="3226594"/>
            <a:ext cx="588015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Задаёт общий контекст разработки и определяет, для кого создаётся система.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735487"/>
            <a:ext cx="6296860" cy="10846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9814" y="3905746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Основные функции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5479814" y="4214515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Описывает ключевые возможности продукта на высоком уровне без деталей реализации.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941094"/>
            <a:ext cx="6296860" cy="10846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9814" y="5111353"/>
            <a:ext cx="588015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5479814" y="5420122"/>
            <a:ext cx="5880151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Недостаточно для проверки конкретных деталей — требует дополнительных источников.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1264940"/>
            <a:ext cx="690326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читать техническое задание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4633201" y="2635250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Начните с общей структуры: кто пользователи, какие основные функции, какие ограничения. Это формирует целостное представление о продукте.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если ТЗ указывает несколько категорий пользователей, поведение приложения будет зависеть от типа. Если указано, что система работает через браузер — это определяет контекст проверок.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4633201" y="4530030"/>
            <a:ext cx="6903269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823123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47449" y="4747320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ТЗ обозначает функцию на общем уровне. Подробное поведение раскрывается в других документах.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39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SRS: спецификация требований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63688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Software Requirements Specification концентрируется на том,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должна делать система и каким требованиям соответствовать. Это значительно более конкретный документ, чем ТЗ.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2507655"/>
            <a:ext cx="2522375" cy="1943497"/>
          </a:xfrm>
          <a:prstGeom prst="roundRect">
            <a:avLst>
              <a:gd name="adj" fmla="val 388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7307" y="2693491"/>
            <a:ext cx="2150711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Функциональные требования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847307" y="3425031"/>
            <a:ext cx="215071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Детали поведения системы в конкретных ситуациях.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54403" y="2507655"/>
            <a:ext cx="2522375" cy="1943497"/>
          </a:xfrm>
          <a:prstGeom prst="roundRect">
            <a:avLst>
              <a:gd name="adj" fmla="val 388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40235" y="2693491"/>
            <a:ext cx="2150711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 и интерфейсы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540235" y="3425031"/>
            <a:ext cx="2150711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Внешние интерфейсы, требования к данным и среде.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4621709"/>
            <a:ext cx="5215303" cy="1382911"/>
          </a:xfrm>
          <a:prstGeom prst="roundRect">
            <a:avLst>
              <a:gd name="adj" fmla="val 545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307" y="4807545"/>
            <a:ext cx="484363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Основа для тестов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47307" y="5258594"/>
            <a:ext cx="484363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Формулировки часто напрямую преобразуются в условия тест-кейсов.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21267" y="248632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6321267" y="2937371"/>
            <a:ext cx="521530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Вместо общего «пользователь должен войти в систему» SRS определит: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267" y="3651052"/>
            <a:ext cx="5215303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данные необходимы для входа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 система реагирует на ошибки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ограничения доступа применяются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7518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Требование как единица SRS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1884065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Хорошая спецификация разбивается на отдельные требования — каждое фиксирует определённое свойство или поведение системы, что позволяет работать с ними независимо.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74357" y="2904430"/>
            <a:ext cx="605586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«После трёх неправильных попыток ввода пароля учётная запись блокируется на 30 минут» — это конкретное правило, а не общее описание безопасности.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233360" y="2750840"/>
            <a:ext cx="19050" cy="1020366"/>
          </a:xfrm>
          <a:prstGeom prst="roundRect">
            <a:avLst>
              <a:gd name="adj" fmla="val 49999"/>
            </a:avLst>
          </a:prstGeom>
          <a:solidFill>
            <a:srgbClr val="27B29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85" y="3929707"/>
            <a:ext cx="240996" cy="2410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55436" y="3924796"/>
            <a:ext cx="5774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Определите назначение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5755436" y="4257675"/>
            <a:ext cx="57747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Поймите, какую задачу решает данный раздел SRS.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85" y="4773364"/>
            <a:ext cx="240996" cy="2410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55436" y="4768453"/>
            <a:ext cx="5774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Выделите правила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5755436" y="5101332"/>
            <a:ext cx="57747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Отделяйте общее описание от конкретных проверяемых условий.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93585" y="5617021"/>
            <a:ext cx="240996" cy="24100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55436" y="5612110"/>
            <a:ext cx="57747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Сформируйте тест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755436" y="5944989"/>
            <a:ext cx="57747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конкретное правило — потенциальный тест-кейс.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6925"/>
            <a:ext cx="6911306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Story: потребность пользователя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089845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Story описывает потребность участника системы в краткой форме. Акцент на том,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зачем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нужна функция, а не как она устроена.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820591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Структура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61475" y="3271639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Определённый пользователь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хочет получить возможность, чтобы </a:t>
            </a:r>
            <a:r>
              <a:rPr lang="en-US" sz="140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достичь цели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0748" y="4177209"/>
            <a:ext cx="664203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«Клиент хочет видеть историю заказов, чтобы отслеживать предыдущие покупки».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4023717"/>
            <a:ext cx="25399" cy="867172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5082778"/>
            <a:ext cx="6911306" cy="956866"/>
          </a:xfrm>
          <a:prstGeom prst="roundRect">
            <a:avLst>
              <a:gd name="adj" fmla="val 7882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57" y="5350669"/>
            <a:ext cx="224427" cy="17948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4867" y="5281116"/>
            <a:ext cx="614843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Story показывает пользовательский смысл, но остаётся высокоуровневой. Для деталей нужны дополнительные критерии.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75" y="1757263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5830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Критерии приёмки User Story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697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Acceptance Criteria конкретизируют условия, при которых история считается реализованной. Без них краткое описание оставляет слишком много вариантов интерпретации.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33345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История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944936" y="4011414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«Пользователь может изменить адрес доставки до отправки заказа».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841353"/>
            <a:ext cx="25399" cy="944959"/>
          </a:xfrm>
          <a:prstGeom prst="roundRect">
            <a:avLst>
              <a:gd name="adj" fmla="val 50001"/>
            </a:avLst>
          </a:prstGeom>
          <a:solidFill>
            <a:srgbClr val="27B29F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998938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Объясняет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зачем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нужна функция.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33345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Критерии уточняют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817739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каком статусе заказа изменение разрешено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поля адреса обязательны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происходит после сохранения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5027216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Определяют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как проверить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реализацию.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77056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Case: сценарий взаимодействия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622524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Case описывает конкретный сценарий взаимодействия участника с системой — последовательность действий от инициирующего события до результата.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33360" y="2178844"/>
            <a:ext cx="62968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Пример: «Оформление заказа»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233360" y="2559745"/>
            <a:ext cx="567021" cy="850602"/>
          </a:xfrm>
          <a:prstGeom prst="roundRect">
            <a:avLst>
              <a:gd name="adj" fmla="val 5000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10561" y="2852142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906642" y="2701429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Открыть корзину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906642" y="2986584"/>
            <a:ext cx="56235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Авторизованный пользователь переходит к выбранным товарам.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33360" y="3516610"/>
            <a:ext cx="567021" cy="850602"/>
          </a:xfrm>
          <a:prstGeom prst="roundRect">
            <a:avLst>
              <a:gd name="adj" fmla="val 5000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0561" y="380900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906642" y="3658295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Подтвердить товары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906642" y="3943449"/>
            <a:ext cx="56235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Проверяет состав и количество позиций.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473476"/>
            <a:ext cx="567021" cy="850602"/>
          </a:xfrm>
          <a:prstGeom prst="roundRect">
            <a:avLst>
              <a:gd name="adj" fmla="val 5000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10561" y="476587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906642" y="4615160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Указать доставку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906642" y="4900315"/>
            <a:ext cx="56235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Вводит данные адреса и способа доставки.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33360" y="5430341"/>
            <a:ext cx="567021" cy="850602"/>
          </a:xfrm>
          <a:prstGeom prst="roundRect">
            <a:avLst>
              <a:gd name="adj" fmla="val 5000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0561" y="572273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906642" y="5572026"/>
            <a:ext cx="56235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Выполнить оплату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5906642" y="5857180"/>
            <a:ext cx="56235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Завершает оформление через платёжную форму.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10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Основной и альтернативные потоки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39776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Case содержит основной поток (нормальное развитие) и альтернативные варианты (при других условиях). Один процесс может иметь несколько допустимых путей.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9865"/>
            <a:ext cx="3504219" cy="35043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33201" y="3234134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это важно тестировщику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633201" y="3718421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Альтернативные потоки показывают предусмотренные ответвления в логике системы.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633201" y="4493320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Проверяйте не только «счастливый путь»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альтернативный поток — отдельный тест-кейс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Убедитесь, что система корректно обрабатывает все варианты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540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документы дополняют друг друга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99778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ТЗ, SRS, User Story и Use Case не конкурируют — они дополняют друг друга на разных уровнях детализации.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1753493"/>
            <a:ext cx="1358568" cy="828873"/>
          </a:xfrm>
          <a:prstGeom prst="roundRect">
            <a:avLst>
              <a:gd name="adj" fmla="val 766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4449" y="2061567"/>
            <a:ext cx="212620" cy="2126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71249" y="1904702"/>
            <a:ext cx="920776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ТЗ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2171249" y="2213471"/>
            <a:ext cx="920776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Общие рамки проекта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095646" y="2574429"/>
            <a:ext cx="9358971" cy="952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2657971"/>
            <a:ext cx="2717137" cy="828873"/>
          </a:xfrm>
          <a:prstGeom prst="roundRect">
            <a:avLst>
              <a:gd name="adj" fmla="val 766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3683" y="2966045"/>
            <a:ext cx="212620" cy="2126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9817" y="2809180"/>
            <a:ext cx="784919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SRS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29817" y="3117949"/>
            <a:ext cx="7849197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Конкретные требования к системе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454214" y="3478907"/>
            <a:ext cx="8000403" cy="952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4" name="Shape 10"/>
          <p:cNvSpPr/>
          <p:nvPr/>
        </p:nvSpPr>
        <p:spPr>
          <a:xfrm>
            <a:off x="661475" y="3562449"/>
            <a:ext cx="4075705" cy="828873"/>
          </a:xfrm>
          <a:prstGeom prst="roundRect">
            <a:avLst>
              <a:gd name="adj" fmla="val 766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3017" y="3870523"/>
            <a:ext cx="212620" cy="2126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88386" y="3713659"/>
            <a:ext cx="649062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Story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4888386" y="4022427"/>
            <a:ext cx="6490629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Пользовательская потребность и её ценность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812783" y="4383385"/>
            <a:ext cx="6641835" cy="9525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9" name="Shape 14"/>
          <p:cNvSpPr/>
          <p:nvPr/>
        </p:nvSpPr>
        <p:spPr>
          <a:xfrm>
            <a:off x="661475" y="4466927"/>
            <a:ext cx="5434373" cy="828873"/>
          </a:xfrm>
          <a:prstGeom prst="roundRect">
            <a:avLst>
              <a:gd name="adj" fmla="val 766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351" y="4775002"/>
            <a:ext cx="212620" cy="2126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47053" y="4618137"/>
            <a:ext cx="513196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 Case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247053" y="4926905"/>
            <a:ext cx="513196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Подробный сценарий взаимодействия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61475" y="5431830"/>
            <a:ext cx="10868745" cy="740767"/>
          </a:xfrm>
          <a:prstGeom prst="roundRect">
            <a:avLst>
              <a:gd name="adj" fmla="val 8574"/>
            </a:avLst>
          </a:prstGeom>
          <a:solidFill>
            <a:srgbClr val="D5F6F1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680" y="5604272"/>
            <a:ext cx="189007" cy="15120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52893" y="5590580"/>
            <a:ext cx="102261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новой функции определите доступные источники, изучите их в комплексе и используйте для создания тест-кейсов. Если документы расходятся — уточните, какой источник актуален в проекте.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Широкоэкранный</PresentationFormat>
  <Paragraphs>96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2026-09-29T17:39:11Z</dcterms:created>
  <dcterms:modified xsi:type="dcterms:W3CDTF">2026-09-29T17:40:25Z</dcterms:modified>
</cp:coreProperties>
</file>