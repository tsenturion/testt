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ontserrat Bold"/>
      <p:regular r:id="rId201314"/>
    </p:embeddedFont>
    <p:embeddedFont>
      <p:font typeface="Open Sans Bold"/>
      <p:regular r:id="rId201315"/>
    </p:embeddedFont>
    <p:embeddedFont>
      <p:font typeface="Open Sans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3.png"/><Relationship Id="rId6" Type="http://schemas.openxmlformats.org/officeDocument/2006/relationships/image" Target="../media/image-4-4.svg"/><Relationship Id="rId7" Type="http://schemas.openxmlformats.org/officeDocument/2006/relationships/image" Target="../media/image-4-3.png"/><Relationship Id="rId8" Type="http://schemas.openxmlformats.org/officeDocument/2006/relationships/image" Target="../media/image-4-4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2.png"/><Relationship Id="rId5" Type="http://schemas.openxmlformats.org/officeDocument/2006/relationships/image" Target="../media/image-10-3.svg"/><Relationship Id="rId6" Type="http://schemas.openxmlformats.org/officeDocument/2006/relationships/image" Target="../media/image-10-2.png"/><Relationship Id="rId7" Type="http://schemas.openxmlformats.org/officeDocument/2006/relationships/image" Target="../media/image-10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732334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Когда нужно проверять комбинации параметров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2264073"/>
            <a:ext cx="2929360" cy="2800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Попарное тестирование — это подход, который помогает, когда поведение системы зависит одновременно от нескольких независимых условий. Вместо проверки всех возможных сочетаний мы выбираем умный набор тестов, где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каждая пара значений разных параметров встречается хотя бы один раз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607210" y="2264073"/>
            <a:ext cx="2929360" cy="1960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особенно полезно в сопровождении ПО, когда нужно проверить совместимость с разными браузерами, операционными системами, типами пользователей и другими конфигурациями.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07210" y="4416623"/>
            <a:ext cx="2929360" cy="1517055"/>
          </a:xfrm>
          <a:prstGeom prst="roundRect">
            <a:avLst>
              <a:gd name="adj" fmla="val 4971"/>
            </a:avLst>
          </a:prstGeom>
          <a:solidFill>
            <a:srgbClr val="D5F6F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6692" y="4684514"/>
            <a:ext cx="224427" cy="1794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90601" y="4614962"/>
            <a:ext cx="2166486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Цель — умное сокращение, а не случайный выбор тестов.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1088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полный перебор становится невозможным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288480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2245916"/>
            <a:ext cx="5203794" cy="3364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параметров мало, проверить все комбинации просто. Но с каждым новым параметром количество вариантов </a:t>
            </a:r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растёт экспоненциально</a:t>
            </a:r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Форма заказа с пятью параметрами — способ оплаты, доставка, тип клиента, устройство, язык — может дать сотни комбинаций.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Проблема не только во времени выполнения: нужно создавать, поддерживать и анализировать все эти тесты. Поэтому требуется способ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сократить количество проверок без потери качества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39465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Основной принцип: покрытие пар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661475" y="2017713"/>
            <a:ext cx="3063104" cy="2715518"/>
          </a:xfrm>
          <a:prstGeom prst="roundRect">
            <a:avLst>
              <a:gd name="adj" fmla="val 27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7307" y="2203549"/>
            <a:ext cx="269144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Откуда берётся принцип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47307" y="2866827"/>
            <a:ext cx="2691440" cy="1680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Исследования показывают, что большинство дефектов, связанных с комбинациями, проявляются при взаимодействии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двух параметров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95131" y="2017713"/>
            <a:ext cx="3063203" cy="2715518"/>
          </a:xfrm>
          <a:prstGeom prst="roundRect">
            <a:avLst>
              <a:gd name="adj" fmla="val 27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80964" y="2203549"/>
            <a:ext cx="269153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мы гарантируем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4080964" y="2586335"/>
            <a:ext cx="2691539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Каждое значение одного параметра встретится с каждым значением другого — хотя бы один раз в наборе тестов.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61475" y="4903788"/>
            <a:ext cx="6296860" cy="1314648"/>
          </a:xfrm>
          <a:prstGeom prst="roundRect">
            <a:avLst>
              <a:gd name="adj" fmla="val 57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7307" y="5089624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это даёт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847307" y="5472410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Значительное сокращение числа тестов без риска пропустить типичные ошибки, возникающие на стыке двух условий.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0168"/>
            <a:ext cx="10868745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Параметры и значения: правильное определение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61475" y="3076674"/>
            <a:ext cx="6945536" cy="388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Параметр</a:t>
            </a:r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это характеристика, которая может меняться и влиять на результат. </a:t>
            </a:r>
            <a:pPr algn="l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Значение</a:t>
            </a:r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конкретный вариант этой характеристики.</a:t>
            </a:r>
            <a:endParaRPr lang="en-US" sz="10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34" y="1256605"/>
            <a:ext cx="2687074" cy="268714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3672" y="4059634"/>
            <a:ext cx="3582799" cy="1225352"/>
          </a:xfrm>
          <a:prstGeom prst="roundRect">
            <a:avLst>
              <a:gd name="adj" fmla="val 4783"/>
            </a:avLst>
          </a:prstGeom>
          <a:solidFill>
            <a:srgbClr val="FCF2B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170" y="4221361"/>
            <a:ext cx="174422" cy="1395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07090" y="4187130"/>
            <a:ext cx="2989882" cy="970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Ошибка на этом этапе приводит к бесполезному набору тестов. Важно определить, какие характеристики действительно независимы и влияют на поведение.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516761"/>
            <a:ext cx="3554224" cy="79097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96221" y="5675313"/>
            <a:ext cx="3160931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Браузер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896221" y="5955109"/>
            <a:ext cx="3160931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Chrome · Firefox · Edge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18686" y="5516761"/>
            <a:ext cx="3554224" cy="79097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553431" y="5675313"/>
            <a:ext cx="3160931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Операционная система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4553431" y="5955109"/>
            <a:ext cx="3160931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Windows · Linux · macOS</a:t>
            </a:r>
            <a:endParaRPr lang="en-US" sz="10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75897" y="5516761"/>
            <a:ext cx="3554324" cy="79097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210642" y="5675313"/>
            <a:ext cx="3161030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Роль пользователя</a:t>
            </a:r>
            <a:endParaRPr lang="en-US" sz="1350" dirty="0"/>
          </a:p>
        </p:txBody>
      </p:sp>
      <p:sp>
        <p:nvSpPr>
          <p:cNvPr id="16" name="Text 9"/>
          <p:cNvSpPr/>
          <p:nvPr/>
        </p:nvSpPr>
        <p:spPr>
          <a:xfrm>
            <a:off x="8210642" y="5955109"/>
            <a:ext cx="3161030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Администратор · Обычный пользователь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96131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формируется сокращённый набор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766689"/>
            <a:ext cx="5215303" cy="239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Каждый тест содержит по одному значению каждого параметра. Задача — выбрать </a:t>
            </a:r>
            <a:pPr algn="l"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минимальное количество комбинаций</a:t>
            </a:r>
            <a:pPr algn="l"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так, чтобы все пары были покрыты.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Например, если браузеров два, ОС две и ролей две, полный перебор даёт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8 комбинаций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Попарное тестирование может обойтись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4–5 комбинациями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где каждая пара всё равно встретится.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4352826"/>
            <a:ext cx="5215303" cy="1517055"/>
          </a:xfrm>
          <a:prstGeom prst="roundRect">
            <a:avLst>
              <a:gd name="adj" fmla="val 4971"/>
            </a:avLst>
          </a:prstGeom>
          <a:solidFill>
            <a:srgbClr val="B6D6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957" y="4620716"/>
            <a:ext cx="224427" cy="1794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4867" y="4551164"/>
            <a:ext cx="4452429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большого числа параметров используются специальные генераторы. Но тестировщик должен понимать принцип, чтобы правильно передать параметры инструменту.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267" y="1805087"/>
            <a:ext cx="4954464" cy="35663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22722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Пример: веб-приложение с тремя параметрами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286198"/>
            <a:ext cx="1086874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Приложение проверяется при двух браузерах (Chrome, Firefox), двух ОС (Windows, Linux) и двух ролях (администратор, пользователь). Полный перебор: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2 × 2 × 2 = 8 тестов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При попарном покрытии достаточно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4 тестов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3038277"/>
          <a:ext cx="9143771" cy="914400"/>
        </p:xfrm>
        <a:graphic>
          <a:graphicData uri="http://schemas.openxmlformats.org/drawingml/2006/table">
            <a:tbl>
              <a:tblPr/>
              <a:tblGrid>
                <a:gridCol w="1086875"/>
                <a:gridCol w="3260624"/>
                <a:gridCol w="3260624"/>
                <a:gridCol w="3260624"/>
              </a:tblGrid>
              <a:tr h="500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№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Браузер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27B2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B2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ОС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27B2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B2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Роль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27B2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</a:tr>
              <a:tr h="5037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Chrome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Windows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Администратор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37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Chrome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Linux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Пользователь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37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Firefox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Windows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Пользователь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0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Firefox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Linux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Администратор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9568" marR="17956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1475" y="5755184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Каждая пара браузер–ОС, браузер–роль и ОС–роль встречается хотя бы один раз.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81732"/>
            <a:ext cx="6296860" cy="1594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Реальные ограничения: невозможные комбинации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1197243" y="2564606"/>
            <a:ext cx="576109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Примеры невозможных комбинаций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197243" y="2922091"/>
            <a:ext cx="5761092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Способ оплаты доступен только в определённых странах. Функция работает только для администраторов. Мобильное приложение не существует для Linux.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97243" y="4062413"/>
            <a:ext cx="576109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Когда фиксировать ограничения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197243" y="4419898"/>
            <a:ext cx="576109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До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построения набора — на основе требований, а не после генерации. Это позволяет сразу получить корректный набор тестов.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97243" y="5301655"/>
            <a:ext cx="576109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Важное правило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1197243" y="5659140"/>
            <a:ext cx="576109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Исключать только то, что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действительно невозможно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 правилам системы, а не то, что кажется необычным или редким.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1876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Отличие от случайного выбора комбинаций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239268"/>
            <a:ext cx="3844134" cy="3844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73116" y="2521744"/>
            <a:ext cx="6563355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Случайный выбор нескольких тестов </a:t>
            </a:r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 гарантирует покрытие нужных пар</a:t>
            </a:r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Можно создать 10 тестов и случайно пропустить, например, сочетание браузера Edge с Linux.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Попарное тестирование — это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формализованный подход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После построения набора можно проверить, какие пары действительно представлены.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973116" y="4718943"/>
            <a:ext cx="6563355" cy="1039416"/>
          </a:xfrm>
          <a:prstGeom prst="roundRect">
            <a:avLst>
              <a:gd name="adj" fmla="val 7638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123" y="5012035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87364" y="4936232"/>
            <a:ext cx="576010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Сокращение управляемо и измеримо, а не основано на интуиции.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98227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попарное тестирование не гарантирует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2229941"/>
            <a:ext cx="2952478" cy="2500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spcAft>
                <a:spcPts val="95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Техника </a:t>
            </a:r>
            <a:pPr algn="l" indent="0" marL="0">
              <a:lnSpc>
                <a:spcPct val="123000"/>
              </a:lnSpc>
              <a:spcAft>
                <a:spcPts val="95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 ловит дефекты</a:t>
            </a:r>
            <a:pPr algn="l" indent="0" marL="0">
              <a:lnSpc>
                <a:spcPct val="123000"/>
              </a:lnSpc>
              <a:spcAft>
                <a:spcPts val="95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которые проявляются только при одновременном сочетании трёх и более параметров.</a:t>
            </a:r>
            <a:endParaRPr lang="en-US" sz="12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Например, ошибка может возникать только при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Chrome + Windows + администратор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Каждая пара может быть покрыта, но все три вместе ни разу не встретятся в наборе.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4012207" y="2260699"/>
            <a:ext cx="2952478" cy="1711127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90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91887" y="2440384"/>
            <a:ext cx="2593116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делать для критичных областей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4191887" y="3078956"/>
            <a:ext cx="2593116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Дополнительно включать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известные рискованные комбинации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вручную.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012207" y="4108351"/>
            <a:ext cx="2952478" cy="1697831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90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91887" y="4288036"/>
            <a:ext cx="259311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Альтернатива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4191887" y="4675584"/>
            <a:ext cx="2593116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Применять более сильное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комбинаторное покрытие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(тройки, четвёрки) там, где это оправдано.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198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Практический процесс применения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806575"/>
            <a:ext cx="6903269" cy="25904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39181" y="3667846"/>
            <a:ext cx="1041185" cy="401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Развернуть тесты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4927002" y="3667846"/>
            <a:ext cx="1041185" cy="401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Проверить покрытие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3621956" y="3667846"/>
            <a:ext cx="1041185" cy="401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Сгенерировать набор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316909" y="3467270"/>
            <a:ext cx="1041185" cy="802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Зафиксировать ограничения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83336" y="3567558"/>
            <a:ext cx="1041185" cy="601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Определить параметры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32251" y="2194520"/>
            <a:ext cx="350421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Главная ценность —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контролируемое сокращение комбинаций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Вместо полного перебора получается компактный набор с понятным критерием покрытия.</a:t>
            </a:r>
            <a:endParaRPr lang="en-US" sz="14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075" y="4796830"/>
            <a:ext cx="3490825" cy="13667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01281" y="4822230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Экономия времени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901281" y="5230912"/>
            <a:ext cx="322562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Меньше тестов при том же уровне покрытия типичных дефектов.</a:t>
            </a:r>
            <a:endParaRPr lang="en-US" sz="14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37735" y="4796830"/>
            <a:ext cx="3490825" cy="13667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2940" y="4822230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Измеримость</a:t>
            </a:r>
            <a:endParaRPr lang="en-US" sz="1850" dirty="0"/>
          </a:p>
        </p:txBody>
      </p:sp>
      <p:sp>
        <p:nvSpPr>
          <p:cNvPr id="15" name="Text 10"/>
          <p:cNvSpPr/>
          <p:nvPr/>
        </p:nvSpPr>
        <p:spPr>
          <a:xfrm>
            <a:off x="4602940" y="5230912"/>
            <a:ext cx="322562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Можно проверить, все ли нужные пары представлены в наборе.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9395" y="4796830"/>
            <a:ext cx="3490825" cy="136673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304600" y="4822230"/>
            <a:ext cx="32256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Применимость</a:t>
            </a:r>
            <a:endParaRPr lang="en-US" sz="1850" dirty="0"/>
          </a:p>
        </p:txBody>
      </p:sp>
      <p:sp>
        <p:nvSpPr>
          <p:cNvPr id="18" name="Text 12"/>
          <p:cNvSpPr/>
          <p:nvPr/>
        </p:nvSpPr>
        <p:spPr>
          <a:xfrm>
            <a:off x="8304600" y="5230912"/>
            <a:ext cx="322562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Особенно ценно при сопровождении ПО с множеством конфигураций.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2026-09-29T16:53:49Z</dcterms:created>
  <dcterms:modified xsi:type="dcterms:W3CDTF">2026-09-29T16:53:49Z</dcterms:modified>
</cp:coreProperties>
</file>