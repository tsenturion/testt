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Montserrat Bold"/>
      <p:regular r:id="rId201314"/>
    </p:embeddedFont>
    <p:embeddedFont>
      <p:font typeface="Open Sans Bold"/>
      <p:regular r:id="rId201315"/>
    </p:embeddedFont>
    <p:embeddedFont>
      <p:font typeface="Open Sans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2.png"/><Relationship Id="rId5" Type="http://schemas.openxmlformats.org/officeDocument/2006/relationships/image" Target="../media/image-7-3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2.png"/><Relationship Id="rId5" Type="http://schemas.openxmlformats.org/officeDocument/2006/relationships/image" Target="../media/image-8-3.svg"/><Relationship Id="rId6" Type="http://schemas.openxmlformats.org/officeDocument/2006/relationships/image" Target="../media/image-8-2.png"/><Relationship Id="rId7" Type="http://schemas.openxmlformats.org/officeDocument/2006/relationships/image" Target="../media/image-8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77168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Сущность функционального тестирования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2902645"/>
            <a:ext cx="2917851" cy="2419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Функциональное тестирование — это проверка того,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выполняет ли система заявленные функции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Мы оцениваем результат действия пользователя, а не просто наличие элементов интерфейса.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18719" y="2945209"/>
            <a:ext cx="2917851" cy="302289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934723" y="3159621"/>
            <a:ext cx="238744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Подход «чёрного ящика»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8934723" y="3939183"/>
            <a:ext cx="2387441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Подаём входные данные, выполняем действие, сравниваем фактический результат с ожидаемым. Внутреннее устройство кода не анализируем.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9783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Требования как основа проверки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666504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Требования определяют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ожидаемое поведение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системы. Они описывают функцию, но не готовый тест — тестировщик преобразует их в конкретные проверки.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483967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2365" y="3519388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75723" y="3548856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Преобразуем требование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275723" y="4252813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Переводим описание функции в проверяемое поведение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63135" y="3483967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025" y="3519388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77383" y="3548856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Определяем структуру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4977383" y="4252813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Какое действие, при каких условиях, какой результат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064794" y="3483967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5684" y="3519388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79042" y="3548856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Оцениваем конкретность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679042" y="4252813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результат невозможно определить — требование недостаточно конкретно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004590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Входные данные и реакция системы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61475" y="2297410"/>
            <a:ext cx="6296860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Функция получает входные данные: значения от пользователя, сохранённую информацию, статус объекта. Система должна корректно реагировать на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допустимые и недопустимые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входные условия.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1475" y="3245346"/>
            <a:ext cx="3071835" cy="1485999"/>
          </a:xfrm>
          <a:prstGeom prst="roundRect">
            <a:avLst>
              <a:gd name="adj" fmla="val 4808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7881" y="3421757"/>
            <a:ext cx="2719022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Корректные данные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37881" y="3779242"/>
            <a:ext cx="271902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реакцию системы на правильные входные значения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86400" y="3245346"/>
            <a:ext cx="3071934" cy="1485999"/>
          </a:xfrm>
          <a:prstGeom prst="roundRect">
            <a:avLst>
              <a:gd name="adj" fmla="val 4808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62807" y="3421757"/>
            <a:ext cx="271912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❌</a:t>
            </a:r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Ошибочные данные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4062807" y="3779242"/>
            <a:ext cx="27191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обработку некорректных или недопустимых входных данных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1475" y="4884440"/>
            <a:ext cx="6296860" cy="968871"/>
          </a:xfrm>
          <a:prstGeom prst="roundRect">
            <a:avLst>
              <a:gd name="adj" fmla="val 7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7881" y="5060851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⚙️</a:t>
            </a:r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Функциональная логика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837881" y="5418336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Оцениваем соответствие поведения системы заявленной логике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3974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 бизнес-правил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2620963"/>
            <a:ext cx="5226911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Функции основаны на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бизнес-правилах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условиях, определяющих поведение системы в конкретной ситуации. Одна и та же операция может вести к разным результатам в зависимости от контекста.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827462"/>
            <a:ext cx="5226911" cy="1136055"/>
          </a:xfrm>
          <a:prstGeom prst="roundRect">
            <a:avLst>
              <a:gd name="adj" fmla="val 6289"/>
            </a:avLst>
          </a:prstGeom>
          <a:solidFill>
            <a:srgbClr val="FCF2B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532" y="4064695"/>
            <a:ext cx="212620" cy="1700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4209" y="4007644"/>
            <a:ext cx="45041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Ошибки бизнес-логики опаснее интерфейсных дефектов: система может технически работать, но принимать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неправильные решения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994" y="1457424"/>
            <a:ext cx="4704141" cy="47042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924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28" y="1510407"/>
            <a:ext cx="2877768" cy="3837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09399" y="906859"/>
            <a:ext cx="7820822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 последовательностей действий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3709399" y="2199680"/>
            <a:ext cx="782082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Функции редко существуют изолированно. Пользователь выполняет </a:t>
            </a:r>
            <a:pPr algn="l" indent="0" marL="0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связанную цепочку операций</a:t>
            </a:r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и важно проверять не только отдельные шаги, но и весь процесс целиком.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399" y="2889052"/>
            <a:ext cx="850581" cy="10206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13070" y="3059113"/>
            <a:ext cx="681715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Отдельное действие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4713070" y="3416598"/>
            <a:ext cx="6817150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каждую функцию независимо</a:t>
            </a:r>
            <a:endParaRPr lang="en-US" sz="13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399" y="3909715"/>
            <a:ext cx="850581" cy="102066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13070" y="4079776"/>
            <a:ext cx="681715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Взаимодействие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4713070" y="4437261"/>
            <a:ext cx="6817150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Отслеживаем передачу данных между этапами сценария</a:t>
            </a:r>
            <a:endParaRPr lang="en-US" sz="13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9399" y="4930378"/>
            <a:ext cx="850581" cy="102066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713070" y="5100439"/>
            <a:ext cx="6817150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Конечный результат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4713070" y="5457924"/>
            <a:ext cx="6817150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Оцениваем итог всего процесса в целом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824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 состояний объектов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450902"/>
            <a:ext cx="6903269" cy="28302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6222" y="2822615"/>
            <a:ext cx="1644789" cy="205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Завершён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3656222" y="3086702"/>
            <a:ext cx="3326129" cy="164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Операции закрыты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656222" y="3641375"/>
            <a:ext cx="1644789" cy="205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Активен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3656222" y="3905462"/>
            <a:ext cx="3326129" cy="164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Доступны операции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656222" y="4467445"/>
            <a:ext cx="1644789" cy="205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Создан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656222" y="4731532"/>
            <a:ext cx="3326129" cy="164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Ожидает инициализации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032251" y="1952427"/>
            <a:ext cx="3504219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Поведение функции зависит от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состояния объекта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В каждом состоянии доступен свой набор действий — и это необходимо проверять.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032251" y="3634581"/>
            <a:ext cx="3504219" cy="2249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правильность изменения статуса после операций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Контролируем доступные действия в каждом состоянии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запреты на операции в определённых состояниях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66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73385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 сохранения и изменения данных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5233360" y="1782266"/>
            <a:ext cx="6296860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Большая часть функциональности связана с данными. После действия убеждаемся, что данные перешли в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ожидаемое состояние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не только на экране, но и в системе.</a:t>
            </a:r>
            <a:endParaRPr lang="en-US" sz="12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2649041"/>
            <a:ext cx="3080169" cy="18683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76957" y="2769493"/>
            <a:ext cx="192777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413041" y="3291681"/>
            <a:ext cx="272080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Повторная проверка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413041" y="3624560"/>
            <a:ext cx="2720808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Убеждаемся в сохранении через повторное открытие или переход на другую страницу</a:t>
            </a:r>
            <a:endParaRPr lang="en-US" sz="12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0051" y="2649041"/>
            <a:ext cx="3080169" cy="18683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893648" y="2769493"/>
            <a:ext cx="192777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629732" y="3291681"/>
            <a:ext cx="272080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Точечное изменение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8629732" y="3624560"/>
            <a:ext cx="2720808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Контролируем, что изменилась только нужная информация, остальное не затронуто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4653955"/>
            <a:ext cx="6296860" cy="16306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285352" y="4774406"/>
            <a:ext cx="192777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5413041" y="5296595"/>
            <a:ext cx="59374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Реальность vs. отображение</a:t>
            </a:r>
            <a:endParaRPr lang="en-US" sz="1550" dirty="0"/>
          </a:p>
        </p:txBody>
      </p:sp>
      <p:sp>
        <p:nvSpPr>
          <p:cNvPr id="17" name="Text 11"/>
          <p:cNvSpPr/>
          <p:nvPr/>
        </p:nvSpPr>
        <p:spPr>
          <a:xfrm>
            <a:off x="5413041" y="5629473"/>
            <a:ext cx="593749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Отличаем реальное сохранение данных от временного отображения на экране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2606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 прав доступа к функциям</a:t>
            </a:r>
            <a:endParaRPr lang="en-US" sz="29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272" y="1322487"/>
            <a:ext cx="3750375" cy="37504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24679" y="2980035"/>
            <a:ext cx="5811791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Функциональность зависит от </a:t>
            </a:r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роли пользователя</a:t>
            </a:r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Разные роли имеют разные возможности при работе с одним и тем же объектом.</a:t>
            </a:r>
            <a:endParaRPr lang="en-US" sz="11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2425" y="5325963"/>
            <a:ext cx="3541128" cy="1018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50779" y="5345013"/>
            <a:ext cx="33327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Видимость интерфейса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850779" y="5653782"/>
            <a:ext cx="3332774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Проверяем, какие элементы отображаются для каждой роли</a:t>
            </a:r>
            <a:endParaRPr lang="en-US" sz="11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5709" y="5325963"/>
            <a:ext cx="3541128" cy="1018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4063" y="5345013"/>
            <a:ext cx="33327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Запрет операций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4524063" y="5653782"/>
            <a:ext cx="3332774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Убеждаемся в невозможности выполнить запрещённое действие</a:t>
            </a:r>
            <a:endParaRPr lang="en-US" sz="11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88993" y="5325963"/>
            <a:ext cx="3541227" cy="1018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197347" y="5345013"/>
            <a:ext cx="3332873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Независимость от способа вызова</a:t>
            </a:r>
            <a:endParaRPr lang="en-US" sz="1450" dirty="0"/>
          </a:p>
        </p:txBody>
      </p:sp>
      <p:sp>
        <p:nvSpPr>
          <p:cNvPr id="13" name="Text 7"/>
          <p:cNvSpPr/>
          <p:nvPr/>
        </p:nvSpPr>
        <p:spPr>
          <a:xfrm>
            <a:off x="8197347" y="5890022"/>
            <a:ext cx="333287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Контролируем отклонение операции при любом способе обращения к системе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66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806450"/>
            <a:ext cx="6296860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Ошибки и восстановление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5233360" y="1513284"/>
            <a:ext cx="629686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Система должна корректно обрабатывать невозможность выполнить операцию и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оставаться в согласованном состоянии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после любого сбоя.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233360" y="2142331"/>
            <a:ext cx="3080169" cy="2249587"/>
          </a:xfrm>
          <a:prstGeom prst="roundRect">
            <a:avLst>
              <a:gd name="adj" fmla="val 300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00341" y="2309316"/>
            <a:ext cx="481993" cy="482005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32894" y="2441873"/>
            <a:ext cx="216887" cy="2168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00341" y="2927846"/>
            <a:ext cx="2746207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Отказ при неполных данных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5400341" y="3511748"/>
            <a:ext cx="2746207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отказ при отсутствии обязательных полей или условий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450051" y="2142331"/>
            <a:ext cx="3080169" cy="2249587"/>
          </a:xfrm>
          <a:prstGeom prst="roundRect">
            <a:avLst>
              <a:gd name="adj" fmla="val 300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617032" y="2309316"/>
            <a:ext cx="481993" cy="482005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49585" y="2441873"/>
            <a:ext cx="216887" cy="2168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17032" y="2927846"/>
            <a:ext cx="2746207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Нет частичных операций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8617032" y="3511748"/>
            <a:ext cx="2746207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Контролируем отсутствие наполовину выполненных действий в системе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233360" y="4528443"/>
            <a:ext cx="6296860" cy="1523107"/>
          </a:xfrm>
          <a:prstGeom prst="roundRect">
            <a:avLst>
              <a:gd name="adj" fmla="val 443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00341" y="4695428"/>
            <a:ext cx="481993" cy="482005"/>
          </a:xfrm>
          <a:prstGeom prst="ellipse">
            <a:avLst/>
          </a:prstGeom>
          <a:solidFill>
            <a:srgbClr val="27B29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32894" y="4827984"/>
            <a:ext cx="216887" cy="2168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00341" y="5313958"/>
            <a:ext cx="59628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Продолжение работы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5400341" y="5646837"/>
            <a:ext cx="5962898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Убеждаемся, что после ошибки пользователь может продолжить работу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3873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Критерий завершения проверки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61475" y="2698452"/>
            <a:ext cx="5238421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Функциональная проверка завершена, когда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требуемое поведение проверено при различных предусмотренных условиях и состояниях</a:t>
            </a:r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6552" y="1524298"/>
            <a:ext cx="3061516" cy="30615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4893072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61475" y="5146973"/>
            <a:ext cx="3531901" cy="19050"/>
          </a:xfrm>
          <a:prstGeom prst="rect">
            <a:avLst/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661475" y="5265341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Связываем с требованиями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61475" y="5598220"/>
            <a:ext cx="3531901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Каждый результат теста привязан к конкретному требованию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329897" y="4893072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29897" y="5146973"/>
            <a:ext cx="3531901" cy="19050"/>
          </a:xfrm>
          <a:prstGeom prst="rect">
            <a:avLst/>
          </a:prstGeom>
          <a:solidFill>
            <a:srgbClr val="27B29F"/>
          </a:solidFill>
          <a:ln/>
        </p:spPr>
      </p:sp>
      <p:sp>
        <p:nvSpPr>
          <p:cNvPr id="11" name="Text 8"/>
          <p:cNvSpPr/>
          <p:nvPr/>
        </p:nvSpPr>
        <p:spPr>
          <a:xfrm>
            <a:off x="4329897" y="5265341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Покрываем все варианты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329897" y="5598220"/>
            <a:ext cx="3531901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Проверяем каждый вариант поведения, описанный в требовании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998319" y="4893072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998319" y="5146973"/>
            <a:ext cx="3531901" cy="19050"/>
          </a:xfrm>
          <a:prstGeom prst="rect">
            <a:avLst/>
          </a:prstGeom>
          <a:solidFill>
            <a:srgbClr val="27B29F"/>
          </a:solidFill>
          <a:ln/>
        </p:spPr>
      </p:sp>
      <p:sp>
        <p:nvSpPr>
          <p:cNvPr id="15" name="Text 12"/>
          <p:cNvSpPr/>
          <p:nvPr/>
        </p:nvSpPr>
        <p:spPr>
          <a:xfrm>
            <a:off x="7998319" y="5265341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Сравниваем результаты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7998319" y="5598220"/>
            <a:ext cx="3531901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Фактический результат совпадает с ожидаемым — тест пройден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2026-10-01T14:14:27Z</dcterms:created>
  <dcterms:modified xsi:type="dcterms:W3CDTF">2026-10-01T14:14:27Z</dcterms:modified>
</cp:coreProperties>
</file>