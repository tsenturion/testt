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12192000"/>
  <p:embeddedFontLst>
    <p:embeddedFont>
      <p:font typeface="Montserrat Bold" panose="020B0604020202020204" charset="-52"/>
      <p:regular r:id="rId13"/>
    </p:embeddedFont>
    <p:embeddedFont>
      <p:font typeface="Open Sans" panose="020B0606030504020204" pitchFamily="34" charset="0"/>
      <p:regular r:id="rId14"/>
    </p:embeddedFont>
    <p:embeddedFont>
      <p:font typeface="Open Sans Bold" panose="020B0806030504020204" charset="0"/>
      <p:regular r:id="rId15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02" d="100"/>
          <a:sy n="102" d="100"/>
        </p:scale>
        <p:origin x="93" y="54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1.fntdata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font" Target="fonts/font3.fntdata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2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8087836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master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sv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e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sv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5.svg"/><Relationship Id="rId4" Type="http://schemas.openxmlformats.org/officeDocument/2006/relationships/image" Target="../media/image14.sv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8.svg"/><Relationship Id="rId4" Type="http://schemas.openxmlformats.org/officeDocument/2006/relationships/image" Target="../media/image17.sv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619809" y="0"/>
            <a:ext cx="4571886" cy="6858000"/>
          </a:xfrm>
          <a:prstGeom prst="rect">
            <a:avLst/>
          </a:prstGeom>
          <a:solidFill>
            <a:srgbClr val="D5F6F1"/>
          </a:solidFill>
          <a:ln/>
        </p:spPr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9501" y="500559"/>
            <a:ext cx="4392403" cy="585678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61475" y="855861"/>
            <a:ext cx="6296860" cy="112236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50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Сущность тестирования безопасности</a:t>
            </a:r>
            <a:endParaRPr lang="en-US" sz="3500" dirty="0"/>
          </a:p>
        </p:txBody>
      </p:sp>
      <p:sp>
        <p:nvSpPr>
          <p:cNvPr id="5" name="Text 2"/>
          <p:cNvSpPr/>
          <p:nvPr/>
        </p:nvSpPr>
        <p:spPr>
          <a:xfrm>
            <a:off x="661475" y="2234109"/>
            <a:ext cx="6296860" cy="8402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Тестирование безопасности — это не просто проверка работоспособности. Это поиск способов обойти установленные ограничения и защитить систему от несанкционированных действий.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532097" y="3266281"/>
            <a:ext cx="3188116" cy="2735759"/>
          </a:xfrm>
          <a:prstGeom prst="roundRect">
            <a:avLst>
              <a:gd name="adj" fmla="val 4726"/>
            </a:avLst>
          </a:prstGeom>
          <a:solidFill>
            <a:srgbClr val="27B29F"/>
          </a:solidFill>
          <a:ln/>
        </p:spPr>
      </p:sp>
      <p:sp>
        <p:nvSpPr>
          <p:cNvPr id="7" name="Text 4"/>
          <p:cNvSpPr/>
          <p:nvPr/>
        </p:nvSpPr>
        <p:spPr>
          <a:xfrm>
            <a:off x="711579" y="3436838"/>
            <a:ext cx="2829152" cy="2804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75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Ключевой принцип</a:t>
            </a:r>
            <a:endParaRPr lang="en-US" sz="1750" dirty="0"/>
          </a:p>
        </p:txBody>
      </p:sp>
      <p:sp>
        <p:nvSpPr>
          <p:cNvPr id="8" name="Text 5"/>
          <p:cNvSpPr/>
          <p:nvPr/>
        </p:nvSpPr>
        <p:spPr>
          <a:xfrm>
            <a:off x="711579" y="3887887"/>
            <a:ext cx="2829152" cy="196066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Интерфейс может скрывать кнопку — но это не защита. Ограничения должны контролироваться </a:t>
            </a:r>
            <a:r>
              <a:rPr lang="en-US" sz="1400" b="1" dirty="0">
                <a:solidFill>
                  <a:srgbClr val="000000"/>
                </a:solidFill>
                <a:latin typeface="Open Sans Bold" pitchFamily="34" charset="0"/>
                <a:ea typeface="Open Sans Bold" pitchFamily="34" charset="-122"/>
                <a:cs typeface="Open Sans Bold" pitchFamily="34" charset="-120"/>
              </a:rPr>
              <a:t>на стороне сервера</a:t>
            </a:r>
            <a:r>
              <a:rPr lang="en-US" sz="140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, потому что клиентскую часть пользователь может изменить.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4035324" y="3436838"/>
            <a:ext cx="2929360" cy="56098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75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Что проверяет тестировщик</a:t>
            </a:r>
            <a:endParaRPr lang="en-US" sz="1750" dirty="0"/>
          </a:p>
        </p:txBody>
      </p:sp>
      <p:sp>
        <p:nvSpPr>
          <p:cNvPr id="10" name="Text 7"/>
          <p:cNvSpPr/>
          <p:nvPr/>
        </p:nvSpPr>
        <p:spPr>
          <a:xfrm>
            <a:off x="4035324" y="4168378"/>
            <a:ext cx="2929360" cy="140047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Может ли система защитить свои данные и функции от тех, кто не имеет на это права? Ответ на этот вопрос — суть тестирования безопасности.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571886" cy="6858000"/>
          </a:xfrm>
          <a:prstGeom prst="rect">
            <a:avLst/>
          </a:prstGeom>
          <a:solidFill>
            <a:srgbClr val="D5F6F1"/>
          </a:solidFill>
          <a:ln/>
        </p:spPr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92" y="500559"/>
            <a:ext cx="4392403" cy="585678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5233360" y="683816"/>
            <a:ext cx="6296860" cy="112236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50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Угроза, уязвимость и риск</a:t>
            </a:r>
            <a:endParaRPr lang="en-US" sz="3500" dirty="0"/>
          </a:p>
        </p:txBody>
      </p:sp>
      <p:sp>
        <p:nvSpPr>
          <p:cNvPr id="5" name="Shape 2"/>
          <p:cNvSpPr/>
          <p:nvPr/>
        </p:nvSpPr>
        <p:spPr>
          <a:xfrm>
            <a:off x="5233360" y="2062063"/>
            <a:ext cx="3063104" cy="1594743"/>
          </a:xfrm>
          <a:prstGeom prst="roundRect">
            <a:avLst>
              <a:gd name="adj" fmla="val 4729"/>
            </a:avLst>
          </a:prstGeom>
          <a:solidFill>
            <a:srgbClr val="D5F6F1"/>
          </a:solidFill>
          <a:ln w="6350">
            <a:solidFill>
              <a:srgbClr val="BBDCD7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5419193" y="2247900"/>
            <a:ext cx="2691440" cy="2804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750" b="1" dirty="0">
                <a:solidFill>
                  <a:srgbClr val="000000"/>
                </a:solidFill>
                <a:latin typeface="Noto Color Emoji" pitchFamily="34" charset="0"/>
                <a:ea typeface="Noto Color Emoji" pitchFamily="34" charset="-122"/>
                <a:cs typeface="Noto Color Emoji" pitchFamily="34" charset="-120"/>
              </a:rPr>
              <a:t>⚡</a:t>
            </a:r>
            <a:r>
              <a:rPr lang="en-US" sz="175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 Угроза</a:t>
            </a:r>
            <a:endParaRPr lang="en-US" sz="1750" dirty="0"/>
          </a:p>
        </p:txBody>
      </p:sp>
      <p:sp>
        <p:nvSpPr>
          <p:cNvPr id="7" name="Text 4"/>
          <p:cNvSpPr/>
          <p:nvPr/>
        </p:nvSpPr>
        <p:spPr>
          <a:xfrm>
            <a:off x="5419193" y="2630686"/>
            <a:ext cx="2691440" cy="8402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Потенциальное опасное воздействие на систему — то, что может произойти.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8467017" y="2062063"/>
            <a:ext cx="3063203" cy="1594743"/>
          </a:xfrm>
          <a:prstGeom prst="roundRect">
            <a:avLst>
              <a:gd name="adj" fmla="val 4729"/>
            </a:avLst>
          </a:prstGeom>
          <a:solidFill>
            <a:srgbClr val="D5F6F1"/>
          </a:solidFill>
          <a:ln w="6350">
            <a:solidFill>
              <a:srgbClr val="BBDCD7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652849" y="2247900"/>
            <a:ext cx="2691539" cy="2804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750" b="1" dirty="0">
                <a:solidFill>
                  <a:srgbClr val="000000"/>
                </a:solidFill>
                <a:latin typeface="Noto Color Emoji" pitchFamily="34" charset="0"/>
                <a:ea typeface="Noto Color Emoji" pitchFamily="34" charset="-122"/>
                <a:cs typeface="Noto Color Emoji" pitchFamily="34" charset="-120"/>
              </a:rPr>
              <a:t>🔓</a:t>
            </a:r>
            <a:r>
              <a:rPr lang="en-US" sz="175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 Уязвимость</a:t>
            </a:r>
            <a:endParaRPr lang="en-US" sz="1750" dirty="0"/>
          </a:p>
        </p:txBody>
      </p:sp>
      <p:sp>
        <p:nvSpPr>
          <p:cNvPr id="10" name="Text 7"/>
          <p:cNvSpPr/>
          <p:nvPr/>
        </p:nvSpPr>
        <p:spPr>
          <a:xfrm>
            <a:off x="8652849" y="2630686"/>
            <a:ext cx="2691539" cy="8402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Слабое место, через которое угроза способна привести к нежелательному результату.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5233360" y="3827363"/>
            <a:ext cx="6296860" cy="1314648"/>
          </a:xfrm>
          <a:prstGeom prst="roundRect">
            <a:avLst>
              <a:gd name="adj" fmla="val 5737"/>
            </a:avLst>
          </a:prstGeom>
          <a:solidFill>
            <a:srgbClr val="D5F6F1"/>
          </a:solidFill>
          <a:ln w="6350">
            <a:solidFill>
              <a:srgbClr val="BBDCD7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5419193" y="4013200"/>
            <a:ext cx="5925196" cy="2804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750" b="1" dirty="0">
                <a:solidFill>
                  <a:srgbClr val="000000"/>
                </a:solidFill>
                <a:latin typeface="Noto Color Emoji" pitchFamily="34" charset="0"/>
                <a:ea typeface="Noto Color Emoji" pitchFamily="34" charset="-122"/>
                <a:cs typeface="Noto Color Emoji" pitchFamily="34" charset="-120"/>
              </a:rPr>
              <a:t>📊</a:t>
            </a:r>
            <a:r>
              <a:rPr lang="en-US" sz="175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 Риск</a:t>
            </a:r>
            <a:endParaRPr lang="en-US" sz="1750" dirty="0"/>
          </a:p>
        </p:txBody>
      </p:sp>
      <p:sp>
        <p:nvSpPr>
          <p:cNvPr id="13" name="Text 10"/>
          <p:cNvSpPr/>
          <p:nvPr/>
        </p:nvSpPr>
        <p:spPr>
          <a:xfrm>
            <a:off x="5419193" y="4395986"/>
            <a:ext cx="5925196" cy="56018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Сочетание вероятности реализации угрозы и тяжести её последствий.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5233360" y="5333901"/>
            <a:ext cx="6296860" cy="8402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Задача тестировщика — не просто зафиксировать необычное поведение, но понять, как оно влияет на защищаемые свойства системы.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880368"/>
            <a:ext cx="10868745" cy="5906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70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Три столпа защищённой информации</a:t>
            </a:r>
            <a:endParaRPr lang="en-US" sz="3700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1475" y="2113855"/>
            <a:ext cx="3504219" cy="3504307"/>
          </a:xfrm>
          <a:prstGeom prst="rect">
            <a:avLst/>
          </a:prstGeom>
        </p:spPr>
      </p:pic>
      <p:pic>
        <p:nvPicPr>
          <p:cNvPr id="4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633201" y="1967111"/>
            <a:ext cx="2175019" cy="3022898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4949205" y="2181523"/>
            <a:ext cx="1644609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Конфиденциальность</a:t>
            </a:r>
            <a:endParaRPr lang="en-US" sz="1850" dirty="0"/>
          </a:p>
        </p:txBody>
      </p:sp>
      <p:sp>
        <p:nvSpPr>
          <p:cNvPr id="6" name="Text 2"/>
          <p:cNvSpPr/>
          <p:nvPr/>
        </p:nvSpPr>
        <p:spPr>
          <a:xfrm>
            <a:off x="4949205" y="2961084"/>
            <a:ext cx="1644609" cy="151209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Данные получают только авторизованные пользователи и системы.</a:t>
            </a:r>
            <a:endParaRPr lang="en-US" sz="1450" dirty="0"/>
          </a:p>
        </p:txBody>
      </p:sp>
      <p:pic>
        <p:nvPicPr>
          <p:cNvPr id="7" name="Image 2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997227" y="1967111"/>
            <a:ext cx="2175118" cy="3022898"/>
          </a:xfrm>
          <a:prstGeom prst="rect">
            <a:avLst/>
          </a:prstGeom>
        </p:spPr>
      </p:pic>
      <p:sp>
        <p:nvSpPr>
          <p:cNvPr id="8" name="Text 3"/>
          <p:cNvSpPr/>
          <p:nvPr/>
        </p:nvSpPr>
        <p:spPr>
          <a:xfrm>
            <a:off x="7313231" y="2181523"/>
            <a:ext cx="1644708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Целостность</a:t>
            </a:r>
            <a:endParaRPr lang="en-US" sz="1850" dirty="0"/>
          </a:p>
        </p:txBody>
      </p:sp>
      <p:sp>
        <p:nvSpPr>
          <p:cNvPr id="9" name="Text 4"/>
          <p:cNvSpPr/>
          <p:nvPr/>
        </p:nvSpPr>
        <p:spPr>
          <a:xfrm>
            <a:off x="7313231" y="2961084"/>
            <a:ext cx="1644708" cy="181451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Несанкционированное изменение данных или результатов операций исключено.</a:t>
            </a:r>
            <a:endParaRPr lang="en-US" sz="1450" dirty="0"/>
          </a:p>
        </p:txBody>
      </p:sp>
      <p:pic>
        <p:nvPicPr>
          <p:cNvPr id="10" name="Image 3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361353" y="1967111"/>
            <a:ext cx="2175118" cy="3022898"/>
          </a:xfrm>
          <a:prstGeom prst="rect">
            <a:avLst/>
          </a:prstGeom>
        </p:spPr>
      </p:pic>
      <p:sp>
        <p:nvSpPr>
          <p:cNvPr id="11" name="Text 5"/>
          <p:cNvSpPr/>
          <p:nvPr/>
        </p:nvSpPr>
        <p:spPr>
          <a:xfrm>
            <a:off x="9677356" y="2181523"/>
            <a:ext cx="1644708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Доступность</a:t>
            </a:r>
            <a:endParaRPr lang="en-US" sz="1850" dirty="0"/>
          </a:p>
        </p:txBody>
      </p:sp>
      <p:sp>
        <p:nvSpPr>
          <p:cNvPr id="12" name="Text 6"/>
          <p:cNvSpPr/>
          <p:nvPr/>
        </p:nvSpPr>
        <p:spPr>
          <a:xfrm>
            <a:off x="9677356" y="2961084"/>
            <a:ext cx="1644708" cy="181451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Защитные механизмы не мешают законному использованию системы.</a:t>
            </a:r>
            <a:endParaRPr lang="en-US" sz="1450" dirty="0"/>
          </a:p>
        </p:txBody>
      </p:sp>
      <p:sp>
        <p:nvSpPr>
          <p:cNvPr id="13" name="Text 7"/>
          <p:cNvSpPr/>
          <p:nvPr/>
        </p:nvSpPr>
        <p:spPr>
          <a:xfrm>
            <a:off x="4633201" y="5202634"/>
            <a:ext cx="6903269" cy="6048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Безопасность — это баланс между защитой данных и управляемым доступом.</a:t>
            </a:r>
            <a:endParaRPr lang="en-US" sz="14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619809" y="0"/>
            <a:ext cx="4571886" cy="6858000"/>
          </a:xfrm>
          <a:prstGeom prst="rect">
            <a:avLst/>
          </a:prstGeom>
          <a:solidFill>
            <a:srgbClr val="D5F6F1"/>
          </a:solidFill>
          <a:ln/>
        </p:spPr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9501" y="500559"/>
            <a:ext cx="4392403" cy="585678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61475" y="648990"/>
            <a:ext cx="6296860" cy="112236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50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OWASP Top 10 как ориентир</a:t>
            </a:r>
            <a:endParaRPr lang="en-US" sz="3500" dirty="0"/>
          </a:p>
        </p:txBody>
      </p:sp>
      <p:sp>
        <p:nvSpPr>
          <p:cNvPr id="5" name="Text 2"/>
          <p:cNvSpPr/>
          <p:nvPr/>
        </p:nvSpPr>
        <p:spPr>
          <a:xfrm>
            <a:off x="661475" y="2197795"/>
            <a:ext cx="2929360" cy="2804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75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Что это такое</a:t>
            </a:r>
            <a:endParaRPr lang="en-US" sz="1750" dirty="0"/>
          </a:p>
        </p:txBody>
      </p:sp>
      <p:sp>
        <p:nvSpPr>
          <p:cNvPr id="6" name="Text 3"/>
          <p:cNvSpPr/>
          <p:nvPr/>
        </p:nvSpPr>
        <p:spPr>
          <a:xfrm>
            <a:off x="661475" y="2648843"/>
            <a:ext cx="2929360" cy="22407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OWASP Top 10:2025 — документ для повышения осведомлённости, определяющий наиболее значимые классы рисков веб-приложений. Это карта типичных проблем, а не готовый чек-лист.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035324" y="2197795"/>
            <a:ext cx="2929360" cy="2804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75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Важное ограничение</a:t>
            </a:r>
            <a:endParaRPr lang="en-US" sz="1750" dirty="0"/>
          </a:p>
        </p:txBody>
      </p:sp>
      <p:sp>
        <p:nvSpPr>
          <p:cNvPr id="8" name="Text 5"/>
          <p:cNvSpPr/>
          <p:nvPr/>
        </p:nvSpPr>
        <p:spPr>
          <a:xfrm>
            <a:off x="4035324" y="2648843"/>
            <a:ext cx="2929360" cy="196066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Проверка десяти категорий </a:t>
            </a:r>
            <a:r>
              <a:rPr lang="en-US" sz="1400" b="1" dirty="0">
                <a:solidFill>
                  <a:srgbClr val="000000"/>
                </a:solidFill>
                <a:latin typeface="Open Sans Bold" pitchFamily="34" charset="0"/>
                <a:ea typeface="Open Sans Bold" pitchFamily="34" charset="-122"/>
                <a:cs typeface="Open Sans Bold" pitchFamily="34" charset="-120"/>
              </a:rPr>
              <a:t>не гарантирует</a:t>
            </a:r>
            <a:r>
              <a:rPr lang="en-US" sz="140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 полную безопасность. Конкретный продукт может иметь дополнительные риски, связанные с его архитектурой и бизнес-логикой.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661475" y="5234980"/>
            <a:ext cx="6296860" cy="973931"/>
          </a:xfrm>
          <a:prstGeom prst="roundRect">
            <a:avLst>
              <a:gd name="adj" fmla="val 7744"/>
            </a:avLst>
          </a:prstGeom>
          <a:solidFill>
            <a:srgbClr val="D5F6F1"/>
          </a:solidFill>
          <a:ln/>
        </p:spPr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0957" y="5477470"/>
            <a:ext cx="224427" cy="179487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244867" y="5450384"/>
            <a:ext cx="5533986" cy="56018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Используйте OWASP как направление для анализа, а не как исчерпывающий список требований.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921643"/>
            <a:ext cx="10868745" cy="56118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50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Нарушение контроля доступа</a:t>
            </a:r>
            <a:endParaRPr lang="en-US" sz="3500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4210" y="2649041"/>
            <a:ext cx="6565736" cy="237688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16167" y="4445729"/>
            <a:ext cx="1657700" cy="20560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25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Данные раскрыты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316167" y="3729312"/>
            <a:ext cx="1644793" cy="20560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25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Нет проверки</a:t>
            </a:r>
            <a:endParaRPr lang="en-US" sz="1250" dirty="0"/>
          </a:p>
        </p:txBody>
      </p:sp>
      <p:sp>
        <p:nvSpPr>
          <p:cNvPr id="6" name="Text 3"/>
          <p:cNvSpPr/>
          <p:nvPr/>
        </p:nvSpPr>
        <p:spPr>
          <a:xfrm>
            <a:off x="1316167" y="3005585"/>
            <a:ext cx="1644793" cy="20560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25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Запрос объекта</a:t>
            </a:r>
            <a:endParaRPr lang="en-US" sz="1250" dirty="0"/>
          </a:p>
        </p:txBody>
      </p:sp>
      <p:sp>
        <p:nvSpPr>
          <p:cNvPr id="7" name="Text 4"/>
          <p:cNvSpPr/>
          <p:nvPr/>
        </p:nvSpPr>
        <p:spPr>
          <a:xfrm>
            <a:off x="8017270" y="1909266"/>
            <a:ext cx="3519201" cy="2804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75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Что проверять</a:t>
            </a:r>
            <a:endParaRPr lang="en-US" sz="1750" dirty="0"/>
          </a:p>
        </p:txBody>
      </p:sp>
      <p:sp>
        <p:nvSpPr>
          <p:cNvPr id="8" name="Text 5"/>
          <p:cNvSpPr/>
          <p:nvPr/>
        </p:nvSpPr>
        <p:spPr>
          <a:xfrm>
            <a:off x="8017270" y="2360315"/>
            <a:ext cx="3519201" cy="140047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Не наличие ролей в интерфейсе, а фактическое выполнение ограничений сервером. Пользователь может изменить номер в запросе и получить чужие данные.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8017270" y="3931345"/>
            <a:ext cx="3519201" cy="2804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75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Ключевой принцип</a:t>
            </a:r>
            <a:endParaRPr lang="en-US" sz="1750" dirty="0"/>
          </a:p>
        </p:txBody>
      </p:sp>
      <p:sp>
        <p:nvSpPr>
          <p:cNvPr id="10" name="Text 7"/>
          <p:cNvSpPr/>
          <p:nvPr/>
        </p:nvSpPr>
        <p:spPr>
          <a:xfrm>
            <a:off x="8017270" y="4382393"/>
            <a:ext cx="3519201" cy="140047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Каждая защищённая операция должна проверять разрешение для </a:t>
            </a:r>
            <a:r>
              <a:rPr lang="en-US" sz="1400" b="1" dirty="0">
                <a:solidFill>
                  <a:srgbClr val="000000"/>
                </a:solidFill>
                <a:latin typeface="Open Sans Bold" pitchFamily="34" charset="0"/>
                <a:ea typeface="Open Sans Bold" pitchFamily="34" charset="-122"/>
                <a:cs typeface="Open Sans Bold" pitchFamily="34" charset="-120"/>
              </a:rPr>
              <a:t>текущего пользователя</a:t>
            </a:r>
            <a:r>
              <a:rPr lang="en-US" sz="140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 и </a:t>
            </a:r>
            <a:r>
              <a:rPr lang="en-US" sz="1400" b="1" dirty="0">
                <a:solidFill>
                  <a:srgbClr val="000000"/>
                </a:solidFill>
                <a:latin typeface="Open Sans Bold" pitchFamily="34" charset="0"/>
                <a:ea typeface="Open Sans Bold" pitchFamily="34" charset="-122"/>
                <a:cs typeface="Open Sans Bold" pitchFamily="34" charset="-120"/>
              </a:rPr>
              <a:t>конкретного ресурса</a:t>
            </a:r>
            <a:r>
              <a:rPr lang="en-US" sz="140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 — независимо от того, что показывает интерфейс.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619809" y="0"/>
            <a:ext cx="4571886" cy="6858000"/>
          </a:xfrm>
          <a:prstGeom prst="rect">
            <a:avLst/>
          </a:prstGeom>
          <a:solidFill>
            <a:srgbClr val="D5F6F1"/>
          </a:solidFill>
          <a:ln/>
        </p:spPr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4838" y="494407"/>
            <a:ext cx="4401730" cy="586918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61475" y="698698"/>
            <a:ext cx="6296860" cy="53161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30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Injection и SQL Injection</a:t>
            </a:r>
            <a:endParaRPr lang="en-US" sz="3300" dirty="0"/>
          </a:p>
        </p:txBody>
      </p:sp>
      <p:sp>
        <p:nvSpPr>
          <p:cNvPr id="5" name="Text 2"/>
          <p:cNvSpPr/>
          <p:nvPr/>
        </p:nvSpPr>
        <p:spPr>
          <a:xfrm>
            <a:off x="661475" y="1459905"/>
            <a:ext cx="6296860" cy="7756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7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Injection возникает, когда приложение смешивает пользовательские данные с командами, которые интерпретирует другая система. Введённая информация перестаёт быть просто данными.</a:t>
            </a:r>
            <a:endParaRPr lang="en-US" sz="1300" dirty="0"/>
          </a:p>
        </p:txBody>
      </p:sp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1475" y="2407841"/>
            <a:ext cx="850581" cy="1020663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1665147" y="2577902"/>
            <a:ext cx="5293188" cy="26570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65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Пользователь вводит данные</a:t>
            </a:r>
            <a:endParaRPr lang="en-US" sz="1650" dirty="0"/>
          </a:p>
        </p:txBody>
      </p:sp>
      <p:sp>
        <p:nvSpPr>
          <p:cNvPr id="8" name="Text 4"/>
          <p:cNvSpPr/>
          <p:nvPr/>
        </p:nvSpPr>
        <p:spPr>
          <a:xfrm>
            <a:off x="1665147" y="2935387"/>
            <a:ext cx="5293188" cy="25856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7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Текст попадает в поле формы или параметр запроса.</a:t>
            </a:r>
            <a:endParaRPr lang="en-US" sz="1300" dirty="0"/>
          </a:p>
        </p:txBody>
      </p:sp>
      <p:pic>
        <p:nvPicPr>
          <p:cNvPr id="9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1475" y="3428504"/>
            <a:ext cx="850581" cy="1020663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1665147" y="3598565"/>
            <a:ext cx="5293188" cy="26570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65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Данные смешиваются с командой</a:t>
            </a:r>
            <a:endParaRPr lang="en-US" sz="1650" dirty="0"/>
          </a:p>
        </p:txBody>
      </p:sp>
      <p:sp>
        <p:nvSpPr>
          <p:cNvPr id="11" name="Text 6"/>
          <p:cNvSpPr/>
          <p:nvPr/>
        </p:nvSpPr>
        <p:spPr>
          <a:xfrm>
            <a:off x="1665147" y="3956050"/>
            <a:ext cx="5293188" cy="25856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7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Часть ввода воспринимается СУБД как элемент SQL-запроса.</a:t>
            </a:r>
            <a:endParaRPr lang="en-US" sz="1300" dirty="0"/>
          </a:p>
        </p:txBody>
      </p:sp>
      <p:pic>
        <p:nvPicPr>
          <p:cNvPr id="12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1475" y="4449167"/>
            <a:ext cx="850581" cy="1020663"/>
          </a:xfrm>
          <a:prstGeom prst="rect">
            <a:avLst/>
          </a:prstGeom>
        </p:spPr>
      </p:pic>
      <p:sp>
        <p:nvSpPr>
          <p:cNvPr id="13" name="Text 7"/>
          <p:cNvSpPr/>
          <p:nvPr/>
        </p:nvSpPr>
        <p:spPr>
          <a:xfrm>
            <a:off x="1665147" y="4619228"/>
            <a:ext cx="5293188" cy="26570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65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Смысл операции изменён</a:t>
            </a:r>
            <a:endParaRPr lang="en-US" sz="1650" dirty="0"/>
          </a:p>
        </p:txBody>
      </p:sp>
      <p:sp>
        <p:nvSpPr>
          <p:cNvPr id="14" name="Text 8"/>
          <p:cNvSpPr/>
          <p:nvPr/>
        </p:nvSpPr>
        <p:spPr>
          <a:xfrm>
            <a:off x="1665147" y="4976713"/>
            <a:ext cx="5293188" cy="25856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7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Атакующий получает доступ к данным или управляет базой.</a:t>
            </a:r>
            <a:endParaRPr lang="en-US" sz="1300" dirty="0"/>
          </a:p>
        </p:txBody>
      </p:sp>
      <p:sp>
        <p:nvSpPr>
          <p:cNvPr id="15" name="Text 9"/>
          <p:cNvSpPr/>
          <p:nvPr/>
        </p:nvSpPr>
        <p:spPr>
          <a:xfrm>
            <a:off x="661475" y="5642074"/>
            <a:ext cx="6296860" cy="5171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7000"/>
              </a:lnSpc>
              <a:buNone/>
            </a:pPr>
            <a:r>
              <a:rPr lang="en-US" sz="1300" b="1" dirty="0">
                <a:solidFill>
                  <a:srgbClr val="000000"/>
                </a:solidFill>
                <a:latin typeface="Open Sans Bold" pitchFamily="34" charset="0"/>
                <a:ea typeface="Open Sans Bold" pitchFamily="34" charset="-122"/>
                <a:cs typeface="Open Sans Bold" pitchFamily="34" charset="-120"/>
              </a:rPr>
              <a:t>Защита:</a:t>
            </a:r>
            <a:r>
              <a:rPr lang="en-US" sz="130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 параметризованные запросы — структура SQL отделяется от пользовательских значений.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1027113"/>
            <a:ext cx="10868745" cy="5906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70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Cross-Site Scripting (XSS)</a:t>
            </a:r>
            <a:endParaRPr lang="en-US" sz="3700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1475" y="2113855"/>
            <a:ext cx="3504219" cy="3504307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633201" y="2238177"/>
            <a:ext cx="6903269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Как это работает</a:t>
            </a:r>
            <a:endParaRPr lang="en-US" sz="1850" dirty="0"/>
          </a:p>
        </p:txBody>
      </p:sp>
      <p:sp>
        <p:nvSpPr>
          <p:cNvPr id="5" name="Text 2"/>
          <p:cNvSpPr/>
          <p:nvPr/>
        </p:nvSpPr>
        <p:spPr>
          <a:xfrm>
            <a:off x="4633201" y="2722463"/>
            <a:ext cx="6903269" cy="12096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Браузер интерпретирует HTML и JavaScript. Если приложение выводит пользовательский текст без корректной обработки, специальные конструкции могут изменить структуру страницы или запустить сценарий.</a:t>
            </a:r>
            <a:endParaRPr lang="en-US" sz="1450" dirty="0"/>
          </a:p>
        </p:txBody>
      </p:sp>
      <p:sp>
        <p:nvSpPr>
          <p:cNvPr id="6" name="Text 3"/>
          <p:cNvSpPr/>
          <p:nvPr/>
        </p:nvSpPr>
        <p:spPr>
          <a:xfrm>
            <a:off x="4633201" y="4121150"/>
            <a:ext cx="6903269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Где искать при тестировании</a:t>
            </a:r>
            <a:endParaRPr lang="en-US" sz="1850" dirty="0"/>
          </a:p>
        </p:txBody>
      </p:sp>
      <p:sp>
        <p:nvSpPr>
          <p:cNvPr id="7" name="Text 4"/>
          <p:cNvSpPr/>
          <p:nvPr/>
        </p:nvSpPr>
        <p:spPr>
          <a:xfrm>
            <a:off x="4633201" y="4605437"/>
            <a:ext cx="6903269" cy="9072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Проверяйте точки, где введённые данные </a:t>
            </a:r>
            <a:r>
              <a:rPr lang="en-US" sz="1450" b="1" dirty="0">
                <a:solidFill>
                  <a:srgbClr val="000000"/>
                </a:solidFill>
                <a:latin typeface="Open Sans Bold" pitchFamily="34" charset="0"/>
                <a:ea typeface="Open Sans Bold" pitchFamily="34" charset="-122"/>
                <a:cs typeface="Open Sans Bold" pitchFamily="34" charset="-120"/>
              </a:rPr>
              <a:t>отображаются в браузере</a:t>
            </a:r>
            <a:r>
              <a:rPr lang="en-US" sz="145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 — особенно если они сохраняются и показываются другим пользователям. Это наиболее опасный сценарий.</a:t>
            </a:r>
            <a:endParaRPr lang="en-US" sz="14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1781076"/>
            <a:ext cx="10868745" cy="5906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70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Обработка пользовательского ввода</a:t>
            </a:r>
            <a:endParaRPr lang="en-US" sz="3700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61475" y="2749748"/>
            <a:ext cx="472468" cy="47248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61475" y="3458468"/>
            <a:ext cx="3465426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Каналы ввода</a:t>
            </a:r>
            <a:endParaRPr lang="en-US" sz="1850" dirty="0"/>
          </a:p>
        </p:txBody>
      </p:sp>
      <p:sp>
        <p:nvSpPr>
          <p:cNvPr id="5" name="Text 2"/>
          <p:cNvSpPr/>
          <p:nvPr/>
        </p:nvSpPr>
        <p:spPr>
          <a:xfrm>
            <a:off x="661475" y="3867150"/>
            <a:ext cx="3465426" cy="12096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Параметры запроса, заголовки, загруженные файлы, URL, cookie — всё это потенциально недоверенные данные.</a:t>
            </a:r>
            <a:endParaRPr lang="en-US" sz="1450" dirty="0"/>
          </a:p>
        </p:txBody>
      </p:sp>
      <p:pic>
        <p:nvPicPr>
          <p:cNvPr id="6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363135" y="2749748"/>
            <a:ext cx="472468" cy="47248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4363135" y="3458468"/>
            <a:ext cx="3465426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Где проверять</a:t>
            </a:r>
            <a:endParaRPr lang="en-US" sz="1850" dirty="0"/>
          </a:p>
        </p:txBody>
      </p:sp>
      <p:sp>
        <p:nvSpPr>
          <p:cNvPr id="8" name="Text 4"/>
          <p:cNvSpPr/>
          <p:nvPr/>
        </p:nvSpPr>
        <p:spPr>
          <a:xfrm>
            <a:off x="4363135" y="3867150"/>
            <a:ext cx="3465426" cy="12096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Только на сервере. Ограничение средствами браузера недостаточно — запрос можно сформировать без стандартной формы.</a:t>
            </a:r>
            <a:endParaRPr lang="en-US" sz="1450" dirty="0"/>
          </a:p>
        </p:txBody>
      </p:sp>
      <p:pic>
        <p:nvPicPr>
          <p:cNvPr id="9" name="Image 2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064794" y="2749748"/>
            <a:ext cx="472468" cy="472480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8064794" y="3458468"/>
            <a:ext cx="3465426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Валидация vs. защита</a:t>
            </a:r>
            <a:endParaRPr lang="en-US" sz="1850" dirty="0"/>
          </a:p>
        </p:txBody>
      </p:sp>
      <p:sp>
        <p:nvSpPr>
          <p:cNvPr id="11" name="Text 6"/>
          <p:cNvSpPr/>
          <p:nvPr/>
        </p:nvSpPr>
        <p:spPr>
          <a:xfrm>
            <a:off x="8064794" y="3867150"/>
            <a:ext cx="3465426" cy="12096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Это разные задачи. Способ защиты зависит от того, куда передаются данные и как они там интерпретируются.</a:t>
            </a:r>
            <a:endParaRPr lang="en-US" sz="14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571886" cy="6858000"/>
          </a:xfrm>
          <a:prstGeom prst="rect">
            <a:avLst/>
          </a:prstGeom>
          <a:solidFill>
            <a:srgbClr val="D5F6F1"/>
          </a:solidFill>
          <a:ln/>
        </p:spPr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603" y="481806"/>
            <a:ext cx="4420680" cy="589438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5233360" y="664567"/>
            <a:ext cx="6296860" cy="94495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95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Аутентификация, сессия и защита учётной записи</a:t>
            </a:r>
            <a:endParaRPr lang="en-US" sz="2950" dirty="0"/>
          </a:p>
        </p:txBody>
      </p:sp>
      <p:sp>
        <p:nvSpPr>
          <p:cNvPr id="5" name="Text 2"/>
          <p:cNvSpPr/>
          <p:nvPr/>
        </p:nvSpPr>
        <p:spPr>
          <a:xfrm>
            <a:off x="5233360" y="1790898"/>
            <a:ext cx="6296860" cy="65305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15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После входа приложение поддерживает состояние пользовательской сессии. Ошибка в управлении этим состоянием может позволить постороннему получить доступ к чужой сессии.</a:t>
            </a:r>
            <a:endParaRPr lang="en-US" sz="1150" dirty="0"/>
          </a:p>
        </p:txBody>
      </p:sp>
      <p:pic>
        <p:nvPicPr>
          <p:cNvPr id="6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233360" y="2579985"/>
            <a:ext cx="3087908" cy="1973163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6686581" y="2693392"/>
            <a:ext cx="181367" cy="226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1</a:t>
            </a:r>
            <a:endParaRPr lang="en-US" sz="1400" dirty="0"/>
          </a:p>
        </p:txBody>
      </p:sp>
      <p:sp>
        <p:nvSpPr>
          <p:cNvPr id="8" name="Text 4"/>
          <p:cNvSpPr/>
          <p:nvPr/>
        </p:nvSpPr>
        <p:spPr>
          <a:xfrm>
            <a:off x="5403616" y="3184823"/>
            <a:ext cx="2747398" cy="2362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45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Завершение сессии</a:t>
            </a:r>
            <a:endParaRPr lang="en-US" sz="1450" dirty="0"/>
          </a:p>
        </p:txBody>
      </p:sp>
      <p:sp>
        <p:nvSpPr>
          <p:cNvPr id="9" name="Text 5"/>
          <p:cNvSpPr/>
          <p:nvPr/>
        </p:nvSpPr>
        <p:spPr>
          <a:xfrm>
            <a:off x="5403616" y="3493591"/>
            <a:ext cx="2747398" cy="4353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15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Старое состояние не должно давать доступ после выхода из системы.</a:t>
            </a:r>
            <a:endParaRPr lang="en-US" sz="1150" dirty="0"/>
          </a:p>
        </p:txBody>
      </p:sp>
      <p:pic>
        <p:nvPicPr>
          <p:cNvPr id="10" name="Image 2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442213" y="2579985"/>
            <a:ext cx="3088007" cy="1973163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9895533" y="2693392"/>
            <a:ext cx="181367" cy="226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Text 7"/>
          <p:cNvSpPr/>
          <p:nvPr/>
        </p:nvSpPr>
        <p:spPr>
          <a:xfrm>
            <a:off x="8612468" y="3184823"/>
            <a:ext cx="2747497" cy="472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45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Изменение учётной записи</a:t>
            </a:r>
            <a:endParaRPr lang="en-US" sz="1450" dirty="0"/>
          </a:p>
        </p:txBody>
      </p:sp>
      <p:sp>
        <p:nvSpPr>
          <p:cNvPr id="13" name="Text 8"/>
          <p:cNvSpPr/>
          <p:nvPr/>
        </p:nvSpPr>
        <p:spPr>
          <a:xfrm>
            <a:off x="8612468" y="3729831"/>
            <a:ext cx="2747497" cy="65305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15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Смена пароля или email должна аннулировать прежние механизмы доступа.</a:t>
            </a:r>
            <a:endParaRPr lang="en-US" sz="1150" dirty="0"/>
          </a:p>
        </p:txBody>
      </p:sp>
      <p:pic>
        <p:nvPicPr>
          <p:cNvPr id="14" name="Image 3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233360" y="4674096"/>
            <a:ext cx="6296860" cy="1519238"/>
          </a:xfrm>
          <a:prstGeom prst="rect">
            <a:avLst/>
          </a:prstGeom>
        </p:spPr>
      </p:pic>
      <p:sp>
        <p:nvSpPr>
          <p:cNvPr id="15" name="Text 9"/>
          <p:cNvSpPr/>
          <p:nvPr/>
        </p:nvSpPr>
        <p:spPr>
          <a:xfrm>
            <a:off x="8291107" y="4787503"/>
            <a:ext cx="181367" cy="226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3</a:t>
            </a:r>
            <a:endParaRPr lang="en-US" sz="1400" dirty="0"/>
          </a:p>
        </p:txBody>
      </p:sp>
      <p:sp>
        <p:nvSpPr>
          <p:cNvPr id="16" name="Text 10"/>
          <p:cNvSpPr/>
          <p:nvPr/>
        </p:nvSpPr>
        <p:spPr>
          <a:xfrm>
            <a:off x="5403616" y="5278934"/>
            <a:ext cx="5956349" cy="2362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45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Весь жизненный цикл</a:t>
            </a:r>
            <a:endParaRPr lang="en-US" sz="1450" dirty="0"/>
          </a:p>
        </p:txBody>
      </p:sp>
      <p:sp>
        <p:nvSpPr>
          <p:cNvPr id="17" name="Text 11"/>
          <p:cNvSpPr/>
          <p:nvPr/>
        </p:nvSpPr>
        <p:spPr>
          <a:xfrm>
            <a:off x="5403616" y="5587702"/>
            <a:ext cx="5956349" cy="4353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15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Безопасность проявляется на протяжении всей сессии, а не только в момент входа.</a:t>
            </a:r>
            <a:endParaRPr lang="en-US" sz="11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728563"/>
            <a:ext cx="10868745" cy="118129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70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Организация тестирования безопасности</a:t>
            </a:r>
            <a:endParaRPr lang="en-US" sz="3700" dirty="0"/>
          </a:p>
        </p:txBody>
      </p:sp>
      <p:sp>
        <p:nvSpPr>
          <p:cNvPr id="3" name="Text 1"/>
          <p:cNvSpPr/>
          <p:nvPr/>
        </p:nvSpPr>
        <p:spPr>
          <a:xfrm>
            <a:off x="661475" y="2382341"/>
            <a:ext cx="5203794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Правила проведения</a:t>
            </a:r>
            <a:endParaRPr lang="en-US" sz="1850" dirty="0"/>
          </a:p>
        </p:txBody>
      </p:sp>
      <p:sp>
        <p:nvSpPr>
          <p:cNvPr id="4" name="Text 2"/>
          <p:cNvSpPr/>
          <p:nvPr/>
        </p:nvSpPr>
        <p:spPr>
          <a:xfrm>
            <a:off x="661475" y="2866628"/>
            <a:ext cx="5203794" cy="12096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Тестирование — только в разрешённой среде и в пределах согласованного объёма. Некоторые проверки создают некорректные запросы, способные повлиять на реальные данные промышленной системы.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661475" y="4265315"/>
            <a:ext cx="5203794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Как оформлять находки</a:t>
            </a:r>
            <a:endParaRPr lang="en-US" sz="1850" dirty="0"/>
          </a:p>
        </p:txBody>
      </p:sp>
      <p:sp>
        <p:nvSpPr>
          <p:cNvPr id="6" name="Text 4"/>
          <p:cNvSpPr/>
          <p:nvPr/>
        </p:nvSpPr>
        <p:spPr>
          <a:xfrm>
            <a:off x="661475" y="4749602"/>
            <a:ext cx="5203794" cy="12096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Фиксируйте конкретное условие, наблюдаемое поведение и возможное последствие. Отчёт должен содержать ровно столько деталей, сколько нужно разработчику для воспроизведения и исправления.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6196651" y="2193330"/>
            <a:ext cx="5476043" cy="3936008"/>
          </a:xfrm>
          <a:prstGeom prst="roundRect">
            <a:avLst>
              <a:gd name="adj" fmla="val 3458"/>
            </a:avLst>
          </a:prstGeom>
          <a:solidFill>
            <a:srgbClr val="27B29F"/>
          </a:solidFill>
          <a:ln/>
        </p:spPr>
      </p:sp>
      <p:sp>
        <p:nvSpPr>
          <p:cNvPr id="8" name="Text 6"/>
          <p:cNvSpPr/>
          <p:nvPr/>
        </p:nvSpPr>
        <p:spPr>
          <a:xfrm>
            <a:off x="6385658" y="2382341"/>
            <a:ext cx="5098029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Главная задача</a:t>
            </a:r>
            <a:endParaRPr lang="en-US" sz="1850" dirty="0"/>
          </a:p>
        </p:txBody>
      </p:sp>
      <p:sp>
        <p:nvSpPr>
          <p:cNvPr id="9" name="Text 7"/>
          <p:cNvSpPr/>
          <p:nvPr/>
        </p:nvSpPr>
        <p:spPr>
          <a:xfrm>
            <a:off x="6385658" y="2866628"/>
            <a:ext cx="5098029" cy="9072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Обнаружить слабые места </a:t>
            </a:r>
            <a:r>
              <a:rPr lang="en-US" sz="1450" b="1" dirty="0">
                <a:solidFill>
                  <a:srgbClr val="000000"/>
                </a:solidFill>
                <a:latin typeface="Open Sans Bold" pitchFamily="34" charset="0"/>
                <a:ea typeface="Open Sans Bold" pitchFamily="34" charset="-122"/>
                <a:cs typeface="Open Sans Bold" pitchFamily="34" charset="-120"/>
              </a:rPr>
              <a:t>до реальной эксплуатации</a:t>
            </a:r>
            <a:r>
              <a:rPr lang="en-US" sz="145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 — проверив границы доверия и правильность защитных ограничений.</a:t>
            </a:r>
            <a:endParaRPr lang="en-US" sz="1450" dirty="0"/>
          </a:p>
        </p:txBody>
      </p:sp>
      <p:sp>
        <p:nvSpPr>
          <p:cNvPr id="10" name="Shape 8"/>
          <p:cNvSpPr/>
          <p:nvPr/>
        </p:nvSpPr>
        <p:spPr>
          <a:xfrm>
            <a:off x="6385658" y="4033738"/>
            <a:ext cx="5098029" cy="25400"/>
          </a:xfrm>
          <a:prstGeom prst="roundRect">
            <a:avLst>
              <a:gd name="adj" fmla="val 49999"/>
            </a:avLst>
          </a:prstGeom>
          <a:solidFill>
            <a:srgbClr val="000000">
              <a:alpha val="50000"/>
            </a:srgbClr>
          </a:solidFill>
          <a:ln/>
        </p:spPr>
      </p:sp>
      <p:sp>
        <p:nvSpPr>
          <p:cNvPr id="11" name="Text 9"/>
          <p:cNvSpPr/>
          <p:nvPr/>
        </p:nvSpPr>
        <p:spPr>
          <a:xfrm>
            <a:off x="6385658" y="4318992"/>
            <a:ext cx="5098029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Запомните</a:t>
            </a:r>
            <a:endParaRPr lang="en-US" sz="1850" dirty="0"/>
          </a:p>
        </p:txBody>
      </p:sp>
      <p:sp>
        <p:nvSpPr>
          <p:cNvPr id="12" name="Text 10"/>
          <p:cNvSpPr/>
          <p:nvPr/>
        </p:nvSpPr>
        <p:spPr>
          <a:xfrm>
            <a:off x="6385658" y="4803279"/>
            <a:ext cx="5098029" cy="6048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Тестировщик безопасности думает как атакующий, но действует в интересах защиты.</a:t>
            </a:r>
            <a:endParaRPr lang="en-US" sz="14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18</TotalTime>
  <Words>691</Words>
  <Application>Microsoft Office PowerPoint</Application>
  <PresentationFormat>Широкоэкранный</PresentationFormat>
  <Paragraphs>87</Paragraphs>
  <Slides>10</Slides>
  <Notes>10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5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10</vt:i4>
      </vt:variant>
    </vt:vector>
  </HeadingPairs>
  <TitlesOfParts>
    <vt:vector size="16" baseType="lpstr">
      <vt:lpstr>Montserrat Bold</vt:lpstr>
      <vt:lpstr>Noto Color Emoji</vt:lpstr>
      <vt:lpstr>Open Sans Bold</vt:lpstr>
      <vt:lpstr>Arial</vt:lpstr>
      <vt:lpstr>Open Sans</vt:lpstr>
      <vt:lpstr>Office Theme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lastModifiedBy>Ефимов Матвей Александрович</cp:lastModifiedBy>
  <cp:revision>2</cp:revision>
  <dcterms:created xsi:type="dcterms:W3CDTF">2026-10-05T12:44:26Z</dcterms:created>
  <dcterms:modified xsi:type="dcterms:W3CDTF">2026-10-05T13:04:23Z</dcterms:modified>
</cp:coreProperties>
</file>