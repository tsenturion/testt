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4521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326257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Итоговый отчёт о тестировании: зачем он нужен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381673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Summary Report — это не список всех тест-кейсов. Это документ, который собирает результаты тестирования в единую картину и отвечает на главный вопрос команды и руководства: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944936" y="4714180"/>
            <a:ext cx="601339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мы узнали о продукте за время тестирования — и насколько мы уверены в его готовности к выпуску?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1475" y="4501555"/>
            <a:ext cx="25399" cy="1030089"/>
          </a:xfrm>
          <a:prstGeom prst="roundRect">
            <a:avLst>
              <a:gd name="adj" fmla="val 50001"/>
            </a:avLst>
          </a:prstGeom>
          <a:solidFill>
            <a:srgbClr val="27B2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1777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входит в итоговый отчёт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276152"/>
            <a:ext cx="10868745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6356" y="1587996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1406291" y="1446411"/>
            <a:ext cx="99536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Контекст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406291" y="1755180"/>
            <a:ext cx="995367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Какая версия тестировалась и какой объём функциональности проверялся</a:t>
            </a:r>
            <a:endParaRPr lang="en-US" sz="11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304355"/>
            <a:ext cx="10868745" cy="9072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6356" y="2616200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1406291" y="2474615"/>
            <a:ext cx="99536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Результаты проверок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406291" y="2783384"/>
            <a:ext cx="995367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Сколько тестов выполнено, прошло успешно, заблокировано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332559"/>
            <a:ext cx="10868745" cy="9072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6356" y="3644404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1406291" y="3502819"/>
            <a:ext cx="99536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Состояние дефектов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406291" y="3811588"/>
            <a:ext cx="995367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Сколько проблем найдено, исправлено и остаётся открытыми</a:t>
            </a:r>
            <a:endParaRPr lang="en-US" sz="11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360763"/>
            <a:ext cx="10868745" cy="9072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6356" y="467260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1750" dirty="0"/>
          </a:p>
        </p:txBody>
      </p:sp>
      <p:sp>
        <p:nvSpPr>
          <p:cNvPr id="17" name="Text 11"/>
          <p:cNvSpPr/>
          <p:nvPr/>
        </p:nvSpPr>
        <p:spPr>
          <a:xfrm>
            <a:off x="1406291" y="4531023"/>
            <a:ext cx="99536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Ограничения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1406291" y="4839791"/>
            <a:ext cx="995367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Какие области не удалось проверить и почему</a:t>
            </a:r>
            <a:endParaRPr lang="en-US" sz="11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5388967"/>
            <a:ext cx="10868745" cy="9072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66356" y="5700812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1750" dirty="0"/>
          </a:p>
        </p:txBody>
      </p:sp>
      <p:sp>
        <p:nvSpPr>
          <p:cNvPr id="21" name="Text 14"/>
          <p:cNvSpPr/>
          <p:nvPr/>
        </p:nvSpPr>
        <p:spPr>
          <a:xfrm>
            <a:off x="1406291" y="5559227"/>
            <a:ext cx="995367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Метрики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406291" y="5867995"/>
            <a:ext cx="9953674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Числовые показатели для объективной оценки результатов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3771" y="0"/>
            <a:ext cx="3047924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3463" y="1516559"/>
            <a:ext cx="2868442" cy="3824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63699"/>
            <a:ext cx="7820822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Результаты выполнения тестов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661475" y="1872655"/>
            <a:ext cx="3691341" cy="1102816"/>
          </a:xfrm>
          <a:prstGeom prst="roundRect">
            <a:avLst>
              <a:gd name="adj" fmla="val 683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7307" y="2058491"/>
            <a:ext cx="3319677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Успешные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47307" y="2509540"/>
            <a:ext cx="3319677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Поведение соответствует ожиданиям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61475" y="3146028"/>
            <a:ext cx="3691341" cy="1102816"/>
          </a:xfrm>
          <a:prstGeom prst="roundRect">
            <a:avLst>
              <a:gd name="adj" fmla="val 683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7307" y="3331865"/>
            <a:ext cx="3319677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Неудачные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47307" y="3782913"/>
            <a:ext cx="3319677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Обнаружены проблемы в продукте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61475" y="4419402"/>
            <a:ext cx="3691341" cy="1382911"/>
          </a:xfrm>
          <a:prstGeom prst="roundRect">
            <a:avLst>
              <a:gd name="adj" fmla="val 545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7307" y="4605238"/>
            <a:ext cx="3319677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⛔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Заблокированные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847307" y="5056287"/>
            <a:ext cx="3319677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Результат неизвестен — тест не удалось выполнить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797305" y="1872655"/>
            <a:ext cx="3691341" cy="1797149"/>
          </a:xfrm>
          <a:prstGeom prst="roundRect">
            <a:avLst>
              <a:gd name="adj" fmla="val 4197"/>
            </a:avLst>
          </a:prstGeom>
          <a:solidFill>
            <a:srgbClr val="FCF2B5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787" y="2140545"/>
            <a:ext cx="224427" cy="1794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80697" y="2070993"/>
            <a:ext cx="2928467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Высокий процент успешных тестов выглядит хорошо — но если оставшиеся 2% относятся к критичной функции, это меняет всю картину.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797305" y="3861693"/>
            <a:ext cx="3691341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Важно не просто считать количество тестов, а понимать,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что именно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они проверяли и насколько это важно для продукта.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2944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Состояние дефектов в отчёте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79" y="1562894"/>
            <a:ext cx="3180774" cy="31808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7029" y="2894707"/>
            <a:ext cx="6919442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Количество найденных дефектов — это только часть информации. Главное — понять,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какие проблемы остаются в продукте прямо сейчас.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5271" y="5093444"/>
            <a:ext cx="255085" cy="25509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14209" y="5088235"/>
            <a:ext cx="2942655" cy="531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Исправлено и подтверждено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1214209" y="5711428"/>
            <a:ext cx="2942655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Дефекты, прошедшие повторное тестирование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11949" y="5093444"/>
            <a:ext cx="255085" cy="25509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900887" y="5088235"/>
            <a:ext cx="2942655" cy="531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Открытые перед выпуском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4900887" y="5711428"/>
            <a:ext cx="2942655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Проблемы, которые ещё не устранены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27" y="5093444"/>
            <a:ext cx="255085" cy="25509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87565" y="5088235"/>
            <a:ext cx="2942655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Серьёзность оставшихся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587565" y="5445720"/>
            <a:ext cx="294265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Несколько критичных дефектов важнее десятков мелких замечаний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97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метрики тестирования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2491680"/>
            <a:ext cx="5226911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Метрика — это числовой показатель, который помогает измерить результаты тестирования. Вместо субъективного «мы проверили достаточно» метрики дают конкретные данные.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698180"/>
            <a:ext cx="5226911" cy="1394619"/>
          </a:xfrm>
          <a:prstGeom prst="roundRect">
            <a:avLst>
              <a:gd name="adj" fmla="val 5123"/>
            </a:avLst>
          </a:prstGeom>
          <a:solidFill>
            <a:srgbClr val="D5F6F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532" y="3935413"/>
            <a:ext cx="212620" cy="1700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4209" y="3878362"/>
            <a:ext cx="4504121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Каждая метрика отражает только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один аспект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Ни одна цифра самостоятельно не показывает абсолютное качество системы — всегда нужен контекст.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994" y="1457424"/>
            <a:ext cx="4704141" cy="47042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2537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Покрытие требований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1499493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Эта метрика показывает,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какая доля требований связана с тестами.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Например: 100 требований, для 90 из них есть проверки — покрытие 90%.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61475" y="2619375"/>
            <a:ext cx="6296860" cy="2795786"/>
          </a:xfrm>
          <a:prstGeom prst="roundRect">
            <a:avLst>
              <a:gd name="adj" fmla="val 284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825" y="2625725"/>
            <a:ext cx="6284160" cy="1391543"/>
          </a:xfrm>
          <a:custGeom>
            <a:avLst/>
            <a:gdLst/>
            <a:ahLst/>
            <a:cxnLst/>
            <a:rect l="l" t="t" r="r" b="b"/>
            <a:pathLst>
              <a:path w="6284160" h="1391543">
                <a:moveTo>
                  <a:pt x="66156" y="0"/>
                </a:moveTo>
                <a:lnTo>
                  <a:pt x="6218004" y="0"/>
                </a:lnTo>
                <a:arcTo wR="66156" hR="66158" stAng="16200000" swAng="5400000"/>
                <a:lnTo>
                  <a:pt x="6284160" y="1391543"/>
                </a:lnTo>
                <a:lnTo>
                  <a:pt x="0" y="1391543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856832" y="2814737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Вариант А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856832" y="3223419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Для требования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существует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тест-кейс — формально оно «покрыто»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67825" y="4017268"/>
            <a:ext cx="6284160" cy="1391543"/>
          </a:xfrm>
          <a:custGeom>
            <a:avLst/>
            <a:gdLst/>
            <a:ahLst/>
            <a:cxnLst/>
            <a:rect l="l" t="t" r="r" b="b"/>
            <a:pathLst>
              <a:path w="6284160" h="1391543">
                <a:moveTo>
                  <a:pt x="0" y="0"/>
                </a:moveTo>
                <a:lnTo>
                  <a:pt x="6284160" y="0"/>
                </a:lnTo>
                <a:lnTo>
                  <a:pt x="6284160" y="1325385"/>
                </a:lnTo>
                <a:arcTo wR="66156" hR="66158" stAng="0" swAng="5400000"/>
                <a:lnTo>
                  <a:pt x="66156" y="1391543"/>
                </a:lnTo>
                <a:arcTo wR="66156" hR="66158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667825" y="4017268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856832" y="4206280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Вариант Б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4614962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 для требования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фактически выполнен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реальное покрытие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5627787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чёткого определения одна и та же цифра может означать совершенно разные состояния.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151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читать покрытие требований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38462"/>
            <a:ext cx="6903269" cy="34550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2583" y="3623773"/>
            <a:ext cx="1296490" cy="38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Поверхностное покрытие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243862" y="5299382"/>
            <a:ext cx="1741620" cy="193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Низкая уверенность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230250" y="3623773"/>
            <a:ext cx="1296490" cy="38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Глубина тестирования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181473" y="2280269"/>
            <a:ext cx="1858640" cy="193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Высокая уверенность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95940" y="4453927"/>
            <a:ext cx="1330971" cy="465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Недостаточная проверка сценариев, риск дефектов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23439" y="4538407"/>
            <a:ext cx="1330972" cy="310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Надёжная валидация критических случаев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23439" y="3107405"/>
            <a:ext cx="1330972" cy="620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 покрытие (содержательное) — глубокие ключевые сценарии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554563" y="3107405"/>
            <a:ext cx="1330971" cy="620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 покрытие (формальное) — один тест на требование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032251" y="1784648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метрика говорит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032251" y="2268934"/>
            <a:ext cx="350421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Высокое покрытие полезно для поиска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пробелов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если требование вообще не связано с проверками — это сигнал для анализа.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032251" y="3667621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Чего метрика не говорит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8032251" y="4151908"/>
            <a:ext cx="350421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Значение 100% не означает, что тесты качественные. Только то, что явных пропусков нет. Один поверхностный тест на требование — это формально покрытие, но не гарантия качества.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4319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Плотность дефектов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11871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Плотность дефектов показывает количество найденных проблем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относительно размера продукта.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Это позволяет сравнивать разные части системы справедливо.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023791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20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661475" y="3883720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Маленький модуль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61475" y="4292402"/>
            <a:ext cx="53162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дефектов в небольшом компоненте — высокая плотность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213915" y="3023791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25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6213915" y="3883720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Большой модуль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213915" y="4292402"/>
            <a:ext cx="53163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 дефектов в крупном компоненте — относительно низкая плотность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1475" y="5109865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Размер может измеряться по-разному: строки кода, количество функций, размер компонента. Перед сравнением важно знать,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какая единица использовалась.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20911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интерпретировать плотность дефектов</a:t>
            </a:r>
            <a:endParaRPr lang="en-US" sz="3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913731"/>
            <a:ext cx="6296860" cy="125283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26779" y="2102842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Высокая плотность = проблемная область?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926779" y="2460327"/>
            <a:ext cx="5842449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обязательно. Количество найденных дефектов зависит и от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интенсивности тестирования.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Больше тестов — больше находок.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319661"/>
            <a:ext cx="6296860" cy="151139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26779" y="3508772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Разная глубина проверки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926779" y="3866257"/>
            <a:ext cx="584244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один модуль тестировался несколько недель разными способами, а другой получил только базовую проверку — разница в дефектах отражает глубину проверки, а не качество кода.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984155"/>
            <a:ext cx="6296860" cy="125283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26779" y="5173266"/>
            <a:ext cx="5842449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Когда метрика наиболее полезна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926779" y="5530751"/>
            <a:ext cx="5842449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 сравнении одного компонента в разных релизах или разных компонентов в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одинаковых условиях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тестирования.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8" y="469106"/>
            <a:ext cx="4439730" cy="59197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93241"/>
            <a:ext cx="6296860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Как использовать отчёт и метрики на практике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233360" y="1659037"/>
            <a:ext cx="6296860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 Summary Report объединяет фактические результаты в одну картину: объём проверок, значимые результаты, состояние дефектов, ограничения и метрики.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233360" y="2123182"/>
            <a:ext cx="6296860" cy="719435"/>
          </a:xfrm>
          <a:prstGeom prst="roundRect">
            <a:avLst>
              <a:gd name="adj" fmla="val 772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71966" y="2261791"/>
            <a:ext cx="60196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было проверено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71966" y="2524026"/>
            <a:ext cx="60196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Объём и охват тестирования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233360" y="2935188"/>
            <a:ext cx="6296860" cy="719435"/>
          </a:xfrm>
          <a:prstGeom prst="roundRect">
            <a:avLst>
              <a:gd name="adj" fmla="val 772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71966" y="3073797"/>
            <a:ext cx="60196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обнаружено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71966" y="3336032"/>
            <a:ext cx="60196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Значимые проблемы и их серьёзность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233360" y="3747195"/>
            <a:ext cx="6296860" cy="719435"/>
          </a:xfrm>
          <a:prstGeom prst="roundRect">
            <a:avLst>
              <a:gd name="adj" fmla="val 772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71966" y="3885803"/>
            <a:ext cx="60196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осталось неизвестным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371966" y="4148038"/>
            <a:ext cx="60196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Ограничения и непроверенные области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33360" y="4559201"/>
            <a:ext cx="6296860" cy="719435"/>
          </a:xfrm>
          <a:prstGeom prst="roundRect">
            <a:avLst>
              <a:gd name="adj" fmla="val 772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71966" y="4697809"/>
            <a:ext cx="6019649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На чём основана оценка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371966" y="4960045"/>
            <a:ext cx="6019649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Данные и метрики для принятия решений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33360" y="5382816"/>
            <a:ext cx="6296860" cy="781943"/>
          </a:xfrm>
          <a:prstGeom prst="roundRect">
            <a:avLst>
              <a:gd name="adj" fmla="val 7107"/>
            </a:avLst>
          </a:prstGeom>
          <a:solidFill>
            <a:srgbClr val="D5F6F1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616" y="5519638"/>
            <a:ext cx="165294" cy="13225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663165" y="5508427"/>
            <a:ext cx="5734800" cy="539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Хороший отчёт не просто содержит набор чисел — он объясняет их смысл. Тогда метрики становятся инструментом для принятия решений, а не формальными показателями ради отчётности.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686</Words>
  <Application>Microsoft Office PowerPoint</Application>
  <PresentationFormat>Широкоэкранный</PresentationFormat>
  <Paragraphs>96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Open Sans</vt:lpstr>
      <vt:lpstr>Noto Color Emoji</vt:lpstr>
      <vt:lpstr>Open Sans Bold</vt:lpstr>
      <vt:lpstr>Montserrat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2026-09-30T14:22:45Z</dcterms:created>
  <dcterms:modified xsi:type="dcterms:W3CDTF">2026-09-30T14:42:46Z</dcterms:modified>
</cp:coreProperties>
</file>