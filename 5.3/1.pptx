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italic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129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4524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проверяет нефункциональное 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00661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Программа может выдавать правильный результат, но делать это слишком медленно, нестабильно или неудобно. Нефункциональное тестирование оценивает не только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делает система, но 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она это делает — скорость, надёжность, удобство в реальных условиях.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615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Функциональные и нефункциональные требования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600920"/>
            <a:ext cx="5476043" cy="3120827"/>
          </a:xfrm>
          <a:prstGeom prst="roundRect">
            <a:avLst>
              <a:gd name="adj" fmla="val 4361"/>
            </a:avLst>
          </a:prstGeom>
          <a:solidFill>
            <a:srgbClr val="27B29F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78993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Функциональное требование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274219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Описывает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должна делать система.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97818" y="3959324"/>
            <a:ext cx="542415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«Создать отчёт»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4357" y="3789263"/>
            <a:ext cx="25399" cy="642541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sp>
        <p:nvSpPr>
          <p:cNvPr id="8" name="Text 6"/>
          <p:cNvSpPr/>
          <p:nvPr/>
        </p:nvSpPr>
        <p:spPr>
          <a:xfrm>
            <a:off x="6332776" y="278993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Нефункциональное требование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27421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Описывает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 и при каких условиях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система это делает.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6237" y="4261743"/>
            <a:ext cx="55299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«Создать отчёт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 30 секунд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»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32776" y="4091682"/>
            <a:ext cx="25399" cy="642541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sp>
        <p:nvSpPr>
          <p:cNvPr id="12" name="Text 10"/>
          <p:cNvSpPr/>
          <p:nvPr/>
        </p:nvSpPr>
        <p:spPr>
          <a:xfrm>
            <a:off x="6332776" y="494684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функция часто имеет несколько нефункциональных ограничений одновременно.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8999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Измеримость требований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35475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Формулировки вроде «быстро» или «надёжно» не подходят для тестирования — их нельзя проверить объективно. Требование должно содержать конкретный, измеримый критерий.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474641"/>
            <a:ext cx="6296860" cy="2493367"/>
          </a:xfrm>
          <a:prstGeom prst="roundRect">
            <a:avLst>
              <a:gd name="adj" fmla="val 318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480991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367000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Неправильно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07868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«Система должна работать быстро»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7825" y="4570115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4570115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856832" y="475912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Правильно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16780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«Операция выполняется за 2 секунды при нагрузке 100 пользователей»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66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Качество — это набор характеристик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1533624"/>
            <a:ext cx="3343191" cy="334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484338"/>
            <a:ext cx="691130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Нельзя оценить качество одним показателем. Система может быть быстрой, но нестабильной — или отлично работать при малой нагрузке, но падать в реальных условиях.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625165" y="3478113"/>
            <a:ext cx="6911306" cy="448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каждого продукта приоритеты разные: внутренняя служебная программа и массовый интернет-сервис требуют разных акцентов.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61475" y="5260677"/>
            <a:ext cx="3509180" cy="1072654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6356" y="5465564"/>
            <a:ext cx="309941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Скорость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6356" y="5848350"/>
            <a:ext cx="309941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Время отклика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1208" y="5260677"/>
            <a:ext cx="3509180" cy="1072654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46089" y="5465564"/>
            <a:ext cx="309941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Надёжность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546089" y="5848350"/>
            <a:ext cx="309941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Стабильность под нагрузкой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20941" y="5260677"/>
            <a:ext cx="3509180" cy="1072654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5822" y="5465564"/>
            <a:ext cx="309941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Удобство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225822" y="5848350"/>
            <a:ext cx="309941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Опыт пользователя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19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условий эксплуатации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80592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35905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Тестовая среда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767733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Контролируемые условия, минимальная нагрузка, идеальная сеть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1880592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35905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Промышленная среда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767733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Реальное оборудование, объём данных, конкурирующие процессы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1880592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35905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Интерпретация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767733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всегда рассматривается вместе с условиями его получения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88761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155307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12385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тестовое окружение сильно отличается от промышленного — результаты требуют осторожной интерпретации.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01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Повторяемость результатов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662" y="2336899"/>
            <a:ext cx="5152896" cy="3058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3149" y="4315695"/>
            <a:ext cx="1280885" cy="98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Проверить после исправления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508883" y="456244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Сравнить прогон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68297" y="456244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Измерить в контроле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32251" y="2358727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Одно успешное измерение ещё не даёт надёжного вывода. Если операция сначала выполняется быстро, а затем медленнее — нужно исследовать стабильность.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315712" y="4253508"/>
            <a:ext cx="322075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Тест, который нельзя воспроизвести, — не тест, а наблюдение.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32251" y="4083447"/>
            <a:ext cx="25399" cy="1247378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2" y="498773"/>
            <a:ext cx="4395181" cy="58604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0529"/>
            <a:ext cx="6296860" cy="1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Базовый уровень качества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5233360" y="1933178"/>
            <a:ext cx="6296860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оценкой изменений полезно зафиксировать исходное состояние системы — это </a:t>
            </a:r>
            <a:r>
              <a:rPr lang="en-US" sz="13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базовый уровень</a:t>
            </a: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сравнения.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33360" y="2666405"/>
            <a:ext cx="397659" cy="397669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99637" y="2699544"/>
            <a:ext cx="26510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5796314" y="2727127"/>
            <a:ext cx="573390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Зафиксируйте исходные показатели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796314" y="3102372"/>
            <a:ext cx="573390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 любых изменений измерьте и запишите текущее поведение системы.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33360" y="3980259"/>
            <a:ext cx="397659" cy="397669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99637" y="4013398"/>
            <a:ext cx="26510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5796314" y="4040981"/>
            <a:ext cx="573390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Сравнивайте после обновлений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796314" y="4416227"/>
            <a:ext cx="573390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операция стала выполняться дольше — это сигнал для анализа, даже если формальный предел ещё не нарушен.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33360" y="5294114"/>
            <a:ext cx="397659" cy="397669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99637" y="5327253"/>
            <a:ext cx="26510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5796314" y="5354836"/>
            <a:ext cx="573390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Обнаруживайте проблемы заранее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796314" y="5730081"/>
            <a:ext cx="573390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Базовый уровень помогает находить деградацию до того, как она станет критичной.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78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Риск-ориентированный выбор проверок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28" y="1324670"/>
            <a:ext cx="4199924" cy="4200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640" y="2956620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Проверить все характеристики с одинаковой глубиной обычно невозможно. Сосредоточьте внимание на том, что наиболее критично.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286640" y="3718520"/>
            <a:ext cx="58595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Правило: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глубина проверки должна соответствовать риску отказа.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777706"/>
            <a:ext cx="5377819" cy="564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779" y="5796756"/>
            <a:ext cx="516946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Высокий риск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50779" y="6105525"/>
            <a:ext cx="516946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Функции для большого числа пользователей — строгие проверки.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2401" y="5777706"/>
            <a:ext cx="5377819" cy="5645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60755" y="5796756"/>
            <a:ext cx="516946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Низкий риск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360755" y="6105525"/>
            <a:ext cx="516946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Редко используемые операции — меньше внимания.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28477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Интерпретация результатов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535311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нефункционального теста редко оценивается просто как «работает» или «не работает». Вы получаете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значения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которые нужно сравнить с требованиями.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2402086"/>
            <a:ext cx="3080169" cy="1380034"/>
          </a:xfrm>
          <a:prstGeom prst="roundRect">
            <a:avLst>
              <a:gd name="adj" fmla="val 48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0341" y="2569071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Наблюдаемое значение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00341" y="2901950"/>
            <a:ext cx="274620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показало измерение?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Например: </a:t>
            </a:r>
            <a:r>
              <a:rPr lang="en-US" sz="12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секунды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450051" y="2402086"/>
            <a:ext cx="3080169" cy="1380034"/>
          </a:xfrm>
          <a:prstGeom prst="roundRect">
            <a:avLst>
              <a:gd name="adj" fmla="val 48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17032" y="2569071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Условие проверки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617032" y="2901950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каких условиях?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Например: </a:t>
            </a:r>
            <a:r>
              <a:rPr lang="en-US" sz="12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 одновременных пользователей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33360" y="3918645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0341" y="4085630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Критерий оценки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400341" y="4418509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Каков установленный предел?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Например: </a:t>
            </a:r>
            <a:r>
              <a:rPr lang="en-US" sz="12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более 3 секунд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233360" y="5214541"/>
            <a:ext cx="6296860" cy="814983"/>
          </a:xfrm>
          <a:prstGeom prst="roundRect">
            <a:avLst>
              <a:gd name="adj" fmla="val 8280"/>
            </a:avLst>
          </a:prstGeom>
          <a:solidFill>
            <a:srgbClr val="D5F6F1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992" y="5409307"/>
            <a:ext cx="200814" cy="160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55436" y="5391150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Число без контекста ничего не означает. Всегда фиксируйте все три компонента в отчёте.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89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Место в процессе разработки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07" y="1644848"/>
            <a:ext cx="6489042" cy="2969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41307" y="3674811"/>
            <a:ext cx="1218278" cy="704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Выпуск с уверенностью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305944" y="3557465"/>
            <a:ext cx="1218277" cy="93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Непрерывный мониторинг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778926" y="3792156"/>
            <a:ext cx="1218277" cy="469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Проверки в разработке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18530" y="3792156"/>
            <a:ext cx="1218277" cy="469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Определить критерии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17270" y="2289473"/>
            <a:ext cx="3519201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Нефункциональное тестирование нельзя оставлять только на конец. Серьёзная проблема качества, обнаруженная перед выпуском, может потребовать существенных изменений.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843" y="5003998"/>
            <a:ext cx="269273" cy="269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4966" y="4998541"/>
            <a:ext cx="2897214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Определите критерии заранее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244966" y="5661819"/>
            <a:ext cx="28972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ранних этапах, а не перед релизом.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2764" y="5003998"/>
            <a:ext cx="269273" cy="2692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8887" y="4998541"/>
            <a:ext cx="289731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Проверяйте по мере развития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4938887" y="5661819"/>
            <a:ext cx="289731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Выполняйте соответствующие проверки на каждом этапе.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6784" y="5003998"/>
            <a:ext cx="269273" cy="2692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32907" y="4998541"/>
            <a:ext cx="289731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Находите проблемы постепенно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632907" y="5661819"/>
            <a:ext cx="289731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накапливайте их до релиза.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562</Words>
  <Application>Microsoft Office PowerPoint</Application>
  <PresentationFormat>Широкоэкранный</PresentationFormat>
  <Paragraphs>91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Open Sans</vt:lpstr>
      <vt:lpstr>Montserrat Bold</vt:lpstr>
      <vt:lpstr>Noto Color Emoji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2026-10-01T17:39:59Z</dcterms:created>
  <dcterms:modified xsi:type="dcterms:W3CDTF">2026-10-01T17:54:39Z</dcterms:modified>
</cp:coreProperties>
</file>