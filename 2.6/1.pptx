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1541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15491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граничных значений: суть метода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293739"/>
            <a:ext cx="629686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Техника тест-дизайна, сосредоточенная на проверке точек перехода между допустимыми и недопустимыми значениями — именно здесь система чаще всего ошибается.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61475" y="3325912"/>
            <a:ext cx="6296860" cy="2616597"/>
          </a:xfrm>
          <a:prstGeom prst="roundRect">
            <a:avLst>
              <a:gd name="adj" fmla="val 2882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67825" y="3332262"/>
            <a:ext cx="6284160" cy="1301948"/>
          </a:xfrm>
          <a:custGeom>
            <a:avLst/>
            <a:gdLst/>
            <a:ahLst/>
            <a:cxnLst/>
            <a:rect l="l" t="t" r="r" b="b"/>
            <a:pathLst>
              <a:path w="6284160" h="1301948">
                <a:moveTo>
                  <a:pt x="62849" y="0"/>
                </a:moveTo>
                <a:lnTo>
                  <a:pt x="6221311" y="0"/>
                </a:lnTo>
                <a:arcTo wR="62849" hR="62850" stAng="16200000" swAng="5400000"/>
                <a:lnTo>
                  <a:pt x="6284160" y="1301948"/>
                </a:lnTo>
                <a:lnTo>
                  <a:pt x="0" y="1301948"/>
                </a:lnTo>
                <a:lnTo>
                  <a:pt x="0" y="62850"/>
                </a:lnTo>
                <a:arcTo wR="62849" hR="62850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8" name="Text 5"/>
          <p:cNvSpPr/>
          <p:nvPr/>
        </p:nvSpPr>
        <p:spPr>
          <a:xfrm>
            <a:off x="847307" y="3511748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Критические точки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47307" y="3894534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не случайные значения, а точки перехода между зонами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825" y="4634210"/>
            <a:ext cx="6284160" cy="1301948"/>
          </a:xfrm>
          <a:custGeom>
            <a:avLst/>
            <a:gdLst/>
            <a:ahLst/>
            <a:cxnLst/>
            <a:rect l="l" t="t" r="r" b="b"/>
            <a:pathLst>
              <a:path w="6284160" h="1301948">
                <a:moveTo>
                  <a:pt x="0" y="0"/>
                </a:moveTo>
                <a:lnTo>
                  <a:pt x="6284160" y="0"/>
                </a:lnTo>
                <a:lnTo>
                  <a:pt x="6284160" y="1239098"/>
                </a:lnTo>
                <a:arcTo wR="62849" hR="62850" stAng="0" swAng="5400000"/>
                <a:lnTo>
                  <a:pt x="62849" y="1301948"/>
                </a:lnTo>
                <a:arcTo wR="62849" hR="62850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1" name="Shape 8"/>
          <p:cNvSpPr/>
          <p:nvPr/>
        </p:nvSpPr>
        <p:spPr>
          <a:xfrm>
            <a:off x="667825" y="4634210"/>
            <a:ext cx="6284160" cy="2540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2" name="Text 9"/>
          <p:cNvSpPr/>
          <p:nvPr/>
        </p:nvSpPr>
        <p:spPr>
          <a:xfrm>
            <a:off x="847307" y="4813697"/>
            <a:ext cx="592519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Эффективность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47307" y="5196483"/>
            <a:ext cx="592519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Высокая вероятность найти дефект при минимальном количестве тестов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88148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Почему ошибки скрываются на границах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85015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Разработчики часто допускают ошибки в условиях сравнения: используют неправильный оператор, неверно определяют начало диапазона или ошибаются в расчётах.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2315" y="3673475"/>
            <a:ext cx="283461" cy="2834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75723" y="3667621"/>
            <a:ext cx="470195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Обычное значение не выявит ошибку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275723" y="4371578"/>
            <a:ext cx="470195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Проверка значения внутри диапазона не обнаружит ошибку в граничном условии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84755" y="3673475"/>
            <a:ext cx="283461" cy="2834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28163" y="3667621"/>
            <a:ext cx="470205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Ошибка проявляется только на границе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6828163" y="4371578"/>
            <a:ext cx="4702057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Небольшая ошибка в операторе сравнения меняет результат именно на граничном значении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33872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Нижняя и верхняя границы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426692"/>
            <a:ext cx="6296860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Каждый диапазон имеет две стороны, и каждая может быть реализована неправильно независимо от другой. Успех на одной границе не гарантирует правильность другой.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61475" y="3374628"/>
            <a:ext cx="3071835" cy="1227435"/>
          </a:xfrm>
          <a:prstGeom prst="roundRect">
            <a:avLst>
              <a:gd name="adj" fmla="val 5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37881" y="3551039"/>
            <a:ext cx="2719022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Нижняя граница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37881" y="3908524"/>
            <a:ext cx="2719022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 от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запрещённых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значений к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разрешённым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886400" y="3374628"/>
            <a:ext cx="3071934" cy="1227435"/>
          </a:xfrm>
          <a:prstGeom prst="roundRect">
            <a:avLst>
              <a:gd name="adj" fmla="val 5821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062807" y="3551039"/>
            <a:ext cx="2719121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Верхняя граница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4062807" y="3908524"/>
            <a:ext cx="2719121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Переход от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разрешённых</a:t>
            </a: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значений к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запрещённым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4755158"/>
            <a:ext cx="6296860" cy="968871"/>
          </a:xfrm>
          <a:prstGeom prst="roundRect">
            <a:avLst>
              <a:gd name="adj" fmla="val 7374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7881" y="4931569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Независимость границ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37881" y="5289054"/>
            <a:ext cx="5944047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Каждую границу необходимо проверять </a:t>
            </a:r>
            <a:r>
              <a:rPr lang="en-US" sz="13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отдельно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88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Значения вокруг границы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094111"/>
            <a:ext cx="599683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Классический подход предполагает проверку самого граничного значения и соседних значений с обеих сторон. Это позволяет точно определить, где система меняет поведение.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213993"/>
            <a:ext cx="5996830" cy="1039416"/>
          </a:xfrm>
          <a:prstGeom prst="roundRect">
            <a:avLst>
              <a:gd name="adj" fmla="val 7638"/>
            </a:avLst>
          </a:prstGeom>
          <a:solidFill>
            <a:srgbClr val="D5F6F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3507085"/>
            <a:ext cx="236234" cy="1890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75723" y="3431282"/>
            <a:ext cx="519357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диапазона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10–20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: проверяем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9, 10, 11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(нижняя) 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19, 20, 21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(верхняя)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4466034"/>
            <a:ext cx="5996830" cy="12757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Граничные значения подтверждают правильность обработки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Соседние значения показывают, где система меняет поведение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812" y="1660624"/>
            <a:ext cx="4410659" cy="44107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9826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Включённая и исключённая граница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16693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Формулировка требования определяет, входит ли граничное значение в допустимый диапазон или нет. Внешне похожие формулировки дают разные ожидаемые результаты.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2984401"/>
            <a:ext cx="10868745" cy="1404243"/>
          </a:xfrm>
          <a:prstGeom prst="roundRect">
            <a:avLst>
              <a:gd name="adj" fmla="val 5653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825" y="2990751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66156" y="0"/>
                </a:moveTo>
                <a:lnTo>
                  <a:pt x="5428023" y="0"/>
                </a:lnTo>
                <a:lnTo>
                  <a:pt x="5428023" y="1391543"/>
                </a:lnTo>
                <a:lnTo>
                  <a:pt x="66156" y="1391543"/>
                </a:lnTo>
                <a:arcTo wR="66156" hR="66158" stAng="5400000" swAng="5400000"/>
                <a:lnTo>
                  <a:pt x="0" y="66158"/>
                </a:lnTo>
                <a:arcTo wR="66156" hR="66158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6" name="Text 4"/>
          <p:cNvSpPr/>
          <p:nvPr/>
        </p:nvSpPr>
        <p:spPr>
          <a:xfrm>
            <a:off x="856832" y="3179763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«От 18 лет включительно»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56832" y="3588445"/>
            <a:ext cx="476654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Значение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18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</a:t>
            </a:r>
            <a:r>
              <a:rPr lang="en-US" sz="1450" dirty="0">
                <a:solidFill>
                  <a:srgbClr val="27B29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принимается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Граница закрытая, значение входит в диапазон.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095848" y="2990751"/>
            <a:ext cx="5428023" cy="1391543"/>
          </a:xfrm>
          <a:custGeom>
            <a:avLst/>
            <a:gdLst/>
            <a:ahLst/>
            <a:cxnLst/>
            <a:rect l="l" t="t" r="r" b="b"/>
            <a:pathLst>
              <a:path w="5428023" h="1391543">
                <a:moveTo>
                  <a:pt x="0" y="0"/>
                </a:moveTo>
                <a:lnTo>
                  <a:pt x="5361866" y="0"/>
                </a:lnTo>
                <a:arcTo wR="66156" hR="66158" stAng="16200000" swAng="5400000"/>
                <a:lnTo>
                  <a:pt x="5428023" y="1325385"/>
                </a:lnTo>
                <a:arcTo wR="66156" hR="66158" stAng="0" swAng="5400000"/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9" name="Shape 7"/>
          <p:cNvSpPr/>
          <p:nvPr/>
        </p:nvSpPr>
        <p:spPr>
          <a:xfrm>
            <a:off x="6095848" y="2990751"/>
            <a:ext cx="25399" cy="1391543"/>
          </a:xfrm>
          <a:prstGeom prst="roundRect">
            <a:avLst>
              <a:gd name="adj" fmla="val 50001"/>
            </a:avLst>
          </a:prstGeom>
          <a:solidFill>
            <a:srgbClr val="BBDCD7"/>
          </a:solidFill>
          <a:ln/>
        </p:spPr>
      </p:sp>
      <p:sp>
        <p:nvSpPr>
          <p:cNvPr id="10" name="Text 8"/>
          <p:cNvSpPr/>
          <p:nvPr/>
        </p:nvSpPr>
        <p:spPr>
          <a:xfrm>
            <a:off x="6568315" y="3179763"/>
            <a:ext cx="476654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«Старше 18 лет»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568315" y="3588445"/>
            <a:ext cx="476654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Значение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18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</a:t>
            </a:r>
            <a:r>
              <a:rPr lang="en-US" sz="1450" dirty="0">
                <a:solidFill>
                  <a:srgbClr val="444847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подходит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Граница открытая, значение исключено из диапазона.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601270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FCF2B5"/>
          </a:solidFill>
          <a:ln/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" y="4868962"/>
            <a:ext cx="236234" cy="1890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75723" y="4837509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Всегда читайте требование внимательно: «включительно», «строго больше», «не менее» — каждое слово меняет тест-кейс.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859614" y="3450233"/>
            <a:ext cx="472468" cy="472480"/>
          </a:xfrm>
          <a:prstGeom prst="roundRect">
            <a:avLst>
              <a:gd name="adj" fmla="val 16803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7681" y="3568303"/>
            <a:ext cx="236234" cy="2362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45791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Границы длины строк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5233360" y="1899642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Ограничения по длине встречаются в полях пароля, имени, описания и других текстовых данных. Границами являются количество символов, а не сами символы.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471043"/>
            <a:ext cx="6296860" cy="907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38242" y="278288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5978177" y="2641302"/>
            <a:ext cx="53817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Определяем границы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5978177" y="2950071"/>
            <a:ext cx="538178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пароля 8–32 символа: нижняя граница = 8, верхняя граница = 32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499247"/>
            <a:ext cx="6296860" cy="9072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38242" y="381109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5978177" y="3669506"/>
            <a:ext cx="53817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Выбираем тестовые значения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5978177" y="3978275"/>
            <a:ext cx="5381788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Проверяем: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7, 8, 9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символов (нижняя) и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31, 32, 33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символа (верхняя)</a:t>
            </a:r>
            <a:endParaRPr lang="en-US" sz="11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527451"/>
            <a:ext cx="6296860" cy="108465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38242" y="492799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5978177" y="4697710"/>
            <a:ext cx="5381788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Корректное содержимое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5978177" y="5006479"/>
            <a:ext cx="5381788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проверке границы длины используем содержимое, корректное по остальным правилам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69783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Границы дат и времени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666504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Системы часто ограничивают доступ по датам и времени: регистрация до определённого дня, бронирование не раньше текущей даты.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61475" y="348396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2365" y="351938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275723" y="3548856"/>
            <a:ext cx="285117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Соседние даты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75723" y="3957538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Для дедлайна 30 сентября проверяем: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29 сен, 30 сен, 1 окт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63135" y="348396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025" y="351938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977383" y="3548856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Точный момент перехода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4977383" y="4252813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При наличии времени анализируем точный момент: 23:59, 00:00, 00:01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064794" y="3483967"/>
            <a:ext cx="425241" cy="425252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5684" y="3519388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79042" y="3548856"/>
            <a:ext cx="2851178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Часовой пояс и единица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8679042" y="4252813"/>
            <a:ext cx="2851178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Учитываем часовой пояс и единицу ограничения: день, час или минута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36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Границы количества объектов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33041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Ограничения могут относиться к количеству элементов: файлы, адреса, записи, участники. Важно именно количество объектов, а не их размер или содержимое.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50505"/>
            <a:ext cx="1524756" cy="15247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42115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Вложения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661475" y="462022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Максимум 5 файлов → проверяем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4, 5 и 6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вложений</a:t>
            </a:r>
            <a:endParaRPr lang="en-US" sz="14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450505"/>
            <a:ext cx="1524756" cy="152479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3135" y="42115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Адреса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363135" y="462022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Максимум 3 адреса → проверяем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2, 3 и 4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записи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450505"/>
            <a:ext cx="1524756" cy="15247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4794" y="42115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Участники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064794" y="4620220"/>
            <a:ext cx="346542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Максимум 10 участников → проверяем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9, 10 и 11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человек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5437684"/>
            <a:ext cx="10868745" cy="755948"/>
          </a:xfrm>
          <a:prstGeom prst="roundRect">
            <a:avLst>
              <a:gd name="adj" fmla="val 10502"/>
            </a:avLst>
          </a:prstGeom>
          <a:solidFill>
            <a:srgbClr val="D5F6F1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482" y="5705376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673923"/>
            <a:ext cx="1067507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Ошибки чаще всего проявляются на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последнем допустимом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или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первом лишнем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элементе.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8" y="469106"/>
            <a:ext cx="4439730" cy="59197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02234"/>
            <a:ext cx="629686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Типичные ошибки при анализе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233360" y="1754584"/>
            <a:ext cx="629686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Даже зная метод, легко допустить ошибку в его применении. Вот четыре наиболее распространённых промаха начинающих тестировщиков.</a:t>
            </a:r>
            <a:endParaRPr lang="en-US" sz="10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218730"/>
            <a:ext cx="6296860" cy="7448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60863" y="2370038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Только граничное значение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5460863" y="2632273"/>
            <a:ext cx="591805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само значение, но забываем про соседние — и пропускаем дефект</a:t>
            </a:r>
            <a:endParaRPr lang="en-US" sz="10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056136"/>
            <a:ext cx="6296860" cy="7448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60863" y="3207445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Анализ одного края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5460863" y="3469680"/>
            <a:ext cx="591805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нижнюю границу и игнорируем верхнюю — ошибка остаётся незамеченной</a:t>
            </a:r>
            <a:endParaRPr lang="en-US" sz="10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93542"/>
            <a:ext cx="6296860" cy="7448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60863" y="4044851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Значения далеко от границы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5460863" y="4307086"/>
            <a:ext cx="5918052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 50 и 500 вместо 9, 10, 11 — граничная зона остаётся непроверенной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4730948"/>
            <a:ext cx="6296860" cy="9248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460863" y="4882257"/>
            <a:ext cx="5918052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Игнорирование типа границы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5460863" y="5144492"/>
            <a:ext cx="5918052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 различаем открытые и закрытые диапазоны — ожидаемый результат определяется неверно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855"/>
            <a:ext cx="10868745" cy="457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Применение на практике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61475" y="1281906"/>
            <a:ext cx="6939583" cy="41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Начинаем с поиска требований, содержащих минимумы, максимумы, ограничения длины или даты. Определяем тип каждой границы и выбираем значения вокруг неё.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881140" y="1927423"/>
            <a:ext cx="7329503" cy="207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Требование: «Участников от 2 до 8 включительно»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61475" y="1825327"/>
            <a:ext cx="19050" cy="412055"/>
          </a:xfrm>
          <a:prstGeom prst="roundRect">
            <a:avLst>
              <a:gd name="adj" fmla="val 49999"/>
            </a:avLst>
          </a:prstGeom>
          <a:solidFill>
            <a:srgbClr val="27B29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234" y="2365077"/>
            <a:ext cx="4143966" cy="24595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43501" y="4154888"/>
            <a:ext cx="1030102" cy="396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Ожидаемый результат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45291" y="4154888"/>
            <a:ext cx="1030102" cy="396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Выбрать значения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325914" y="4154888"/>
            <a:ext cx="1030102" cy="3968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Найти границы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964784" y="2650331"/>
            <a:ext cx="3571686" cy="8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Небольшой набор из 6 значений проверяет обе точки переключения без перебора всех вариантов. Техника направляет проверки туда, где ошибки наиболее вероятны.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61475" y="5080000"/>
            <a:ext cx="5377621" cy="1226145"/>
          </a:xfrm>
          <a:prstGeom prst="roundRect">
            <a:avLst>
              <a:gd name="adj" fmla="val 501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14268" y="5232797"/>
            <a:ext cx="507203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Нижняя граница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4268" y="5529759"/>
            <a:ext cx="5072035" cy="623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1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отклонить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2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принять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3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принять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52599" y="5080000"/>
            <a:ext cx="5377621" cy="1226145"/>
          </a:xfrm>
          <a:prstGeom prst="roundRect">
            <a:avLst>
              <a:gd name="adj" fmla="val 5018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05392" y="5232797"/>
            <a:ext cx="5072035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Верхняя граница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305392" y="5529759"/>
            <a:ext cx="5072035" cy="6235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7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принять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принять</a:t>
            </a:r>
            <a:endParaRPr lang="en-US" sz="11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9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отклонить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726</Words>
  <Application>Microsoft Office PowerPoint</Application>
  <PresentationFormat>Широкоэкранный</PresentationFormat>
  <Paragraphs>98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Open Sans</vt:lpstr>
      <vt:lpstr>Montserrat Bold</vt:lpstr>
      <vt:lpstr>Open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2026-09-29T14:55:13Z</dcterms:created>
  <dcterms:modified xsi:type="dcterms:W3CDTF">2026-09-29T14:59:07Z</dcterms:modified>
</cp:coreProperties>
</file>