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embeddedFontLst>
    <p:embeddedFont>
      <p:font typeface="Montserrat Bold" panose="020B0604020202020204" charset="-52"/>
      <p:regular r:id="rId13"/>
    </p:embeddedFont>
    <p:embeddedFont>
      <p:font typeface="Open Sans" panose="020B0606030504020204" pitchFamily="34" charset="0"/>
      <p:regular r:id="rId14"/>
    </p:embeddedFont>
    <p:embeddedFont>
      <p:font typeface="Open Sans Bold" panose="020B0806030504020204" charset="0"/>
      <p:regular r:id="rId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93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06844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28" y="494407"/>
            <a:ext cx="4401730" cy="586918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1170880"/>
            <a:ext cx="6296860" cy="15948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Jenkins Agent и распределение выполнения задач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5233360" y="2995315"/>
            <a:ext cx="6296860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Один сервер Jenkins не всегда справляется со всеми операциями. Для масштабирования используются дополнительные исполнители — </a:t>
            </a:r>
            <a:r>
              <a:rPr lang="en-US" sz="13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Agents</a:t>
            </a: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110928" y="3684687"/>
            <a:ext cx="3185834" cy="2002433"/>
          </a:xfrm>
          <a:prstGeom prst="roundRect">
            <a:avLst>
              <a:gd name="adj" fmla="val 6117"/>
            </a:avLst>
          </a:prstGeom>
          <a:solidFill>
            <a:srgbClr val="27B29F"/>
          </a:solidFill>
          <a:ln/>
        </p:spPr>
      </p:sp>
      <p:sp>
        <p:nvSpPr>
          <p:cNvPr id="7" name="Text 4"/>
          <p:cNvSpPr/>
          <p:nvPr/>
        </p:nvSpPr>
        <p:spPr>
          <a:xfrm>
            <a:off x="5280984" y="3837781"/>
            <a:ext cx="2845721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Controller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5280984" y="4256584"/>
            <a:ext cx="2845721" cy="775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Управляет процессами, хранит конфигурации и информацию о заданиях. Это «мозг» системы.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595601" y="3837781"/>
            <a:ext cx="2940969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Agent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8595601" y="4256584"/>
            <a:ext cx="2940969" cy="1292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Получает задачи от Controller и выполняет их в своей среде. Разные окружения могут давать разные результаты — это важно учитывать при анализе ошибок.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06971"/>
            <a:ext cx="10868745" cy="5611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Jenkins Job как задача автоматизации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661475" y="1909266"/>
            <a:ext cx="10868745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Job — это описание конкретной автоматизированной операции. Каждая Job имеет собственные настройки и может запускаться вручную или автоматически.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61475" y="2661345"/>
            <a:ext cx="3509180" cy="2023864"/>
          </a:xfrm>
          <a:prstGeom prst="roundRect">
            <a:avLst>
              <a:gd name="adj" fmla="val 3726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7307" y="2847181"/>
            <a:ext cx="538645" cy="538659"/>
          </a:xfrm>
          <a:prstGeom prst="ellipse">
            <a:avLst/>
          </a:prstGeom>
          <a:solidFill>
            <a:srgbClr val="27B29F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5437" y="2995216"/>
            <a:ext cx="242385" cy="24239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7307" y="3556397"/>
            <a:ext cx="3137516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Сборка</a:t>
            </a:r>
            <a:endParaRPr lang="en-US" sz="1750" dirty="0"/>
          </a:p>
        </p:txBody>
      </p:sp>
      <p:sp>
        <p:nvSpPr>
          <p:cNvPr id="8" name="Text 5"/>
          <p:cNvSpPr/>
          <p:nvPr/>
        </p:nvSpPr>
        <p:spPr>
          <a:xfrm>
            <a:off x="847307" y="3939183"/>
            <a:ext cx="3137516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Компиляция и подготовка приложения к запуску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341208" y="2661345"/>
            <a:ext cx="3509180" cy="2023864"/>
          </a:xfrm>
          <a:prstGeom prst="roundRect">
            <a:avLst>
              <a:gd name="adj" fmla="val 3726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27040" y="2847181"/>
            <a:ext cx="538645" cy="538659"/>
          </a:xfrm>
          <a:prstGeom prst="ellipse">
            <a:avLst/>
          </a:prstGeom>
          <a:solidFill>
            <a:srgbClr val="27B29F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75170" y="2995216"/>
            <a:ext cx="242385" cy="24239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27040" y="3556397"/>
            <a:ext cx="3137516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Тестирование</a:t>
            </a:r>
            <a:endParaRPr lang="en-US" sz="1750" dirty="0"/>
          </a:p>
        </p:txBody>
      </p:sp>
      <p:sp>
        <p:nvSpPr>
          <p:cNvPr id="13" name="Text 9"/>
          <p:cNvSpPr/>
          <p:nvPr/>
        </p:nvSpPr>
        <p:spPr>
          <a:xfrm>
            <a:off x="4527040" y="3939183"/>
            <a:ext cx="3137516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Запуск автоматических проверок и сценариев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020941" y="2661345"/>
            <a:ext cx="3509180" cy="2023864"/>
          </a:xfrm>
          <a:prstGeom prst="roundRect">
            <a:avLst>
              <a:gd name="adj" fmla="val 3726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06773" y="2847181"/>
            <a:ext cx="538645" cy="538659"/>
          </a:xfrm>
          <a:prstGeom prst="ellipse">
            <a:avLst/>
          </a:prstGeom>
          <a:solidFill>
            <a:srgbClr val="27B29F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54903" y="2995216"/>
            <a:ext cx="242385" cy="24239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06773" y="3556397"/>
            <a:ext cx="3137516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Отчётность</a:t>
            </a:r>
            <a:endParaRPr lang="en-US" sz="1750" dirty="0"/>
          </a:p>
        </p:txBody>
      </p:sp>
      <p:sp>
        <p:nvSpPr>
          <p:cNvPr id="18" name="Text 13"/>
          <p:cNvSpPr/>
          <p:nvPr/>
        </p:nvSpPr>
        <p:spPr>
          <a:xfrm>
            <a:off x="8206773" y="3939183"/>
            <a:ext cx="3137516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Подготовка и публикация результатов выполнения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661475" y="4877098"/>
            <a:ext cx="10868745" cy="973931"/>
          </a:xfrm>
          <a:prstGeom prst="roundRect">
            <a:avLst>
              <a:gd name="adj" fmla="val 7744"/>
            </a:avLst>
          </a:prstGeom>
          <a:solidFill>
            <a:srgbClr val="D5F6F1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957" y="5119588"/>
            <a:ext cx="224427" cy="179487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244867" y="5092502"/>
            <a:ext cx="10105871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Для тестировщика важно понимать, какие процессы происходят внутри CI/CD и какой результат получила каждая задача.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66" y="488057"/>
            <a:ext cx="4411254" cy="588188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872927"/>
            <a:ext cx="6296860" cy="502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Триггеры запуска Jenkins</a:t>
            </a:r>
            <a:endParaRPr lang="en-US" sz="3150" dirty="0"/>
          </a:p>
        </p:txBody>
      </p:sp>
      <p:sp>
        <p:nvSpPr>
          <p:cNvPr id="5" name="Text 2"/>
          <p:cNvSpPr/>
          <p:nvPr/>
        </p:nvSpPr>
        <p:spPr>
          <a:xfrm>
            <a:off x="5233360" y="1579761"/>
            <a:ext cx="6296860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Триггеры определяют, </a:t>
            </a:r>
            <a:r>
              <a:rPr lang="en-US" sz="12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когда</a:t>
            </a: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начинается выполнение процесса — это механизм автоматизации без ручного вмешательства.</a:t>
            </a:r>
            <a:endParaRPr lang="en-US" sz="12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3360" y="2208808"/>
            <a:ext cx="6296860" cy="116770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489239" y="2388493"/>
            <a:ext cx="5861300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 изменению кода</a:t>
            </a:r>
            <a:endParaRPr lang="en-US" sz="1550" dirty="0"/>
          </a:p>
        </p:txBody>
      </p:sp>
      <p:sp>
        <p:nvSpPr>
          <p:cNvPr id="8" name="Text 4"/>
          <p:cNvSpPr/>
          <p:nvPr/>
        </p:nvSpPr>
        <p:spPr>
          <a:xfrm>
            <a:off x="5489239" y="2721372"/>
            <a:ext cx="5861300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Jenkins отслеживает репозиторий и запускает pipeline сразу после появления новых коммитов.</a:t>
            </a:r>
            <a:endParaRPr lang="en-US" sz="12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3360" y="3513038"/>
            <a:ext cx="6296860" cy="116770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489239" y="3692723"/>
            <a:ext cx="5861300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 расписанию</a:t>
            </a:r>
            <a:endParaRPr lang="en-US" sz="1550" dirty="0"/>
          </a:p>
        </p:txBody>
      </p:sp>
      <p:sp>
        <p:nvSpPr>
          <p:cNvPr id="11" name="Text 6"/>
          <p:cNvSpPr/>
          <p:nvPr/>
        </p:nvSpPr>
        <p:spPr>
          <a:xfrm>
            <a:off x="5489239" y="4025602"/>
            <a:ext cx="5861300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Задачи выполняются в заданное время — например, ночные прогоны регрессионных тестов.</a:t>
            </a:r>
            <a:endParaRPr lang="en-US" sz="12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3360" y="4817269"/>
            <a:ext cx="6296860" cy="1167705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489239" y="4996954"/>
            <a:ext cx="5861300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Быстрая обратная связь</a:t>
            </a:r>
            <a:endParaRPr lang="en-US" sz="1550" dirty="0"/>
          </a:p>
        </p:txBody>
      </p:sp>
      <p:sp>
        <p:nvSpPr>
          <p:cNvPr id="14" name="Text 8"/>
          <p:cNvSpPr/>
          <p:nvPr/>
        </p:nvSpPr>
        <p:spPr>
          <a:xfrm>
            <a:off x="5489239" y="5329833"/>
            <a:ext cx="5861300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Команда узнаёт о проблемах практически сразу, не дожидаясь ручного запуска.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03746"/>
            <a:ext cx="10868745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Интеграция Jenkins с Git</a:t>
            </a:r>
            <a:endParaRPr lang="en-US" sz="33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79" y="1537196"/>
            <a:ext cx="3180774" cy="318085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617029" y="2667298"/>
            <a:ext cx="6919442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Как это работает</a:t>
            </a:r>
            <a:endParaRPr lang="en-US" sz="1650" dirty="0"/>
          </a:p>
        </p:txBody>
      </p:sp>
      <p:sp>
        <p:nvSpPr>
          <p:cNvPr id="5" name="Text 2"/>
          <p:cNvSpPr/>
          <p:nvPr/>
        </p:nvSpPr>
        <p:spPr>
          <a:xfrm>
            <a:off x="4617029" y="3086100"/>
            <a:ext cx="6919442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Jenkins подключается к системе контроля версий и отслеживает состояние проекта в реальном времени.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61475" y="5062537"/>
            <a:ext cx="382677" cy="382687"/>
          </a:xfrm>
          <a:prstGeom prst="roundRect">
            <a:avLst>
              <a:gd name="adj" fmla="val 18671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25221" y="5094387"/>
            <a:ext cx="255085" cy="3188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197243" y="5120977"/>
            <a:ext cx="2959621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Загрузка изменений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1197243" y="5478462"/>
            <a:ext cx="2959621" cy="775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После появления новых коммитов Jenkins автоматически получает обновлённую версию кода.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48153" y="5062537"/>
            <a:ext cx="382677" cy="382687"/>
          </a:xfrm>
          <a:prstGeom prst="roundRect">
            <a:avLst>
              <a:gd name="adj" fmla="val 18671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411899" y="5094387"/>
            <a:ext cx="255085" cy="3188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4883921" y="5120977"/>
            <a:ext cx="2959621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Запуск действий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4883921" y="5478462"/>
            <a:ext cx="2959621" cy="775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Настроенные шаги выполняются без участия разработчика или тестировщика.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34831" y="5062537"/>
            <a:ext cx="382677" cy="382687"/>
          </a:xfrm>
          <a:prstGeom prst="roundRect">
            <a:avLst>
              <a:gd name="adj" fmla="val 18671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098577" y="5094387"/>
            <a:ext cx="255085" cy="3188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570599" y="5120977"/>
            <a:ext cx="2959621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Контроль качества</a:t>
            </a:r>
            <a:endParaRPr lang="en-US" sz="1650" dirty="0"/>
          </a:p>
        </p:txBody>
      </p:sp>
      <p:sp>
        <p:nvSpPr>
          <p:cNvPr id="17" name="Text 14"/>
          <p:cNvSpPr/>
          <p:nvPr/>
        </p:nvSpPr>
        <p:spPr>
          <a:xfrm>
            <a:off x="8570599" y="5478462"/>
            <a:ext cx="2959621" cy="775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Новая версия ПО проходит проверки практически сразу после внесения изменений.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40742"/>
            <a:ext cx="10868745" cy="5611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Окружения выполнения в Jenkins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661475" y="1443038"/>
            <a:ext cx="10868745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Автоматические процессы выполняются в определённом окружении — с конкретной ОС, инструментами и зависимостями. Это напрямую влияет на результаты тестов.</a:t>
            </a:r>
            <a:endParaRPr lang="en-US" sz="1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942" y="2387005"/>
            <a:ext cx="3738271" cy="37383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321267" y="3025477"/>
            <a:ext cx="5215303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Почему окружение важно?</a:t>
            </a: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6321267" y="3476526"/>
            <a:ext cx="5215303" cy="8402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Один и тот же тест может дать разный результат в зависимости от того, где он запущен. Локальная машина разработчика и сервер Jenkins — это разные среды.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321267" y="4508698"/>
            <a:ext cx="5215303" cy="956866"/>
          </a:xfrm>
          <a:prstGeom prst="roundRect">
            <a:avLst>
              <a:gd name="adj" fmla="val 7882"/>
            </a:avLst>
          </a:prstGeom>
          <a:solidFill>
            <a:srgbClr val="FCF2B5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0749" y="4776589"/>
            <a:ext cx="224427" cy="17948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904659" y="4707037"/>
            <a:ext cx="4452429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При анализе ошибок всегда уточняйте, в каком окружении выполнялась проверка.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9501" y="500559"/>
            <a:ext cx="4392403" cy="5856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933847"/>
            <a:ext cx="6296860" cy="5611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Docker и Jenkins</a:t>
            </a:r>
            <a:endParaRPr lang="en-US" sz="3500" dirty="0"/>
          </a:p>
        </p:txBody>
      </p:sp>
      <p:sp>
        <p:nvSpPr>
          <p:cNvPr id="5" name="Text 2"/>
          <p:cNvSpPr/>
          <p:nvPr/>
        </p:nvSpPr>
        <p:spPr>
          <a:xfrm>
            <a:off x="661475" y="1750913"/>
            <a:ext cx="6296860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Контейнеры Docker создают </a:t>
            </a:r>
            <a:r>
              <a:rPr lang="en-US" sz="14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одинаковые условия выполнения</a:t>
            </a: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для всех участников команды, устраняя проблему «у меня работает».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61475" y="2502991"/>
            <a:ext cx="6296860" cy="3421162"/>
          </a:xfrm>
          <a:prstGeom prst="roundRect">
            <a:avLst>
              <a:gd name="adj" fmla="val 2204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67825" y="2509341"/>
            <a:ext cx="3142080" cy="2124373"/>
          </a:xfrm>
          <a:custGeom>
            <a:avLst/>
            <a:gdLst/>
            <a:ahLst/>
            <a:cxnLst/>
            <a:rect l="l" t="t" r="r" b="b"/>
            <a:pathLst>
              <a:path w="3142080" h="2124373">
                <a:moveTo>
                  <a:pt x="62849" y="0"/>
                </a:moveTo>
                <a:lnTo>
                  <a:pt x="3142080" y="0"/>
                </a:lnTo>
                <a:lnTo>
                  <a:pt x="3142080" y="2124373"/>
                </a:lnTo>
                <a:lnTo>
                  <a:pt x="0" y="2124373"/>
                </a:lnTo>
                <a:lnTo>
                  <a:pt x="0" y="62850"/>
                </a:lnTo>
                <a:arcTo wR="62849" hR="62850" stAng="10800000" swAng="5400000"/>
                <a:close/>
              </a:path>
            </a:pathLst>
          </a:custGeom>
          <a:solidFill>
            <a:srgbClr val="D5F6F1"/>
          </a:solidFill>
          <a:ln/>
        </p:spPr>
      </p:sp>
      <p:sp>
        <p:nvSpPr>
          <p:cNvPr id="8" name="Text 5"/>
          <p:cNvSpPr/>
          <p:nvPr/>
        </p:nvSpPr>
        <p:spPr>
          <a:xfrm>
            <a:off x="838377" y="2679898"/>
            <a:ext cx="2545096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Изоляция</a:t>
            </a:r>
            <a:endParaRPr lang="en-US" sz="1750" dirty="0"/>
          </a:p>
        </p:txBody>
      </p:sp>
      <p:sp>
        <p:nvSpPr>
          <p:cNvPr id="9" name="Text 6"/>
          <p:cNvSpPr/>
          <p:nvPr/>
        </p:nvSpPr>
        <p:spPr>
          <a:xfrm>
            <a:off x="838377" y="3062684"/>
            <a:ext cx="2545096" cy="1400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Среда с предустановленными компонентами, независимая от хост-машины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809905" y="2509341"/>
            <a:ext cx="3142080" cy="2124373"/>
          </a:xfrm>
          <a:custGeom>
            <a:avLst/>
            <a:gdLst/>
            <a:ahLst/>
            <a:cxnLst/>
            <a:rect l="l" t="t" r="r" b="b"/>
            <a:pathLst>
              <a:path w="3142080" h="2124373">
                <a:moveTo>
                  <a:pt x="0" y="0"/>
                </a:moveTo>
                <a:lnTo>
                  <a:pt x="3079231" y="0"/>
                </a:lnTo>
                <a:arcTo wR="62849" hR="62850" stAng="16200000" swAng="5400000"/>
                <a:lnTo>
                  <a:pt x="3142080" y="2124373"/>
                </a:lnTo>
                <a:lnTo>
                  <a:pt x="0" y="2124373"/>
                </a:lnTo>
                <a:lnTo>
                  <a:pt x="0" y="0"/>
                </a:lnTo>
                <a:close/>
              </a:path>
            </a:pathLst>
          </a:custGeom>
          <a:solidFill>
            <a:srgbClr val="D5F6F1"/>
          </a:solidFill>
          <a:ln/>
        </p:spPr>
      </p:sp>
      <p:sp>
        <p:nvSpPr>
          <p:cNvPr id="11" name="Shape 8"/>
          <p:cNvSpPr/>
          <p:nvPr/>
        </p:nvSpPr>
        <p:spPr>
          <a:xfrm>
            <a:off x="3809905" y="2509341"/>
            <a:ext cx="25399" cy="2124373"/>
          </a:xfrm>
          <a:prstGeom prst="roundRect">
            <a:avLst>
              <a:gd name="adj" fmla="val 50001"/>
            </a:avLst>
          </a:prstGeom>
          <a:solidFill>
            <a:srgbClr val="BBDCD7"/>
          </a:solidFill>
          <a:ln/>
        </p:spPr>
      </p:sp>
      <p:sp>
        <p:nvSpPr>
          <p:cNvPr id="12" name="Text 9"/>
          <p:cNvSpPr/>
          <p:nvPr/>
        </p:nvSpPr>
        <p:spPr>
          <a:xfrm>
            <a:off x="4236336" y="2679898"/>
            <a:ext cx="2545096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Единообразие</a:t>
            </a:r>
            <a:endParaRPr lang="en-US" sz="1750" dirty="0"/>
          </a:p>
        </p:txBody>
      </p:sp>
      <p:sp>
        <p:nvSpPr>
          <p:cNvPr id="13" name="Text 10"/>
          <p:cNvSpPr/>
          <p:nvPr/>
        </p:nvSpPr>
        <p:spPr>
          <a:xfrm>
            <a:off x="4236336" y="3062684"/>
            <a:ext cx="2545096" cy="11203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Уменьшает расхождения между компьютерами разработчиков и CI-сервером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67825" y="4633714"/>
            <a:ext cx="6284160" cy="1284089"/>
          </a:xfrm>
          <a:custGeom>
            <a:avLst/>
            <a:gdLst/>
            <a:ahLst/>
            <a:cxnLst/>
            <a:rect l="l" t="t" r="r" b="b"/>
            <a:pathLst>
              <a:path w="6284160" h="1284089">
                <a:moveTo>
                  <a:pt x="0" y="0"/>
                </a:moveTo>
                <a:lnTo>
                  <a:pt x="6284160" y="0"/>
                </a:lnTo>
                <a:lnTo>
                  <a:pt x="6284160" y="1221239"/>
                </a:lnTo>
                <a:arcTo wR="62849" hR="62850" stAng="0" swAng="5400000"/>
                <a:lnTo>
                  <a:pt x="62849" y="1284089"/>
                </a:lnTo>
                <a:arcTo wR="62849" hR="62850" stAng="5400000" swAng="5400000"/>
                <a:lnTo>
                  <a:pt x="0" y="0"/>
                </a:lnTo>
                <a:close/>
              </a:path>
            </a:pathLst>
          </a:custGeom>
          <a:solidFill>
            <a:srgbClr val="D5F6F1"/>
          </a:solidFill>
          <a:ln/>
        </p:spPr>
      </p:sp>
      <p:sp>
        <p:nvSpPr>
          <p:cNvPr id="15" name="Shape 12"/>
          <p:cNvSpPr/>
          <p:nvPr/>
        </p:nvSpPr>
        <p:spPr>
          <a:xfrm>
            <a:off x="667825" y="4633714"/>
            <a:ext cx="6284160" cy="25400"/>
          </a:xfrm>
          <a:prstGeom prst="roundRect">
            <a:avLst>
              <a:gd name="adj" fmla="val 49999"/>
            </a:avLst>
          </a:prstGeom>
          <a:solidFill>
            <a:srgbClr val="BBDCD7"/>
          </a:solidFill>
          <a:ln/>
        </p:spPr>
      </p:sp>
      <p:sp>
        <p:nvSpPr>
          <p:cNvPr id="16" name="Text 13"/>
          <p:cNvSpPr/>
          <p:nvPr/>
        </p:nvSpPr>
        <p:spPr>
          <a:xfrm>
            <a:off x="838377" y="4804271"/>
            <a:ext cx="5687176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Стабильность</a:t>
            </a:r>
            <a:endParaRPr lang="en-US" sz="1750" dirty="0"/>
          </a:p>
        </p:txBody>
      </p:sp>
      <p:sp>
        <p:nvSpPr>
          <p:cNvPr id="17" name="Text 14"/>
          <p:cNvSpPr/>
          <p:nvPr/>
        </p:nvSpPr>
        <p:spPr>
          <a:xfrm>
            <a:off x="838377" y="5187057"/>
            <a:ext cx="5687176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Предсказуемое окружение напрямую влияет на достоверность результатов проверок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585477" y="3347045"/>
            <a:ext cx="448854" cy="448866"/>
          </a:xfrm>
          <a:prstGeom prst="roundRect">
            <a:avLst>
              <a:gd name="adj" fmla="val 16802"/>
            </a:avLst>
          </a:prstGeom>
          <a:solidFill>
            <a:srgbClr val="FFFFFF"/>
          </a:solidFill>
          <a:ln w="25399">
            <a:solidFill>
              <a:srgbClr val="BBDCD7"/>
            </a:solidFill>
            <a:prstDash val="solid"/>
          </a:ln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97691" y="3459163"/>
            <a:ext cx="224427" cy="2244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143198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Отчёты о выполнении тестов в Jenkins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111871"/>
            <a:ext cx="1086874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После запуска проверок Jenkins сохраняет результаты и отображает статус — это основной инструмент тестировщика для оценки качества версии.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661475" y="3023791"/>
            <a:ext cx="3465426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✅</a:t>
            </a:r>
            <a:endParaRPr lang="en-US" sz="4900" dirty="0"/>
          </a:p>
        </p:txBody>
      </p:sp>
      <p:sp>
        <p:nvSpPr>
          <p:cNvPr id="5" name="Text 3"/>
          <p:cNvSpPr/>
          <p:nvPr/>
        </p:nvSpPr>
        <p:spPr>
          <a:xfrm>
            <a:off x="661475" y="3883720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Успешные тесты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661475" y="4292402"/>
            <a:ext cx="346542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Количество пройденных проверок в текущей сборке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4363135" y="3023791"/>
            <a:ext cx="3465426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❌</a:t>
            </a:r>
            <a:endParaRPr lang="en-US" sz="4900" dirty="0"/>
          </a:p>
        </p:txBody>
      </p:sp>
      <p:sp>
        <p:nvSpPr>
          <p:cNvPr id="8" name="Text 6"/>
          <p:cNvSpPr/>
          <p:nvPr/>
        </p:nvSpPr>
        <p:spPr>
          <a:xfrm>
            <a:off x="4363135" y="3883720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Упавшие тесты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4363135" y="4292402"/>
            <a:ext cx="346542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Проверки, завершившиеся ошибкой — требуют анализа причин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064794" y="3023791"/>
            <a:ext cx="3465426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📈</a:t>
            </a:r>
            <a:endParaRPr lang="en-US" sz="4900" dirty="0"/>
          </a:p>
        </p:txBody>
      </p:sp>
      <p:sp>
        <p:nvSpPr>
          <p:cNvPr id="11" name="Text 9"/>
          <p:cNvSpPr/>
          <p:nvPr/>
        </p:nvSpPr>
        <p:spPr>
          <a:xfrm>
            <a:off x="8064794" y="3883720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Динамика качества</a:t>
            </a:r>
            <a:endParaRPr lang="en-US" sz="1850" dirty="0"/>
          </a:p>
        </p:txBody>
      </p:sp>
      <p:sp>
        <p:nvSpPr>
          <p:cNvPr id="12" name="Text 10"/>
          <p:cNvSpPr/>
          <p:nvPr/>
        </p:nvSpPr>
        <p:spPr>
          <a:xfrm>
            <a:off x="8064794" y="4292402"/>
            <a:ext cx="346542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Отслеживание тенденций по нескольким сборкам подряд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61475" y="5109865"/>
            <a:ext cx="1086874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Анализ отчётов помогает определить причины ошибок и выбрать дальнейшие действия — эскалировать дефект или исследовать инфраструктуру.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343521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Jenkins и ручное тестирование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009775"/>
            <a:ext cx="1086874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Два подхода — одна цель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661475" y="2588518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Автоматизация не заменяет ручное тестирование. Это взаимодополняющие методы контроля качества.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61475" y="3103563"/>
            <a:ext cx="10868745" cy="755948"/>
          </a:xfrm>
          <a:prstGeom prst="roundRect">
            <a:avLst>
              <a:gd name="adj" fmla="val 10502"/>
            </a:avLst>
          </a:prstGeom>
          <a:solidFill>
            <a:srgbClr val="D5F6F1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482" y="3371255"/>
            <a:ext cx="236234" cy="1890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75723" y="3339802"/>
            <a:ext cx="1067507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Качество достигается сочетанием обоих методов, а не выбором одного из них.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61475" y="4072136"/>
            <a:ext cx="5339820" cy="1442343"/>
          </a:xfrm>
          <a:prstGeom prst="roundRect">
            <a:avLst>
              <a:gd name="adj" fmla="val 5504"/>
            </a:avLst>
          </a:prstGeom>
          <a:solidFill>
            <a:srgbClr val="FFFFFF"/>
          </a:solidFill>
          <a:ln w="25399">
            <a:solidFill>
              <a:srgbClr val="BBDCD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75881" y="4286548"/>
            <a:ext cx="491100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Автоматизация</a:t>
            </a:r>
            <a:endParaRPr lang="en-US" sz="1850" dirty="0"/>
          </a:p>
        </p:txBody>
      </p:sp>
      <p:sp>
        <p:nvSpPr>
          <p:cNvPr id="10" name="Text 7"/>
          <p:cNvSpPr/>
          <p:nvPr/>
        </p:nvSpPr>
        <p:spPr>
          <a:xfrm>
            <a:off x="875881" y="4695230"/>
            <a:ext cx="491100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Эффективна для повторяющихся сценариев и регрессии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190301" y="4072136"/>
            <a:ext cx="5339919" cy="1442343"/>
          </a:xfrm>
          <a:prstGeom prst="roundRect">
            <a:avLst>
              <a:gd name="adj" fmla="val 5504"/>
            </a:avLst>
          </a:prstGeom>
          <a:solidFill>
            <a:srgbClr val="FFFFFF"/>
          </a:solidFill>
          <a:ln w="25399">
            <a:solidFill>
              <a:srgbClr val="BBDCD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4708" y="4286548"/>
            <a:ext cx="49111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Ручное тестирование</a:t>
            </a:r>
            <a:endParaRPr lang="en-US" sz="1850" dirty="0"/>
          </a:p>
        </p:txBody>
      </p:sp>
      <p:sp>
        <p:nvSpPr>
          <p:cNvPr id="13" name="Text 10"/>
          <p:cNvSpPr/>
          <p:nvPr/>
        </p:nvSpPr>
        <p:spPr>
          <a:xfrm>
            <a:off x="6404708" y="4695230"/>
            <a:ext cx="491110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Анализ продукта с точки зрения реального пользователя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78656"/>
            <a:ext cx="10868745" cy="4430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Управление ошибками в Jenkins Pipeline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661475" y="1334294"/>
            <a:ext cx="11478330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Когда pipeline завершается неуспешно, задача тестировщика — определить </a:t>
            </a:r>
            <a:r>
              <a:rPr lang="en-US" sz="11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источник</a:t>
            </a:r>
            <a:r>
              <a:rPr lang="en-US" sz="11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проблемы, а не просто зафиксировать красный статус.</a:t>
            </a:r>
            <a:endParaRPr lang="en-US" sz="11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7519" y="1652290"/>
            <a:ext cx="7056658" cy="373776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544521" y="4323664"/>
            <a:ext cx="1744765" cy="2181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Красный статус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3420449" y="4603803"/>
            <a:ext cx="1868837" cy="305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1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Фиксация неуспеха и сбор базовой информации.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2862124" y="2132961"/>
            <a:ext cx="1744765" cy="2181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Анализ логов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2738052" y="2413099"/>
            <a:ext cx="1868837" cy="305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1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Просмотр вывода pipeline и ошибок тестов.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925488" y="1914859"/>
            <a:ext cx="1868837" cy="436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Определение этапа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925488" y="2413099"/>
            <a:ext cx="1868837" cy="305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1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Уточнить, на каком шаге произошёл сбой.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584621" y="4323786"/>
            <a:ext cx="1868837" cy="436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Источник проблемы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584621" y="4822025"/>
            <a:ext cx="1868837" cy="4580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1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Код, тесты, Jenkins-настройки или внешние зависимости.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61475" y="5509617"/>
            <a:ext cx="10868745" cy="669627"/>
          </a:xfrm>
          <a:prstGeom prst="roundRect">
            <a:avLst>
              <a:gd name="adj" fmla="val 8892"/>
            </a:avLst>
          </a:prstGeom>
          <a:solidFill>
            <a:srgbClr val="B6D6FC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156" y="5666978"/>
            <a:ext cx="177200" cy="14168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122037" y="5651302"/>
            <a:ext cx="10266503" cy="396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Красный статус — не всегда дефект продукта. Причиной может быть нестабильное окружение, сетевая ошибка или неверная конфигурация Jenkins.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0075" y="488057"/>
            <a:ext cx="4411254" cy="588188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905570"/>
            <a:ext cx="6296860" cy="1004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Jenkins в современной культуре разработки</a:t>
            </a:r>
            <a:endParaRPr lang="en-US" sz="3150" dirty="0"/>
          </a:p>
        </p:txBody>
      </p:sp>
      <p:sp>
        <p:nvSpPr>
          <p:cNvPr id="5" name="Text 2"/>
          <p:cNvSpPr/>
          <p:nvPr/>
        </p:nvSpPr>
        <p:spPr>
          <a:xfrm>
            <a:off x="661475" y="2114451"/>
            <a:ext cx="6296860" cy="713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Jenkins — инструмент перехода от ручного управления к автоматизированной разработке. Он формирует стабильный процесс, в котором качество встроено на каждом этапе.</a:t>
            </a:r>
            <a:endParaRPr lang="en-US" sz="12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1699" y="2986137"/>
            <a:ext cx="240996" cy="24100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83551" y="2981226"/>
            <a:ext cx="5774784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Стабильный процесс</a:t>
            </a:r>
            <a:endParaRPr lang="en-US" sz="1550" dirty="0"/>
          </a:p>
        </p:txBody>
      </p:sp>
      <p:sp>
        <p:nvSpPr>
          <p:cNvPr id="8" name="Text 4"/>
          <p:cNvSpPr/>
          <p:nvPr/>
        </p:nvSpPr>
        <p:spPr>
          <a:xfrm>
            <a:off x="1183551" y="3314105"/>
            <a:ext cx="5774784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Каждое изменение проходит определённый набор проверок перед попаданием в продукт</a:t>
            </a:r>
            <a:endParaRPr lang="en-US" sz="12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1699" y="4067522"/>
            <a:ext cx="240996" cy="24100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83551" y="4062611"/>
            <a:ext cx="5774784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Качество внутри процесса</a:t>
            </a:r>
            <a:endParaRPr lang="en-US" sz="1550" dirty="0"/>
          </a:p>
        </p:txBody>
      </p:sp>
      <p:sp>
        <p:nvSpPr>
          <p:cNvPr id="11" name="Text 6"/>
          <p:cNvSpPr/>
          <p:nvPr/>
        </p:nvSpPr>
        <p:spPr>
          <a:xfrm>
            <a:off x="1183551" y="4395490"/>
            <a:ext cx="5774784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Современный контроль качества формируется не после разработки, а в ходе неё</a:t>
            </a:r>
            <a:endParaRPr lang="en-US" sz="12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1699" y="5148907"/>
            <a:ext cx="240996" cy="24100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83551" y="5143996"/>
            <a:ext cx="5774784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Роль тестировщика</a:t>
            </a:r>
            <a:endParaRPr lang="en-US" sz="1550" dirty="0"/>
          </a:p>
        </p:txBody>
      </p:sp>
      <p:sp>
        <p:nvSpPr>
          <p:cNvPr id="14" name="Text 8"/>
          <p:cNvSpPr/>
          <p:nvPr/>
        </p:nvSpPr>
        <p:spPr>
          <a:xfrm>
            <a:off x="1183551" y="5476875"/>
            <a:ext cx="5774784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Понимать, где запускаются проверки, как читать результаты и как анализировать сбои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658</Words>
  <Application>Microsoft Office PowerPoint</Application>
  <PresentationFormat>Широкоэкранный</PresentationFormat>
  <Paragraphs>97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Open Sans Bold</vt:lpstr>
      <vt:lpstr>Arial</vt:lpstr>
      <vt:lpstr>Open Sans</vt:lpstr>
      <vt:lpstr>Montserrat Bold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Ефимов Матвей Александрович</cp:lastModifiedBy>
  <cp:revision>2</cp:revision>
  <dcterms:created xsi:type="dcterms:W3CDTF">2026-09-21T21:33:42Z</dcterms:created>
  <dcterms:modified xsi:type="dcterms:W3CDTF">2026-09-21T21:50:56Z</dcterms:modified>
</cp:coreProperties>
</file>