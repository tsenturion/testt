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Montserrat Bold" panose="020B0604020202020204" charset="-52"/>
      <p:regular r:id="rId13"/>
    </p:embeddedFont>
    <p:embeddedFont>
      <p:font typeface="Open Sans" panose="020B0606030504020204" pitchFamily="3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0296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947664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Тестирование как часть разработки, а не финальный этап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4003080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Раньше тестирование было отдельным этапом после разработки. В CI/CD проверки встроены прямо в процесс — система реагирует на каждое изменение кода мгновенно.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622300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Почему быстрая обратная связь экономит время</a:t>
            </a:r>
            <a:endParaRPr lang="en-US" sz="3700" dirty="0"/>
          </a:p>
        </p:txBody>
      </p:sp>
      <p:sp>
        <p:nvSpPr>
          <p:cNvPr id="5" name="Shape 2"/>
          <p:cNvSpPr/>
          <p:nvPr/>
        </p:nvSpPr>
        <p:spPr>
          <a:xfrm>
            <a:off x="5097236" y="2677716"/>
            <a:ext cx="3190101" cy="3557984"/>
          </a:xfrm>
          <a:prstGeom prst="roundRect">
            <a:avLst>
              <a:gd name="adj" fmla="val 4266"/>
            </a:avLst>
          </a:prstGeom>
          <a:solidFill>
            <a:srgbClr val="27B29F"/>
          </a:solidFill>
          <a:ln/>
        </p:spPr>
      </p:sp>
      <p:sp>
        <p:nvSpPr>
          <p:cNvPr id="6" name="Text 3"/>
          <p:cNvSpPr/>
          <p:nvPr/>
        </p:nvSpPr>
        <p:spPr>
          <a:xfrm>
            <a:off x="5286243" y="2866727"/>
            <a:ext cx="281208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Ошибка найдена сразу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5286243" y="3646289"/>
            <a:ext cx="281208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Разработчик помнит, что менял. Исправление занимает минуты.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18719" y="2866727"/>
            <a:ext cx="291785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Ошибка найдена через неделю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8618719" y="3646289"/>
            <a:ext cx="2917851" cy="2419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После десятка обновлений поиск причины превращается в настоящий кошмар. Для тестировщика это означает новую роль: следить за качеством на каждом шаге, а не только проверять готовый продукт.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7354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Первый фильтр: базовые проверки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662" y="2336899"/>
            <a:ext cx="5152896" cy="30583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123149" y="4685824"/>
            <a:ext cx="1280885" cy="24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Smoke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3508883" y="4562448"/>
            <a:ext cx="1280885" cy="49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Зависимости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1868297" y="4685824"/>
            <a:ext cx="1280885" cy="24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Сборка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032251" y="2117725"/>
            <a:ext cx="3504219" cy="34966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код попадает в пайплайн, система сначала проверяет самое простое: собирается ли приложение, доступны ли зависимости, работают ли основные компоненты.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Это не полноценное тестирование, а быстрый фильтр. Если здесь что-то сломалось — процесс останавливается. Это экономит ресурсы и не тратит время на ненужные проверки.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197868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Автоматические тесты: проверка по сценариям</a:t>
            </a:r>
            <a:endParaRPr lang="en-US" sz="3700" dirty="0"/>
          </a:p>
        </p:txBody>
      </p:sp>
      <p:sp>
        <p:nvSpPr>
          <p:cNvPr id="5" name="Shape 2"/>
          <p:cNvSpPr/>
          <p:nvPr/>
        </p:nvSpPr>
        <p:spPr>
          <a:xfrm>
            <a:off x="5233360" y="2662634"/>
            <a:ext cx="3053877" cy="1404243"/>
          </a:xfrm>
          <a:prstGeom prst="roundRect">
            <a:avLst>
              <a:gd name="adj" fmla="val 5653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28717" y="2857996"/>
            <a:ext cx="26631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Функциональность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5428717" y="3266678"/>
            <a:ext cx="26631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Работает ли функция так, как ожидается?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476244" y="2662634"/>
            <a:ext cx="3053976" cy="1404243"/>
          </a:xfrm>
          <a:prstGeom prst="roundRect">
            <a:avLst>
              <a:gd name="adj" fmla="val 5653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71601" y="2857996"/>
            <a:ext cx="26632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Регрессия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8671601" y="3266678"/>
            <a:ext cx="266326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 сломалось ли то, что работало раньше?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233360" y="4255889"/>
            <a:ext cx="6296860" cy="1404243"/>
          </a:xfrm>
          <a:prstGeom prst="roundRect">
            <a:avLst>
              <a:gd name="adj" fmla="val 5653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28717" y="4451251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Качество тестов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5428717" y="4859933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Плохо написанные тесты не гарантируют отсутствие проблем даже при зелёном статусе.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3974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Разные проверки на разных этапах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811" y="1457424"/>
            <a:ext cx="4704141" cy="47042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659" y="2964954"/>
            <a:ext cx="5226911" cy="1689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Aft>
                <a:spcPts val="105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 все тесты запускаются одновременно. Быстрые проверки выполняются в начале, чтобы сразу выявить очевидные проблемы. Сложные и долгие тесты запускаются позже.</a:t>
            </a:r>
            <a:endParaRPr lang="en-US" sz="1300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Логика простая: сначала отсеиваем явные ошибки, потом углубляемся в детали. Задача тестировщика — понимать эту логику и правильно встраивать проверки в процесс.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8779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Ручное тестирование остаётся важным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846586"/>
            <a:ext cx="1541622" cy="154166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439331" y="2846586"/>
            <a:ext cx="35383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Автоматизация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2439331" y="3255268"/>
            <a:ext cx="353835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Берёт на себя повторяющиеся сценарии и рутинные проверки.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3915" y="2846586"/>
            <a:ext cx="1541722" cy="1541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991870" y="2846586"/>
            <a:ext cx="35383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Человек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7991870" y="3255268"/>
            <a:ext cx="3538350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Исследует новые функции, оценивает удобство, ищет неожиданные ситуации — то, что алгоритм не видит.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661475" y="4677569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 CI/CD ручное тестирование не исчезает, а становится более целенаправленным.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5412" y="481806"/>
            <a:ext cx="4420680" cy="58943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00398"/>
            <a:ext cx="6296860" cy="944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Merge Request как точка контроля</a:t>
            </a:r>
            <a:endParaRPr lang="en-US" sz="2950" dirty="0"/>
          </a:p>
        </p:txBody>
      </p:sp>
      <p:sp>
        <p:nvSpPr>
          <p:cNvPr id="5" name="Text 2"/>
          <p:cNvSpPr/>
          <p:nvPr/>
        </p:nvSpPr>
        <p:spPr>
          <a:xfrm>
            <a:off x="661475" y="2035572"/>
            <a:ext cx="2963987" cy="2721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spcAft>
                <a:spcPts val="85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разработчик хочет добавить изменения в основной код, они проходят через Merge Request. В этот момент автоматические проверки запускаются параллельно с рассмотрением кода.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видит результаты: прошли ли тесты, есть ли ошибки, безопасно ли объединять изменения. Это критическая точка контроля, которая предотвращает попадание проблем в стабильную версию.</a:t>
            </a:r>
            <a:endParaRPr lang="en-US" sz="11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00698" y="2062758"/>
            <a:ext cx="2963987" cy="113307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47151" y="2233017"/>
            <a:ext cx="254727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Автопроверки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4247151" y="2590205"/>
            <a:ext cx="2547278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Тесты запускаются автоматически при создании MR</a:t>
            </a:r>
            <a:endParaRPr lang="en-US" sz="11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00698" y="3316784"/>
            <a:ext cx="2963987" cy="113307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247151" y="3487043"/>
            <a:ext cx="254727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Ревью кода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4247151" y="3844230"/>
            <a:ext cx="2547278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Команда анализирует изменения вручную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00698" y="4570809"/>
            <a:ext cx="2963987" cy="135076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247151" y="4741069"/>
            <a:ext cx="254727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Решение</a:t>
            </a:r>
            <a:endParaRPr lang="en-US" sz="1450" dirty="0"/>
          </a:p>
        </p:txBody>
      </p:sp>
      <p:sp>
        <p:nvSpPr>
          <p:cNvPr id="14" name="Text 8"/>
          <p:cNvSpPr/>
          <p:nvPr/>
        </p:nvSpPr>
        <p:spPr>
          <a:xfrm>
            <a:off x="4247151" y="5098256"/>
            <a:ext cx="2547278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Объединение разрешается только при успешном прохождении обоих этапов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31837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Окружение: контекст, в котором работают тесты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409230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521744"/>
            <a:ext cx="6903269" cy="1984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Тесты выполняются не в пустоте. Им нужна среда: версии программ, настройки базы данных, переменные окружения.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Результат проверки зависит не только от кода приложения, но и от этого контекста. Если тест упал, важно разобраться: проблема в приложении, в самом тесте или в условиях его выполнения? Умение различать эти причины — ключевой навык тестировщика.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4633201" y="4718943"/>
            <a:ext cx="6903269" cy="1039416"/>
          </a:xfrm>
          <a:prstGeom prst="roundRect">
            <a:avLst>
              <a:gd name="adj" fmla="val 7638"/>
            </a:avLst>
          </a:prstGeom>
          <a:solidFill>
            <a:srgbClr val="D5F6F1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208" y="5012035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47449" y="4936232"/>
            <a:ext cx="610001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Один и тот же тест может давать разные результаты в разных окружениях.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85602"/>
            <a:ext cx="10868745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Анализ результатов: не просто красный или зелёный</a:t>
            </a:r>
            <a:endParaRPr lang="en-US" sz="3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149078"/>
            <a:ext cx="448854" cy="4488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2811165"/>
            <a:ext cx="532771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Ошибка в приложении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661475" y="3193951"/>
            <a:ext cx="5327715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Код работает не так, как ожидалось — реальная проблема продукта.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02406" y="2149078"/>
            <a:ext cx="448854" cy="44886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02406" y="2811165"/>
            <a:ext cx="5327814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Ошибка в тесте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202406" y="3193951"/>
            <a:ext cx="5327814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Сам сценарий написан неверно или устарел после изменений.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095254"/>
            <a:ext cx="448854" cy="44886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1475" y="4757341"/>
            <a:ext cx="532771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Проблема окружения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661475" y="5140127"/>
            <a:ext cx="5327715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Среда выполнения настроена неправильно или недоступна.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02406" y="4095254"/>
            <a:ext cx="448854" cy="44886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202406" y="4757341"/>
            <a:ext cx="5327814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Сбой автоматизации</a:t>
            </a:r>
            <a:endParaRPr lang="en-US" sz="1750" dirty="0"/>
          </a:p>
        </p:txBody>
      </p:sp>
      <p:sp>
        <p:nvSpPr>
          <p:cNvPr id="14" name="Text 8"/>
          <p:cNvSpPr/>
          <p:nvPr/>
        </p:nvSpPr>
        <p:spPr>
          <a:xfrm>
            <a:off x="6202406" y="5140127"/>
            <a:ext cx="532781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Проблема в настройках самого пайплайна, а не в коде.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661475" y="5892205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Красный статус — это начало анализа, а не готовый ответ. Тестировщик должен уметь находить реальную причину сбоя.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2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870645"/>
            <a:ext cx="6296860" cy="168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Тестировщик в CI/CD: участник непрерывного процесса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5233360" y="2810073"/>
            <a:ext cx="6296860" cy="3177183"/>
          </a:xfrm>
          <a:prstGeom prst="roundRect">
            <a:avLst>
              <a:gd name="adj" fmla="val 237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239710" y="2816423"/>
            <a:ext cx="3142080" cy="1862534"/>
          </a:xfrm>
          <a:custGeom>
            <a:avLst/>
            <a:gdLst/>
            <a:ahLst/>
            <a:cxnLst/>
            <a:rect l="l" t="t" r="r" b="b"/>
            <a:pathLst>
              <a:path w="3142080" h="1862534">
                <a:moveTo>
                  <a:pt x="62849" y="0"/>
                </a:moveTo>
                <a:lnTo>
                  <a:pt x="3142080" y="0"/>
                </a:lnTo>
                <a:lnTo>
                  <a:pt x="3142080" y="1862534"/>
                </a:lnTo>
                <a:lnTo>
                  <a:pt x="0" y="1862534"/>
                </a:lnTo>
                <a:lnTo>
                  <a:pt x="0" y="62850"/>
                </a:lnTo>
                <a:arcTo wR="62849" hR="62850" stAng="10800000" swAng="5400000"/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7" name="Text 4"/>
          <p:cNvSpPr/>
          <p:nvPr/>
        </p:nvSpPr>
        <p:spPr>
          <a:xfrm>
            <a:off x="5419193" y="2995910"/>
            <a:ext cx="278311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Понимает процесс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5419193" y="3378696"/>
            <a:ext cx="2783116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Знает, какие проверки автоматические, а какие ручные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381790" y="2816423"/>
            <a:ext cx="3142080" cy="1862534"/>
          </a:xfrm>
          <a:custGeom>
            <a:avLst/>
            <a:gdLst/>
            <a:ahLst/>
            <a:cxnLst/>
            <a:rect l="l" t="t" r="r" b="b"/>
            <a:pathLst>
              <a:path w="3142080" h="1862534">
                <a:moveTo>
                  <a:pt x="0" y="0"/>
                </a:moveTo>
                <a:lnTo>
                  <a:pt x="3079231" y="0"/>
                </a:lnTo>
                <a:arcTo wR="62849" hR="62850" stAng="16200000" swAng="5400000"/>
                <a:lnTo>
                  <a:pt x="3142080" y="1862534"/>
                </a:lnTo>
                <a:lnTo>
                  <a:pt x="0" y="1862534"/>
                </a:lnTo>
                <a:lnTo>
                  <a:pt x="0" y="0"/>
                </a:lnTo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10" name="Shape 7"/>
          <p:cNvSpPr/>
          <p:nvPr/>
        </p:nvSpPr>
        <p:spPr>
          <a:xfrm>
            <a:off x="8381790" y="2816423"/>
            <a:ext cx="25399" cy="1862534"/>
          </a:xfrm>
          <a:prstGeom prst="roundRect">
            <a:avLst>
              <a:gd name="adj" fmla="val 50001"/>
            </a:avLst>
          </a:prstGeom>
          <a:solidFill>
            <a:srgbClr val="BBDCD7"/>
          </a:solidFill>
          <a:ln/>
        </p:spPr>
      </p:sp>
      <p:sp>
        <p:nvSpPr>
          <p:cNvPr id="11" name="Text 8"/>
          <p:cNvSpPr/>
          <p:nvPr/>
        </p:nvSpPr>
        <p:spPr>
          <a:xfrm>
            <a:off x="8561273" y="2995910"/>
            <a:ext cx="2783116" cy="560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Анализирует результаты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8561273" y="3659187"/>
            <a:ext cx="2783116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Умеет находить реальную причину сбоя, а не просто фиксировать статус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239710" y="4678958"/>
            <a:ext cx="6284160" cy="1301948"/>
          </a:xfrm>
          <a:custGeom>
            <a:avLst/>
            <a:gdLst/>
            <a:ahLst/>
            <a:cxnLst/>
            <a:rect l="l" t="t" r="r" b="b"/>
            <a:pathLst>
              <a:path w="6284160" h="1301948">
                <a:moveTo>
                  <a:pt x="0" y="0"/>
                </a:moveTo>
                <a:lnTo>
                  <a:pt x="6284160" y="0"/>
                </a:lnTo>
                <a:lnTo>
                  <a:pt x="6284160" y="1239098"/>
                </a:lnTo>
                <a:arcTo wR="62849" hR="62850" stAng="0" swAng="5400000"/>
                <a:lnTo>
                  <a:pt x="62849" y="1301948"/>
                </a:lnTo>
                <a:arcTo wR="62849" hR="62850" stAng="5400000" swAng="5400000"/>
                <a:lnTo>
                  <a:pt x="0" y="0"/>
                </a:lnTo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14" name="Shape 11"/>
          <p:cNvSpPr/>
          <p:nvPr/>
        </p:nvSpPr>
        <p:spPr>
          <a:xfrm>
            <a:off x="5239710" y="4678958"/>
            <a:ext cx="6284160" cy="25400"/>
          </a:xfrm>
          <a:prstGeom prst="roundRect">
            <a:avLst>
              <a:gd name="adj" fmla="val 49999"/>
            </a:avLst>
          </a:prstGeom>
          <a:solidFill>
            <a:srgbClr val="BBDCD7"/>
          </a:solidFill>
          <a:ln/>
        </p:spPr>
      </p:sp>
      <p:sp>
        <p:nvSpPr>
          <p:cNvPr id="15" name="Text 12"/>
          <p:cNvSpPr/>
          <p:nvPr/>
        </p:nvSpPr>
        <p:spPr>
          <a:xfrm>
            <a:off x="5419193" y="4858445"/>
            <a:ext cx="59251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Влияет на качество</a:t>
            </a:r>
            <a:endParaRPr lang="en-US" sz="1750" dirty="0"/>
          </a:p>
        </p:txBody>
      </p:sp>
      <p:sp>
        <p:nvSpPr>
          <p:cNvPr id="16" name="Text 13"/>
          <p:cNvSpPr/>
          <p:nvPr/>
        </p:nvSpPr>
        <p:spPr>
          <a:xfrm>
            <a:off x="5419193" y="5241230"/>
            <a:ext cx="592519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Качество формируется постоянно — на каждом этапе, а не перед выпуском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595</Words>
  <Application>Microsoft Office PowerPoint</Application>
  <PresentationFormat>Широкоэкранный</PresentationFormat>
  <Paragraphs>69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Open Sans</vt:lpstr>
      <vt:lpstr>Montserrat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2026-09-21T21:48:54Z</dcterms:created>
  <dcterms:modified xsi:type="dcterms:W3CDTF">2026-09-21T21:51:39Z</dcterms:modified>
</cp:coreProperties>
</file>