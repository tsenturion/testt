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Montserrat Bold" panose="020B0604020202020204" charset="-52"/>
      <p:regular r:id="rId14"/>
    </p:embeddedFont>
    <p:embeddedFont>
      <p:font typeface="Montserrat Light" panose="00000400000000000000" pitchFamily="2" charset="-52"/>
      <p:regular r:id="rId15"/>
    </p:embeddedFont>
    <p:embeddedFont>
      <p:font typeface="Open Sans" panose="020B0606030504020204" pitchFamily="34" charset="0"/>
      <p:regular r:id="rId16"/>
      <p:italic r:id="rId17"/>
    </p:embeddedFont>
    <p:embeddedFont>
      <p:font typeface="Open Sans Bold" panose="020B0806030504020204" charset="0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58" d="100"/>
          <a:sy n="58" d="100"/>
        </p:scale>
        <p:origin x="3501" y="3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3CC92F52-761A-9B5D-F44A-84A7431B649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E2B3B8C-4D56-E54F-C86C-73F4608C432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CD91DC-D226-4DB2-BBFE-226413398EE1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B8DAA41-8F8B-AD4E-E76E-7C7DBED03D2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8303B7D-776C-AC1A-4C12-A11446CCADD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B039BB-4528-4F56-884E-228BA24184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966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06279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92" y="500559"/>
            <a:ext cx="4392403" cy="58567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43520"/>
            <a:ext cx="6296860" cy="1122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Зачем вообще нужны модели разработки</a:t>
            </a:r>
            <a:endParaRPr lang="en-US" sz="3500" dirty="0"/>
          </a:p>
        </p:txBody>
      </p:sp>
      <p:sp>
        <p:nvSpPr>
          <p:cNvPr id="5" name="Text 2"/>
          <p:cNvSpPr/>
          <p:nvPr/>
        </p:nvSpPr>
        <p:spPr>
          <a:xfrm>
            <a:off x="5233360" y="1921768"/>
            <a:ext cx="6296860" cy="1120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Модель разработки — это способ организации работы команды, а не просто список этапов. Один и тот же продукт можно создавать по-разному: зафиксировать все требования сразу или двигаться небольшими частями с регулярной обратной связью.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233360" y="3234035"/>
            <a:ext cx="3063104" cy="1875234"/>
          </a:xfrm>
          <a:prstGeom prst="roundRect">
            <a:avLst>
              <a:gd name="adj" fmla="val 4022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19193" y="3419872"/>
            <a:ext cx="2691440" cy="560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Когда подключается тестировщик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5419193" y="4083149"/>
            <a:ext cx="2691440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Модель определяет момент входа QA в процесс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467017" y="3234035"/>
            <a:ext cx="3063203" cy="1875234"/>
          </a:xfrm>
          <a:prstGeom prst="roundRect">
            <a:avLst>
              <a:gd name="adj" fmla="val 4022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52849" y="3419872"/>
            <a:ext cx="2691539" cy="560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Частота получения функциональности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8652849" y="4083149"/>
            <a:ext cx="2691539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Большой релиз раз в квартал или небольшие части каждую неделю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233360" y="5279827"/>
            <a:ext cx="6296860" cy="1034554"/>
          </a:xfrm>
          <a:prstGeom prst="roundRect">
            <a:avLst>
              <a:gd name="adj" fmla="val 7290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19193" y="5465663"/>
            <a:ext cx="5925196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Скорость обратной связи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5419193" y="5848449"/>
            <a:ext cx="5925196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Как быстро дефект доходит до разработчика после обнаружения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98587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Waterfall: последовательность этапов</a:t>
            </a:r>
            <a:endParaRPr lang="en-US" sz="3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3723" y="1373684"/>
            <a:ext cx="7184250" cy="32880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04696" y="3750981"/>
            <a:ext cx="1348762" cy="519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Тестирование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304887" y="3880895"/>
            <a:ext cx="1348762" cy="259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Разработка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614316" y="3880895"/>
            <a:ext cx="1348761" cy="259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Проект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886792" y="3750981"/>
            <a:ext cx="1348762" cy="519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Требования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61475" y="4815284"/>
            <a:ext cx="10868745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Каждый этап полностью завершается перед началом следующего. На тестирование поступает большой объём функциональности одновременно.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61475" y="5444331"/>
            <a:ext cx="10868745" cy="814983"/>
          </a:xfrm>
          <a:prstGeom prst="roundRect">
            <a:avLst>
              <a:gd name="adj" fmla="val 8280"/>
            </a:avLst>
          </a:prstGeom>
          <a:solidFill>
            <a:srgbClr val="FCF2B5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106" y="5639098"/>
            <a:ext cx="200814" cy="16063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3551" y="5620941"/>
            <a:ext cx="10186038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Ошибки в требованиях обнаруживаются поздно — когда исправления уже дорого обходятся. Waterfall подходит для стабильных, хорошо изученных требований.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3449" y="492522"/>
            <a:ext cx="4404607" cy="58729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71599"/>
            <a:ext cx="6296860" cy="1046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Почему требования меняются</a:t>
            </a:r>
            <a:endParaRPr lang="en-US" sz="3250" dirty="0"/>
          </a:p>
        </p:txBody>
      </p:sp>
      <p:sp>
        <p:nvSpPr>
          <p:cNvPr id="5" name="Text 2"/>
          <p:cNvSpPr/>
          <p:nvPr/>
        </p:nvSpPr>
        <p:spPr>
          <a:xfrm>
            <a:off x="661475" y="1989138"/>
            <a:ext cx="2944144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Реальность разработки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61475" y="2399109"/>
            <a:ext cx="2944144" cy="1010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На практике требования меняются во время разработки — это не исключение, а норма. Причины разные: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61475" y="3543002"/>
            <a:ext cx="2944144" cy="1366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Пользователи дают новую обратную связь</a:t>
            </a:r>
            <a:endParaRPr lang="en-US" sz="1300" dirty="0"/>
          </a:p>
          <a:p>
            <a:pPr marL="264160" indent="-264160" algn="l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Бизнес меняет приоритеты</a:t>
            </a:r>
            <a:endParaRPr lang="en-US" sz="1300" dirty="0"/>
          </a:p>
          <a:p>
            <a:pPr marL="264160" indent="-264160" algn="l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Появляются технические ограничения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020541" y="1989138"/>
            <a:ext cx="2944144" cy="52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Ответ на изменения — Agile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020541" y="2660749"/>
            <a:ext cx="2944144" cy="1010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Agile возник как ответ на нестабильность требований. Подход строится на трёх принципах:</a:t>
            </a:r>
            <a:endParaRPr lang="en-US" sz="13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5128617"/>
            <a:ext cx="2000002" cy="11577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24100" y="5315049"/>
            <a:ext cx="1550949" cy="52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Короткие циклы</a:t>
            </a:r>
            <a:endParaRPr lang="en-US" sz="16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09805" y="5128617"/>
            <a:ext cx="2000101" cy="115778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072430" y="5315049"/>
            <a:ext cx="1551048" cy="78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Регулярная обратная связь</a:t>
            </a:r>
            <a:endParaRPr lang="en-US" sz="16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58234" y="5128617"/>
            <a:ext cx="2000002" cy="115778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220859" y="5315049"/>
            <a:ext cx="1550949" cy="78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Постепенное развитие продукта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33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меняется для тестировщика в Agile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002036"/>
            <a:ext cx="472468" cy="472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710755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Качество — постоянная деятельность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3119438"/>
            <a:ext cx="53162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Проверка не откладывается на финальный этап, а встроена в каждый цикл разработки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3915" y="2002036"/>
            <a:ext cx="472468" cy="472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13915" y="2710755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Участие в требованиях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213915" y="3119438"/>
            <a:ext cx="53163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Тестировщик обсуждает требования до начала реализации, а не получает их готовыми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4102298"/>
            <a:ext cx="472468" cy="472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1475" y="4811018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Проверка небольшими частями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661475" y="5219700"/>
            <a:ext cx="53162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Функциональность поступает на тестирование по мере появления, а не одним большим блоком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13915" y="4102298"/>
            <a:ext cx="472468" cy="4724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13915" y="4811018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Быстрое обнаружение ошибок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6213915" y="5219700"/>
            <a:ext cx="53163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Дефект выявляется вскоре после появления, а не через месяцы после написания кода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718046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Scrum: работа спринтами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2182813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Работа делится на ограниченные по времени циклы —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спринты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За один спринт команда выбирает определённый объём задач и доводит их до готового результата.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61475" y="3302695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2365" y="3338116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275723" y="3367584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Тестирование внутри спринта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1275723" y="3776266"/>
            <a:ext cx="568261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Проверка должна укладываться в тот же цикл, что и разработка — задача не считается завершённой, пока не протестирована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61475" y="5061545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2365" y="5096966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275723" y="5126434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Текущая функциональность и регрессия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1275723" y="5535116"/>
            <a:ext cx="568261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Тестировщик проверяет задачи текущего спринта и следит за тем, чтобы ранее работавшее не сломалось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58527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Работа тестировщика в Scrum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841" y="2387997"/>
            <a:ext cx="2684395" cy="26844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92919" y="1467247"/>
            <a:ext cx="694355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Тестировщик — участник процесса, а не финальный проверяющий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592919" y="1808262"/>
            <a:ext cx="28346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592919" y="2030115"/>
            <a:ext cx="6943551" cy="19050"/>
          </a:xfrm>
          <a:prstGeom prst="rect">
            <a:avLst/>
          </a:prstGeom>
          <a:solidFill>
            <a:srgbClr val="27B29F"/>
          </a:solidFill>
          <a:ln/>
        </p:spPr>
      </p:sp>
      <p:sp>
        <p:nvSpPr>
          <p:cNvPr id="7" name="Text 4"/>
          <p:cNvSpPr/>
          <p:nvPr/>
        </p:nvSpPr>
        <p:spPr>
          <a:xfrm>
            <a:off x="4592919" y="2139057"/>
            <a:ext cx="694355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Уточняет критерии приёмки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592919" y="2466777"/>
            <a:ext cx="6943551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До начала разработки — чтобы понимать, что именно нужно проверить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92919" y="2877741"/>
            <a:ext cx="28346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92919" y="3099594"/>
            <a:ext cx="6943551" cy="19050"/>
          </a:xfrm>
          <a:prstGeom prst="rect">
            <a:avLst/>
          </a:prstGeom>
          <a:solidFill>
            <a:srgbClr val="27B29F"/>
          </a:solidFill>
          <a:ln/>
        </p:spPr>
      </p:sp>
      <p:sp>
        <p:nvSpPr>
          <p:cNvPr id="11" name="Text 8"/>
          <p:cNvSpPr/>
          <p:nvPr/>
        </p:nvSpPr>
        <p:spPr>
          <a:xfrm>
            <a:off x="4592919" y="3208536"/>
            <a:ext cx="694355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Получает и проверяет готовые части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592919" y="3536255"/>
            <a:ext cx="6943551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Функциональность поступает по мере реализации, а не всё сразу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92919" y="3947220"/>
            <a:ext cx="28346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92919" y="4169073"/>
            <a:ext cx="6943551" cy="19050"/>
          </a:xfrm>
          <a:prstGeom prst="rect">
            <a:avLst/>
          </a:prstGeom>
          <a:solidFill>
            <a:srgbClr val="27B29F"/>
          </a:solidFill>
          <a:ln/>
        </p:spPr>
      </p:sp>
      <p:sp>
        <p:nvSpPr>
          <p:cNvPr id="15" name="Text 12"/>
          <p:cNvSpPr/>
          <p:nvPr/>
        </p:nvSpPr>
        <p:spPr>
          <a:xfrm>
            <a:off x="4592919" y="4278015"/>
            <a:ext cx="694355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Сообщает о дефектах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4592919" y="4605734"/>
            <a:ext cx="6943551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Команда совместно решает, исправлять ли найденное в текущем цикле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92919" y="5016698"/>
            <a:ext cx="28346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92919" y="5238552"/>
            <a:ext cx="6943551" cy="19050"/>
          </a:xfrm>
          <a:prstGeom prst="rect">
            <a:avLst/>
          </a:prstGeom>
          <a:solidFill>
            <a:srgbClr val="27B29F"/>
          </a:solidFill>
          <a:ln/>
        </p:spPr>
      </p:sp>
      <p:sp>
        <p:nvSpPr>
          <p:cNvPr id="19" name="Text 16"/>
          <p:cNvSpPr/>
          <p:nvPr/>
        </p:nvSpPr>
        <p:spPr>
          <a:xfrm>
            <a:off x="4592919" y="5347494"/>
            <a:ext cx="694355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Постоянно взаимодействует с разработчиками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4592919" y="5675213"/>
            <a:ext cx="6943551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Не ждёт передачи задачи, а работает в одном ритме с командой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455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Kanban: непрерывный поток</a:t>
            </a:r>
            <a:endParaRPr lang="en-US" sz="2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828" y="1269107"/>
            <a:ext cx="4945236" cy="4945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40962" y="2590602"/>
            <a:ext cx="4695509" cy="227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Ключевые особенности Kanban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840962" y="2930128"/>
            <a:ext cx="4695509" cy="618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Вместо фиксированных спринтов — непрерывное движение задач через рабочий процесс. Новая задача поступает в работу, проходит стадии и завершается.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840962" y="3649861"/>
            <a:ext cx="4695509" cy="13160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18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Функциональность может поступать на проверку в разное время</a:t>
            </a:r>
            <a:endParaRPr lang="en-US" sz="1100" dirty="0"/>
          </a:p>
          <a:p>
            <a:pPr marL="223520" indent="-223520" algn="l">
              <a:lnSpc>
                <a:spcPct val="118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Важно контролировать объём одновременно выполняемой работы</a:t>
            </a:r>
            <a:endParaRPr lang="en-US" sz="1100" dirty="0"/>
          </a:p>
          <a:p>
            <a:pPr marL="223520" indent="-223520" algn="l">
              <a:lnSpc>
                <a:spcPct val="118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Если разработчики быстрее тестировщиков — тестирование становится узким местом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527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Ограничение незавершённой работы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968401"/>
            <a:ext cx="520379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Проблема: слишком много задач одновременно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747962"/>
            <a:ext cx="520379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 Kanban принципиально важно ограничивать количество задач, которые одновременно находятся в работе — в том числе на этапе тестирования.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196651" y="1779389"/>
            <a:ext cx="5476043" cy="2223095"/>
          </a:xfrm>
          <a:prstGeom prst="roundRect">
            <a:avLst>
              <a:gd name="adj" fmla="val 6122"/>
            </a:avLst>
          </a:prstGeom>
          <a:solidFill>
            <a:srgbClr val="27B29F"/>
          </a:solidFill>
          <a:ln/>
        </p:spPr>
      </p:sp>
      <p:sp>
        <p:nvSpPr>
          <p:cNvPr id="6" name="Text 4"/>
          <p:cNvSpPr/>
          <p:nvPr/>
        </p:nvSpPr>
        <p:spPr>
          <a:xfrm>
            <a:off x="6385658" y="1968401"/>
            <a:ext cx="50980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Цель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6385658" y="2452687"/>
            <a:ext cx="5098029" cy="1379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Стабильное движение начатой работы до завершения — а не максимальная скорость запуска новых задач.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Лучше довести три задачи до конца, чем начать десять и не завершить ни одну.</a:t>
            </a:r>
            <a:endParaRPr lang="en-US" sz="14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215110"/>
            <a:ext cx="5339820" cy="173761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77479" y="4429522"/>
            <a:ext cx="4809409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Постоянное переключение контекста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977479" y="5133479"/>
            <a:ext cx="480940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Тестировщик теряет детали реализации каждой задачи</a:t>
            </a:r>
            <a:endParaRPr lang="en-US" sz="14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90301" y="4215110"/>
            <a:ext cx="5339919" cy="173761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506305" y="4429522"/>
            <a:ext cx="48095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Замедление проверок</a:t>
            </a:r>
            <a:endParaRPr lang="en-US" sz="1850" dirty="0"/>
          </a:p>
        </p:txBody>
      </p:sp>
      <p:sp>
        <p:nvSpPr>
          <p:cNvPr id="13" name="Text 9"/>
          <p:cNvSpPr/>
          <p:nvPr/>
        </p:nvSpPr>
        <p:spPr>
          <a:xfrm>
            <a:off x="6506305" y="4838204"/>
            <a:ext cx="480950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Много начатого, мало завершённого — очередь растёт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4705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Scrum и Kanban: общее и различное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015728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Обе методологии не меняют суть тестирования: определить ожидаемое поведение, выполнить проверки, зарегистрировать дефекты, подтвердить исправления.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2833191"/>
            <a:ext cx="10868745" cy="1706662"/>
          </a:xfrm>
          <a:prstGeom prst="roundRect">
            <a:avLst>
              <a:gd name="adj" fmla="val 4652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825" y="2839541"/>
            <a:ext cx="5428023" cy="1693962"/>
          </a:xfrm>
          <a:custGeom>
            <a:avLst/>
            <a:gdLst/>
            <a:ahLst/>
            <a:cxnLst/>
            <a:rect l="l" t="t" r="r" b="b"/>
            <a:pathLst>
              <a:path w="5428023" h="1693962">
                <a:moveTo>
                  <a:pt x="66156" y="0"/>
                </a:moveTo>
                <a:lnTo>
                  <a:pt x="5428023" y="0"/>
                </a:lnTo>
                <a:lnTo>
                  <a:pt x="5428023" y="1693962"/>
                </a:lnTo>
                <a:lnTo>
                  <a:pt x="66156" y="1693962"/>
                </a:lnTo>
                <a:arcTo wR="66156" hR="66158" stAng="5400000" swAng="5400000"/>
                <a:lnTo>
                  <a:pt x="0" y="66158"/>
                </a:lnTo>
                <a:arcTo wR="66156" hR="66158" stAng="10800000" swAng="5400000"/>
                <a:close/>
              </a:path>
            </a:pathLst>
          </a:custGeom>
          <a:solidFill>
            <a:srgbClr val="D5F6F1"/>
          </a:solidFill>
          <a:ln/>
        </p:spPr>
      </p:sp>
      <p:sp>
        <p:nvSpPr>
          <p:cNvPr id="6" name="Text 4"/>
          <p:cNvSpPr/>
          <p:nvPr/>
        </p:nvSpPr>
        <p:spPr>
          <a:xfrm>
            <a:off x="856832" y="3028553"/>
            <a:ext cx="50500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Scrum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56832" y="3437235"/>
            <a:ext cx="505000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Ориентация на задачи спринта и общий результат цикла. Чёткие временные рамки, командный ритм, регулярные ретроспективы.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095848" y="2839541"/>
            <a:ext cx="5428023" cy="1693962"/>
          </a:xfrm>
          <a:custGeom>
            <a:avLst/>
            <a:gdLst/>
            <a:ahLst/>
            <a:cxnLst/>
            <a:rect l="l" t="t" r="r" b="b"/>
            <a:pathLst>
              <a:path w="5428023" h="1693962">
                <a:moveTo>
                  <a:pt x="0" y="0"/>
                </a:moveTo>
                <a:lnTo>
                  <a:pt x="5361866" y="0"/>
                </a:lnTo>
                <a:arcTo wR="66156" hR="66158" stAng="16200000" swAng="5400000"/>
                <a:lnTo>
                  <a:pt x="5428023" y="1627804"/>
                </a:lnTo>
                <a:arcTo wR="66156" hR="66158" stAng="0" swAng="5400000"/>
                <a:lnTo>
                  <a:pt x="0" y="1693962"/>
                </a:lnTo>
                <a:lnTo>
                  <a:pt x="0" y="0"/>
                </a:lnTo>
                <a:close/>
              </a:path>
            </a:pathLst>
          </a:custGeom>
          <a:solidFill>
            <a:srgbClr val="D5F6F1"/>
          </a:solidFill>
          <a:ln/>
        </p:spPr>
      </p:sp>
      <p:sp>
        <p:nvSpPr>
          <p:cNvPr id="9" name="Shape 7"/>
          <p:cNvSpPr/>
          <p:nvPr/>
        </p:nvSpPr>
        <p:spPr>
          <a:xfrm>
            <a:off x="6095848" y="2839541"/>
            <a:ext cx="25399" cy="1693962"/>
          </a:xfrm>
          <a:prstGeom prst="roundRect">
            <a:avLst>
              <a:gd name="adj" fmla="val 50001"/>
            </a:avLst>
          </a:prstGeom>
          <a:solidFill>
            <a:srgbClr val="BBDCD7"/>
          </a:solidFill>
          <a:ln/>
        </p:spPr>
      </p:sp>
      <p:sp>
        <p:nvSpPr>
          <p:cNvPr id="10" name="Text 8"/>
          <p:cNvSpPr/>
          <p:nvPr/>
        </p:nvSpPr>
        <p:spPr>
          <a:xfrm>
            <a:off x="6284854" y="3028553"/>
            <a:ext cx="50500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Kanban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6284854" y="3437235"/>
            <a:ext cx="505000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Ориентация на текущий поток и доступную пропускную способность. Гибкость в приоритетах, акцент на скорость прохождения задачи.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61475" y="4752479"/>
            <a:ext cx="10868745" cy="1058366"/>
          </a:xfrm>
          <a:prstGeom prst="roundRect">
            <a:avLst>
              <a:gd name="adj" fmla="val 7501"/>
            </a:avLst>
          </a:prstGeom>
          <a:solidFill>
            <a:srgbClr val="D5F6F1"/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482" y="5020171"/>
            <a:ext cx="236234" cy="18901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275723" y="4988719"/>
            <a:ext cx="1006549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На практике компании часто используют комбинацию подходов. Для тестировщика важнее понимать реальный процесс команды, чем название методологии.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4838" y="494407"/>
            <a:ext cx="4401730" cy="58691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613073"/>
            <a:ext cx="6296860" cy="106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Как модель разработки влияет на качество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661475" y="2058988"/>
            <a:ext cx="2940969" cy="797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Модель определяет скорость получения информации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661475" y="3009205"/>
            <a:ext cx="2940969" cy="27233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spcAft>
                <a:spcPts val="105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Позднее тестирование означает, что дефект может затронуть большой объём функционала. Регулярная проверка небольшими частями позволяет быстро локализовать и исправить проблему.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Но ни одна методология не гарантирует качество сама по себе.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023716" y="2058988"/>
            <a:ext cx="2940969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действительно важно</a:t>
            </a:r>
            <a:endParaRPr lang="en-US" sz="16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87512" y="2767856"/>
            <a:ext cx="255085" cy="25509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76450" y="2762647"/>
            <a:ext cx="2388235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Понятные требования</a:t>
            </a:r>
            <a:endParaRPr lang="en-US" sz="16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87512" y="3605461"/>
            <a:ext cx="255085" cy="25509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576450" y="3600252"/>
            <a:ext cx="2388235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Тщательные проверки</a:t>
            </a:r>
            <a:endParaRPr lang="en-US" sz="16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87512" y="4443065"/>
            <a:ext cx="255085" cy="25509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576450" y="4437856"/>
            <a:ext cx="2388235" cy="797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Внимание к найденным дефектам</a:t>
            </a:r>
            <a:endParaRPr lang="en-US" sz="16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87512" y="5546378"/>
            <a:ext cx="255085" cy="255091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576450" y="5541169"/>
            <a:ext cx="2388235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Взаимодействие команды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688</Words>
  <Application>Microsoft Office PowerPoint</Application>
  <PresentationFormat>Широкоэкранный</PresentationFormat>
  <Paragraphs>99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7" baseType="lpstr">
      <vt:lpstr>Calibri</vt:lpstr>
      <vt:lpstr>Montserrat Bold</vt:lpstr>
      <vt:lpstr>Open Sans</vt:lpstr>
      <vt:lpstr>Montserrat Light</vt:lpstr>
      <vt:lpstr>Open Sans Bold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Ефимов Матвей Александрович</cp:lastModifiedBy>
  <cp:revision>2</cp:revision>
  <dcterms:created xsi:type="dcterms:W3CDTF">2026-09-20T21:05:21Z</dcterms:created>
  <dcterms:modified xsi:type="dcterms:W3CDTF">2026-09-21T07:58:14Z</dcterms:modified>
</cp:coreProperties>
</file>