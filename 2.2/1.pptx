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ontserrat Bold" panose="020B0604020202020204" charset="-52"/>
      <p:regular r:id="rId13"/>
    </p:embeddedFont>
    <p:embeddedFont>
      <p:font typeface="Open Sans" panose="020B0606030504020204" pitchFamily="34" charset="0"/>
      <p:regular r:id="rId14"/>
    </p:embeddedFont>
    <p:embeddedFont>
      <p:font typeface="Open Sans Bold" panose="020B0806030504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1896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25959"/>
            <a:ext cx="6296860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такое юнит-тестирование</a:t>
            </a:r>
            <a:endParaRPr lang="en-US" sz="3500" dirty="0"/>
          </a:p>
        </p:txBody>
      </p:sp>
      <p:sp>
        <p:nvSpPr>
          <p:cNvPr id="5" name="Text 2"/>
          <p:cNvSpPr/>
          <p:nvPr/>
        </p:nvSpPr>
        <p:spPr>
          <a:xfrm>
            <a:off x="661475" y="2857698"/>
            <a:ext cx="2929360" cy="25208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Юнит-тестирование — это проверка отдельной функции, метода или компонента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в изоляции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от остальной системы. Оно происходит на самом низком уровне кода, ещё до интеграции с интерфейсом, базой данных и другими частями приложения.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035324" y="2857698"/>
            <a:ext cx="2929360" cy="2240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Ошибка в небольшой функции способна позже проявиться как серьёзная проблема во всём приложении. Юнит-тесты позволяют обнаружить такие ошибки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на ранней стадии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когда их исправление обходится дешевле всего.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Что считается юнитом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 — это минимальная логически самостоятельная часть программы, которую имеет смысл проверять отдельно. Это может быть функция, метод класса или небольшой компонент.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Универсального размера юнита не существует — он зависит от структуры приложения и языка программирования. Главное, чтобы у проверяемого участка были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понятные входные данные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и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ожидаемый результат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706140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Цель юнит-тестирования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170906"/>
            <a:ext cx="6296860" cy="2047180"/>
          </a:xfrm>
          <a:prstGeom prst="roundRect">
            <a:avLst>
              <a:gd name="adj" fmla="val 3878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47767" y="2385318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Точная проверка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47767" y="2794000"/>
            <a:ext cx="586804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Убедиться, что компонент выполняет свою функцию корректно при определённых входных условиях — например, что функция расчёта скидки возвращает правильное значение.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5233360" y="4407098"/>
            <a:ext cx="6296860" cy="1744762"/>
          </a:xfrm>
          <a:prstGeom prst="roundRect">
            <a:avLst>
              <a:gd name="adj" fmla="val 4550"/>
            </a:avLst>
          </a:prstGeom>
          <a:solidFill>
            <a:srgbClr val="FFFFFF"/>
          </a:solidFill>
          <a:ln w="25399">
            <a:solidFill>
              <a:srgbClr val="BBDCD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47767" y="4621510"/>
            <a:ext cx="586804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Локализация проблемы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5447767" y="5030192"/>
            <a:ext cx="58680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Когда тест завершается ошибкой, область поиска уже значительно сужена. Разработчику не нужно искать причину во всей системе.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820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Изоляция как ключевой принцип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2741116"/>
            <a:ext cx="5886799" cy="2231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Проверяемый компонент должен быть максимально отделён от внешних зависимостей — базы данных, API, файловой системы. Это необходимо, чтобы результат теста зависел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только от логики самого компонента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Внешние зависимости заменяются контролируемыми объектами с заранее известным поведением. Так проверяется именно та логика, которая является объектом теста.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439" y="1592957"/>
            <a:ext cx="4528032" cy="45281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173659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Входные данные и ожидаемый результат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233360" y="2466479"/>
            <a:ext cx="6296860" cy="3217863"/>
          </a:xfrm>
          <a:prstGeom prst="roundRect">
            <a:avLst>
              <a:gd name="adj" fmla="val 2220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239710" y="2472829"/>
            <a:ext cx="3142080" cy="1990427"/>
          </a:xfrm>
          <a:custGeom>
            <a:avLst/>
            <a:gdLst/>
            <a:ahLst/>
            <a:cxnLst/>
            <a:rect l="l" t="t" r="r" b="b"/>
            <a:pathLst>
              <a:path w="3142080" h="1990427">
                <a:moveTo>
                  <a:pt x="59541" y="0"/>
                </a:moveTo>
                <a:lnTo>
                  <a:pt x="3142080" y="0"/>
                </a:lnTo>
                <a:lnTo>
                  <a:pt x="3142080" y="1990427"/>
                </a:lnTo>
                <a:lnTo>
                  <a:pt x="0" y="1990427"/>
                </a:lnTo>
                <a:lnTo>
                  <a:pt x="0" y="59542"/>
                </a:lnTo>
                <a:arcTo wR="59541" hR="59542" stAng="10800000" swAng="5400000"/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7" name="Text 4"/>
          <p:cNvSpPr/>
          <p:nvPr/>
        </p:nvSpPr>
        <p:spPr>
          <a:xfrm>
            <a:off x="5409767" y="2642890"/>
            <a:ext cx="28019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Входные данные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5409767" y="3000375"/>
            <a:ext cx="2801967" cy="1034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Функции передаются конкретные, заранее определённые значения — основа любого юнит-теста.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381790" y="2472829"/>
            <a:ext cx="3142080" cy="1990427"/>
          </a:xfrm>
          <a:custGeom>
            <a:avLst/>
            <a:gdLst/>
            <a:ahLst/>
            <a:cxnLst/>
            <a:rect l="l" t="t" r="r" b="b"/>
            <a:pathLst>
              <a:path w="3142080" h="1990427">
                <a:moveTo>
                  <a:pt x="0" y="0"/>
                </a:moveTo>
                <a:lnTo>
                  <a:pt x="3082539" y="0"/>
                </a:lnTo>
                <a:arcTo wR="59541" hR="59542" stAng="16200000" swAng="5400000"/>
                <a:lnTo>
                  <a:pt x="3142080" y="1990427"/>
                </a:lnTo>
                <a:lnTo>
                  <a:pt x="0" y="1990427"/>
                </a:lnTo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472829"/>
            <a:ext cx="19050" cy="1990427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1" name="Text 8"/>
          <p:cNvSpPr/>
          <p:nvPr/>
        </p:nvSpPr>
        <p:spPr>
          <a:xfrm>
            <a:off x="8551847" y="2642890"/>
            <a:ext cx="280196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Ожидаемый результат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8551847" y="3000375"/>
            <a:ext cx="2801967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Результат сравнивается с эталоном. Важно: эталон не должен вычисляться тем же способом, что и проверяемая функция.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239710" y="4463256"/>
            <a:ext cx="6284160" cy="1214735"/>
          </a:xfrm>
          <a:custGeom>
            <a:avLst/>
            <a:gdLst/>
            <a:ahLst/>
            <a:cxnLst/>
            <a:rect l="l" t="t" r="r" b="b"/>
            <a:pathLst>
              <a:path w="6284160" h="1214735">
                <a:moveTo>
                  <a:pt x="0" y="0"/>
                </a:moveTo>
                <a:lnTo>
                  <a:pt x="6284160" y="0"/>
                </a:lnTo>
                <a:lnTo>
                  <a:pt x="6284160" y="1155193"/>
                </a:lnTo>
                <a:arcTo wR="59541" hR="59542" stAng="0" swAng="5400000"/>
                <a:lnTo>
                  <a:pt x="59541" y="1214735"/>
                </a:lnTo>
                <a:arcTo wR="59541" hR="59542" stAng="5400000" swAng="5400000"/>
                <a:lnTo>
                  <a:pt x="0" y="0"/>
                </a:lnTo>
                <a:close/>
              </a:path>
            </a:pathLst>
          </a:custGeom>
          <a:solidFill>
            <a:srgbClr val="D5F6F1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9710" y="4463256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BBDCD7"/>
          </a:solidFill>
          <a:ln/>
        </p:spPr>
      </p:sp>
      <p:sp>
        <p:nvSpPr>
          <p:cNvPr id="15" name="Text 12"/>
          <p:cNvSpPr/>
          <p:nvPr/>
        </p:nvSpPr>
        <p:spPr>
          <a:xfrm>
            <a:off x="5409767" y="4633317"/>
            <a:ext cx="594404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Независимость проверки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5409767" y="4990802"/>
            <a:ext cx="5944047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Иначе можно повторить ту же ошибку и получить формально успешный тест для неправильной логики.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85466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Позитивные и ошибочные условия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2360315"/>
            <a:ext cx="3519201" cy="29544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Компонент нельзя проверять только на одном успешном примере. Логика должна правильно обрабатывать </a:t>
            </a: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разные допустимые и недопустимые условия</a:t>
            </a: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4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Например, функция расчёта дней между датами должна корректно работать с обычными значениями, одинаковыми датами и ситуациями, где конечная дата раньше начальной.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7900" y="2194421"/>
            <a:ext cx="6565736" cy="328622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827422" y="3607137"/>
            <a:ext cx="1233123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Валидация формата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7202557" y="5200849"/>
            <a:ext cx="1759394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Неправильные входы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0094432" y="3607137"/>
            <a:ext cx="1233123" cy="368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Граничные значения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052926" y="2329297"/>
            <a:ext cx="2051174" cy="18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Корректность результата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637751" y="4402251"/>
            <a:ext cx="1265919" cy="43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Ошибочный сценарий — конец раньше начала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375930" y="4408810"/>
            <a:ext cx="1265919" cy="43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Негативные данные — невалидные форматы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375930" y="3267282"/>
            <a:ext cx="1265919" cy="287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Граничный случай — одинаковые даты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598396" y="3195334"/>
            <a:ext cx="1265919" cy="4316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Позитивный сценарий — обычные даты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256209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Юнит-тест как исполняемая проверка</a:t>
            </a:r>
            <a:endParaRPr lang="en-US" sz="3150" dirty="0"/>
          </a:p>
        </p:txBody>
      </p:sp>
      <p:sp>
        <p:nvSpPr>
          <p:cNvPr id="5" name="Shape 2"/>
          <p:cNvSpPr/>
          <p:nvPr/>
        </p:nvSpPr>
        <p:spPr>
          <a:xfrm>
            <a:off x="5233360" y="2465090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293535" y="2495153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1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731327" y="2520255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Автоматический вызов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5731327" y="2853134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 программно вызывает проверяемый компонент и передаёт ему необходимые значения без ручных действий.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233360" y="3601641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293535" y="3631704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2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731327" y="3656806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Сравнение результата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731327" y="3989685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Полученный результат автоматически сравнивается с ожидаемым по одинаковым правилам при каждом запуске.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233360" y="4738191"/>
            <a:ext cx="361445" cy="361454"/>
          </a:xfrm>
          <a:prstGeom prst="roundRect">
            <a:avLst>
              <a:gd name="adj" fmla="val 18669"/>
            </a:avLst>
          </a:prstGeom>
          <a:solidFill>
            <a:srgbClr val="D5F6F1"/>
          </a:solidFill>
          <a:ln w="6350">
            <a:solidFill>
              <a:srgbClr val="BBDCD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293535" y="4768255"/>
            <a:ext cx="240996" cy="3012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3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5731327" y="4793357"/>
            <a:ext cx="5798893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Повторяемость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5731327" y="5126236"/>
            <a:ext cx="579889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Одна и та же проверка выполняется снова и снова — это особенно важно при частых изменениях кода.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Кто обычно пишет юнит-тесты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873673"/>
            <a:ext cx="6903269" cy="19845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Юнит-тесты чаще всего создают </a:t>
            </a:r>
            <a:r>
              <a:rPr lang="en-US" sz="14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разработчики</a:t>
            </a: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для их написания требуется хорошее понимание внутренней структуры кода, существующих функций и их зависимостей.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Тестировщику важно понимать, какие проверки уже выполняются на низком уровне. Это помогает не дублировать их на более высоком уровне и сосредоточиться на других классах рисков.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933252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Скорость выполнения юнит-тестов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968748" y="2135188"/>
            <a:ext cx="245818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мс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61475" y="2800548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Время выполнения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3109317"/>
            <a:ext cx="3072827" cy="870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Юнит-тест работает с небольшим участком кода без тяжёлой внешней инфраструктуры — результат почти мгновенный.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92780" y="2135188"/>
            <a:ext cx="245818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∞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3885507" y="2800548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Частота запусков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885507" y="3109317"/>
            <a:ext cx="307282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Высокая скорость позволяет запускать сотни тестов очень часто — сразу после каждого изменения кода.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80714" y="4297561"/>
            <a:ext cx="245818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0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2273442" y="4962922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Внешних зависимостей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273442" y="5271691"/>
            <a:ext cx="307282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Если тесту нужно реальное приложение и база данных — он уже не является юнит-тестом.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5F6F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230114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Значение юнит-тестирования для качества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661475" y="2465288"/>
            <a:ext cx="2963987" cy="152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Юнит-тестирование помогает находить логические ошибки в компонентах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до того, как они влияют на пользовательские сценарии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Это снижает вероятность того, что простая ошибка дойдёт до более позднего уровня проверки.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000698" y="2465288"/>
            <a:ext cx="2963987" cy="1959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Тесты также контролируют изменения: если разработчик переработал реализацию функции, существующие тесты быстро проверяют, сохранилось ли ожидаемое поведение. При этом юнит-тесты подтверждают корректность отдельных частей, но </a:t>
            </a: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не дают информации о качестве всей системы</a:t>
            </a: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целиком.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4669334"/>
            <a:ext cx="6296860" cy="958453"/>
          </a:xfrm>
          <a:prstGeom prst="roundRect">
            <a:avLst>
              <a:gd name="adj" fmla="val 6626"/>
            </a:avLst>
          </a:prstGeom>
          <a:solidFill>
            <a:srgbClr val="D5F6F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680" y="4841776"/>
            <a:ext cx="189007" cy="15120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52893" y="4828084"/>
            <a:ext cx="5654236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Юнит-тестирование — это первый уровень защиты качества, но не единственный. Оно работает в связке с интеграционным и системным тестированием.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643</Words>
  <Application>Microsoft Office PowerPoint</Application>
  <PresentationFormat>Широкоэкранный</PresentationFormat>
  <Paragraphs>69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Open Sans Bold</vt:lpstr>
      <vt:lpstr>Arial</vt:lpstr>
      <vt:lpstr>Montserrat Bold</vt:lpstr>
      <vt:lpstr>Open Sans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2026-09-25T13:38:25Z</dcterms:created>
  <dcterms:modified xsi:type="dcterms:W3CDTF">2026-09-25T13:49:37Z</dcterms:modified>
</cp:coreProperties>
</file>