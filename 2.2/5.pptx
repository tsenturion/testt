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85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приёмочное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Приёмочное тестирование (UAT) — это проверка готовности продукта к реальному использованию. Главный вопрос здесь не «работает ли функция технически», 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«может ли пользователь выполнить свою работу с помощью этой системы»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этом уровне система оценивается как решение конкретной бизнес-задачи. Если приложение стабильно, но пользователь не может выполнить необходимую операцию так, как требуется в реальной работе, продукт ещё не готов к приёмке.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5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Кто участвует в UAT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5273"/>
            <a:ext cx="2371269" cy="2371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00251" y="2352278"/>
            <a:ext cx="8036220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Приёмочное тестирование — это не только работа разработчиков. В нём участвуют: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помогает организовать UAT и подготовить сценарии, но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решение о приёмке принимают те, кто будет реально использовать систему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01852"/>
            <a:ext cx="3496877" cy="17376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471626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Представители заказчика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42022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Определяют, соответствует ли продукт бизнес-ожиданиям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501852"/>
            <a:ext cx="3496877" cy="17376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363" y="471626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Конечные пользователи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63363" y="542022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Проверяют систему в условиях реальной работы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4501852"/>
            <a:ext cx="3496877" cy="17376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9247" y="471626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Сотрудники бизнес-подразделений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49247" y="542022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Знают реальный процесс и выявляют несоответствия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19411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UAT с бизнес-требованиями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651125"/>
            <a:ext cx="2952478" cy="2500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Основа приёмочного тестирования — бизнес-требования и критерии готовности. Проверяется не просто наличие функции, а то,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решает ли она конкретную задачу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UAT связывает программную реализацию с бизнес-ожиданиями и выявляет несоответствия между техническим наличием функции и её практической пригодностью.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584092" y="2681883"/>
            <a:ext cx="2952478" cy="2703116"/>
          </a:xfrm>
          <a:prstGeom prst="roundRect">
            <a:avLst>
              <a:gd name="adj" fmla="val 2496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723" y="2895699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06168" y="2844800"/>
            <a:ext cx="2269771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Пример: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Система для обработки обращений клиентов должна позволять сотруднику не только создать заявку, но и обработать её, изменить состояние и получить результат в рамках реального рабочего процесса.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38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Приёмочные критерии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254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Приёмочные критерии — это заранее определённые условия, по которым продукт считается готовым. Они должны быть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конкретными и проверяемыми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60005"/>
            <a:ext cx="10868745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066355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66156" y="0"/>
                </a:moveTo>
                <a:lnTo>
                  <a:pt x="5428023" y="0"/>
                </a:lnTo>
                <a:lnTo>
                  <a:pt x="5428023" y="1693962"/>
                </a:lnTo>
                <a:lnTo>
                  <a:pt x="66156" y="1693962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25536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Хороший критерий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664049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«Система позволяет сотруднику зарегистрировать обращение, назначить ответственного и завершить обработку без потери данных»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066355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627804"/>
                </a:lnTo>
                <a:arcTo wR="66156" hR="66158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066355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25536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Плохой критерий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664049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«Система должна хорошо работать»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97929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точнее определены ожидаемые результаты, тем объективнее проходит приёмка и тем меньше разногласий между участниками.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043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Реальные пользовательские сценарии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189361"/>
            <a:ext cx="3534282" cy="3240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UAT используются сценарии, максимально приближённые к реальной работе. Это не искусственные проверки отдельных кнопок, а воспроизведение действий, которые пользователь будет выполнять ежедневно.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Такой подход выявляет проблемы, которые не видны при технических проверках. Система может корректно выполнять отдельные действия, но быть неудобной или неполной в реальном рабочем процессе.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409" y="2401193"/>
            <a:ext cx="6154683" cy="2816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12050" y="4437811"/>
            <a:ext cx="1155477" cy="44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Завершить обработку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55833" y="4437811"/>
            <a:ext cx="1155477" cy="44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Передать участнику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07530" y="4437811"/>
            <a:ext cx="1155477" cy="44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Добавить данные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27570" y="4437811"/>
            <a:ext cx="1155477" cy="44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Создать заявку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25079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Тестовые данные в UAT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24214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36036" y="2303859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Реалистичность данных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236036" y="2686645"/>
            <a:ext cx="5722298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может хорошо работать с одной короткой записью, но реальные пользователи работают с большим объёмом данных, сложными названиями и разными типами объектов.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3868043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6036" y="3929757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Безопасность данных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236036" y="4312543"/>
            <a:ext cx="5722298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Реалистичные данные не обязательно означают использование настоящей персональной информации. Можно подготовить тестовые наборы, которые по структуре соответствуют реальной работе, но не содержат чувствительных сведений.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5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Отличие UAT от технической проверки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7278"/>
            <a:ext cx="4297354" cy="429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6336" y="2335014"/>
            <a:ext cx="6110135" cy="306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приёмочном тестировании участнику не обязательно разбираться во внутренней архитектуре системы. Его интересует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конечный результат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пользователь оформляет документ, ему не важно, какие внутренние сервисы обработали запрос. Для него важно, чтобы документ был создан правильно, сохранён и доступен в нужном состоянии.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UAT сознательно смещает внимание от внутренней реализации к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практической ценности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798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Ошибки, которые выявляются на UAT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250281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этапе приёмочного тестирования обнаруживаются не только технические дефекты, но и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проблемы логики рабочего процесса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02359"/>
            <a:ext cx="448854" cy="448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3545" y="3002359"/>
            <a:ext cx="46656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Неудобные ограничения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323545" y="3385145"/>
            <a:ext cx="466564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Функция работает, но пользователь не может выполнить нужное действие из-за искусственных барьеров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3002359"/>
            <a:ext cx="448854" cy="448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4476" y="3002359"/>
            <a:ext cx="466574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Несоответствие реальным действиям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864476" y="3665637"/>
            <a:ext cx="466574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предлагает один путь, а пользователи привыкли работать иначе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66940"/>
            <a:ext cx="448854" cy="4488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3545" y="4566940"/>
            <a:ext cx="46656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Избыточные операции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323545" y="4949726"/>
            <a:ext cx="46656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Технически функция работает, но требует слишком много лишних шагов в реальном процессе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406" y="4566940"/>
            <a:ext cx="448854" cy="448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64476" y="4566940"/>
            <a:ext cx="466574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Непрактичные требования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864476" y="4949726"/>
            <a:ext cx="466574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Условия выполнения задачи не соответствуют реальным возможностям пользователя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43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 о готовности продукта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69" y="1627386"/>
            <a:ext cx="2913585" cy="29136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72937" y="1930400"/>
            <a:ext cx="7363534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Результатом UAT становится решение о том, может ли система быть принята для использования. Это решение основывается на выполнении приёмочных критериев и результатах ключевых пользовательских сценариев.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172937" y="2962573"/>
            <a:ext cx="7363534" cy="1236960"/>
          </a:xfrm>
          <a:prstGeom prst="roundRect">
            <a:avLst>
              <a:gd name="adj" fmla="val 6097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419" y="3230463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6329" y="3160911"/>
            <a:ext cx="66006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Приёмка не означает абсолютного отсутствия дефектов — решение принимается с учётом значимости проблем и готовности системы решать поставленные задачи.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61475" y="4924822"/>
            <a:ext cx="5349047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7307" y="5110659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Возврат на доработку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847307" y="5493445"/>
            <a:ext cx="4977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проблемы мешают выполнению важных бизнес-процессов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81074" y="4924822"/>
            <a:ext cx="5349146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66906" y="5110659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Продукт принят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66906" y="5493445"/>
            <a:ext cx="49774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выполняет задачи, а замечания не блокируют использование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6087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UAT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967706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Приёмочное тестирование — это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последняя проверка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того, что созданный продукт действительно соответствует ожиданиям пользователей. Здесь техническая реализация окончательно сопоставляется с реальной задачей.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33360" y="3033216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Взгляд глазами бизнеса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33360" y="3366095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UAT важно как способ увидеть продукт глазами бизнеса и пользователя — качество нельзя оценивать только количеством пройденных технических тестов.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33360" y="4551065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Подтверждение практической пригодности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233360" y="4883944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пользователь способен выполнить необходимые действия и получить ожидаемый результат, система достигает той цели, ради которой она создавалась.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14311" y="2834481"/>
            <a:ext cx="6334959" cy="381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Shape 8"/>
          <p:cNvSpPr/>
          <p:nvPr/>
        </p:nvSpPr>
        <p:spPr>
          <a:xfrm>
            <a:off x="5214311" y="4352330"/>
            <a:ext cx="6334959" cy="38100"/>
          </a:xfrm>
          <a:prstGeom prst="rect">
            <a:avLst/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Office PowerPoint</Application>
  <PresentationFormat>Широкоэкранный</PresentationFormat>
  <Paragraphs>72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 Bold</vt:lpstr>
      <vt:lpstr>Arial</vt:lpstr>
      <vt:lpstr>Open Sans</vt:lpstr>
      <vt:lpstr>Montserrat Bold</vt:lpstr>
      <vt:lpstr>Noto Color Emoji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2026-09-28T14:08:58Z</dcterms:created>
  <dcterms:modified xsi:type="dcterms:W3CDTF">2026-09-28T14:09:54Z</dcterms:modified>
</cp:coreProperties>
</file>