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181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05024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системное 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769791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Системное тестирование рассматривает программный продукт как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единое целое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набор отдельных компонентов. Здесь проверяется, как приложение работает в реальных условиях: получает данные, выполняет бизнес-логику и выдаёт результат.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192091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367" y="4459784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4428331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Ключевое отличие: системное тестирование выявляет проблемы, которые видны только при работе всей системы — а не отдельных её частей.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400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Объект системного тестирования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1494433"/>
            <a:ext cx="3016869" cy="3016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993" y="2646263"/>
            <a:ext cx="692747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Объект проверки —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полностью собранная версия приложения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реализованным функционалом. Это позволяет выполнять полноценные операции через доступные интерфейсы.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18559"/>
            <a:ext cx="3531901" cy="1405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7354" y="49982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Полный процесс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7354" y="5331123"/>
            <a:ext cx="309634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записи → просмотр результата → работа с данными → итоговое состояние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9897" y="4818559"/>
            <a:ext cx="3531901" cy="14054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85776" y="49982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Внешнее поведение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585776" y="5331123"/>
            <a:ext cx="309634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Внимание на наблюдаемый результат, а не на внутренний код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8319" y="4818559"/>
            <a:ext cx="3531901" cy="14054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54198" y="4998244"/>
            <a:ext cx="309634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тестировщика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254198" y="5331123"/>
            <a:ext cx="309634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Задаёт условия, выполняет действия, проверяет результат на уровне готового продукта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2853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системы относительно требований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1895673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Системное тестирование связывает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формальное описание продукта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 фактически реализованной системой. Каждое требование можно напрямую сопоставить с реальным поведением приложения.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2843609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5221" y="287545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97243" y="2902049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Требование выполнимо?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197243" y="3259534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требование говорит, что пользователь может выполнить операцию — проверяем это в работающей системе.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4082852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5221" y="411470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197243" y="4141291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Ограничение соблюдается?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197243" y="4498777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предусмотрено ограничение — убеждаемся, что оно действительно работает.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475" y="5322094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5221" y="535394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97243" y="538053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Система в сборе даёт результат?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197243" y="5738019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Недостаточно знать, что части работают — важно убедиться, что в собранном виде они дают ожидаемый результат.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077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Сценарий как целостная операция системы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89695"/>
            <a:ext cx="3534282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системном уровне проверяются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законченные сценарии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осмысленные операции от начала до ожидаемого результата, а не отдельные действия.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6560" y="3033911"/>
            <a:ext cx="3279197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в системе бронирования проверяется весь путь — выбор объекта → ввод данных → создание бронирования с правильным состоянием.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96195"/>
            <a:ext cx="19050" cy="1568252"/>
          </a:xfrm>
          <a:prstGeom prst="roundRect">
            <a:avLst>
              <a:gd name="adj" fmla="val 49999"/>
            </a:avLst>
          </a:prstGeom>
          <a:solidFill>
            <a:srgbClr val="27B29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4636691"/>
            <a:ext cx="3534282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Отдельные экраны могут работать корректно, но при прохождении всего сценария обнаруживаются потеря данных, неправильное состояние или невозможность завершить процесс.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409" y="2401193"/>
            <a:ext cx="6154683" cy="28168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712050" y="4549107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55833" y="4437811"/>
            <a:ext cx="1155477" cy="44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Создать бронь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07530" y="4437811"/>
            <a:ext cx="1155477" cy="44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Ввод данных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327570" y="4549107"/>
            <a:ext cx="1155477" cy="222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Выбор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38783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Системное тестирование и внешнее поведение продукта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563217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системном тестировании оценивается поведение,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доступное извне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результат действия пользователя, ответ интерфейса, изменение состояния объекта.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3511153"/>
            <a:ext cx="3071835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9767" y="3687564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не нужно знать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9767" y="4045049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Какой конкретный внутренний метод выполнил вычисление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86" y="3511153"/>
            <a:ext cx="3071934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34693" y="3687564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проверяется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634693" y="4045049"/>
            <a:ext cx="2719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Именно тот результат, который видит пользователь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4891683"/>
            <a:ext cx="6296860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9767" y="5068094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Устойчивость проверок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5409767" y="5425579"/>
            <a:ext cx="59440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внутренняя структура изменится, но внешнее поведение останется прежним — проверка остаётся актуальной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974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Роль системного окружения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11" y="1457424"/>
            <a:ext cx="4704141" cy="4704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9659" y="2008188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Системное тестирование требует окружения,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максимально близкого к реальному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Поведение системы зависит не только от кода, но и от настроек среды.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309659" y="2921595"/>
            <a:ext cx="5226911" cy="1604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может использовать конфигурационные параметры, сетевые подключения, права доступа, внешние ресурсы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окружение существенно отличается от предусмотренных условий, результат проверки может не отражать реальное поведение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659" y="4698802"/>
            <a:ext cx="5226911" cy="877491"/>
          </a:xfrm>
          <a:prstGeom prst="roundRect">
            <a:avLst>
              <a:gd name="adj" fmla="val 8142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715" y="4936034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2392" y="4878983"/>
            <a:ext cx="4504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отличать проблемы конфигурации среды от дефектов логики приложения.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221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Тестовые данные на системном уровне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627684"/>
            <a:ext cx="629686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Состояние данных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критично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для системного тестирования: приложение выполняет операции над уже существующей информацией. Один и тот же сценарий может давать разные результаты в зависимости от исходных данных.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42555"/>
            <a:ext cx="354401" cy="3544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829818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с регистрацией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61475" y="3114973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Создание пользователя работает по-разному, если адрес электронной почты уже зарегистрирован или нет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24473"/>
            <a:ext cx="354401" cy="354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211737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Исходное состояние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61475" y="4496891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проверкой нужно понимать, в каком состоянии находится система и какие данные необходимы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106392"/>
            <a:ext cx="354401" cy="3544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5593655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Воспроизводимость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61475" y="5878810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Хорошо подготовленные данные позволяют повторять проверки и анализировать результат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561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состояний системы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618754"/>
            <a:ext cx="3534282" cy="298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Готовое приложение работает не только с отдельными действиями, но и с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состояниями объектов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Поведение системы напрямую зависит от текущего состояния.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Неправильное состояние объекта может привести к ошибкам при следующем действии пользователя — именно это выявляет системное тестирование, рассматривая последовательное поведение всего приложения.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996" y="1579066"/>
            <a:ext cx="6227408" cy="30613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10227" y="1851829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Отменён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010227" y="2080493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Альтернативный путь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010227" y="2567096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Выполнен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10227" y="2795760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 завершён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10227" y="3282362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Подтверждён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10227" y="3511026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Подтверждение получено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8016557" y="3997629"/>
            <a:ext cx="1424167" cy="178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16557" y="4226292"/>
            <a:ext cx="2879983" cy="135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Ожидает подтверждения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61475" y="4984948"/>
            <a:ext cx="10868745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825" y="4991298"/>
            <a:ext cx="3618616" cy="1214735"/>
          </a:xfrm>
          <a:custGeom>
            <a:avLst/>
            <a:gdLst/>
            <a:ahLst/>
            <a:cxnLst/>
            <a:rect l="l" t="t" r="r" b="b"/>
            <a:pathLst>
              <a:path w="3618616" h="1214735">
                <a:moveTo>
                  <a:pt x="59541" y="0"/>
                </a:moveTo>
                <a:lnTo>
                  <a:pt x="3618616" y="0"/>
                </a:lnTo>
                <a:lnTo>
                  <a:pt x="3618616" y="1214735"/>
                </a:lnTo>
                <a:lnTo>
                  <a:pt x="59541" y="1214735"/>
                </a:lnTo>
                <a:arcTo wR="59541" hR="59542" stAng="5400000" swAng="5400000"/>
                <a:lnTo>
                  <a:pt x="0" y="59542"/>
                </a:lnTo>
                <a:arcTo wR="59541" hR="59542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5" name="Text 12"/>
          <p:cNvSpPr/>
          <p:nvPr/>
        </p:nvSpPr>
        <p:spPr>
          <a:xfrm>
            <a:off x="837881" y="5161359"/>
            <a:ext cx="327850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Выполнение операции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37881" y="5518845"/>
            <a:ext cx="327850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Действие пользователя завершилось успешно?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86440" y="4991298"/>
            <a:ext cx="3618715" cy="1214735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440" y="4991298"/>
            <a:ext cx="19050" cy="121473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9" name="Text 16"/>
          <p:cNvSpPr/>
          <p:nvPr/>
        </p:nvSpPr>
        <p:spPr>
          <a:xfrm>
            <a:off x="4456497" y="5161359"/>
            <a:ext cx="327860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Переход состояния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456497" y="5518845"/>
            <a:ext cx="327860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Объект перешёл в правильное состояние?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05155" y="4991298"/>
            <a:ext cx="3618715" cy="1214735"/>
          </a:xfrm>
          <a:custGeom>
            <a:avLst/>
            <a:gdLst/>
            <a:ahLst/>
            <a:cxnLst/>
            <a:rect l="l" t="t" r="r" b="b"/>
            <a:pathLst>
              <a:path w="3618715" h="1214735">
                <a:moveTo>
                  <a:pt x="0" y="0"/>
                </a:moveTo>
                <a:lnTo>
                  <a:pt x="3559174" y="0"/>
                </a:lnTo>
                <a:arcTo wR="59541" hR="59542" stAng="16200000" swAng="5400000"/>
                <a:lnTo>
                  <a:pt x="3618715" y="1155193"/>
                </a:lnTo>
                <a:arcTo wR="59541" hR="59542" stAng="0" swAng="5400000"/>
                <a:lnTo>
                  <a:pt x="0" y="1214735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22" name="Shape 19"/>
          <p:cNvSpPr/>
          <p:nvPr/>
        </p:nvSpPr>
        <p:spPr>
          <a:xfrm>
            <a:off x="7905155" y="4991298"/>
            <a:ext cx="19050" cy="121473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23" name="Text 20"/>
          <p:cNvSpPr/>
          <p:nvPr/>
        </p:nvSpPr>
        <p:spPr>
          <a:xfrm>
            <a:off x="8075212" y="5161359"/>
            <a:ext cx="327860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Следующий шаг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8075212" y="5518845"/>
            <a:ext cx="327860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Доступные операции соответствуют новому состоянию?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4839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Системный дефект и его проявление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227659"/>
            <a:ext cx="6296860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системном уровне дефект проявляется как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нарушение ожидаемого поведения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готового продукта. Пользователь может не получить результат, увидеть неправильные данные или столкнуться с невозможностью продолжить работу.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3587254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проявляется дефект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4006056"/>
            <a:ext cx="2940969" cy="1863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Источник может находиться в любой внутренней части — ошибка на экране не означает, что проблема в интерфейсе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Системное тестирование фиксирует конечное неправильное поведение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23716" y="3587254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описывать дефект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4023716" y="4006056"/>
            <a:ext cx="2940969" cy="165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Действие: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что именно выполнялось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Состояние: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каком состоянии находилась система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Результат: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что получено вместо ожидаемого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810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системного тестирования для оценки продукта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876524"/>
            <a:ext cx="5801374" cy="226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Системное тестирование показывает, способен ли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собранный продукт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выполнять предусмотренные функции как единая система. Это значительно ближе к реальному использованию, чем проверка отдельных элементов.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этом уровне видно влияние одной функции на последующие действия пользователя. Продукт может состоять из технически корректных компонентов, но именно при работе всей системы обнаруживаются проблемы состояния, данных, последовательности операций и общего поведения.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4292501"/>
            <a:ext cx="5801374" cy="1276747"/>
          </a:xfrm>
          <a:prstGeom prst="roundRect">
            <a:avLst>
              <a:gd name="adj" fmla="val 5285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4506317"/>
            <a:ext cx="200814" cy="160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3551" y="4455418"/>
            <a:ext cx="5118666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Системное тестирование — это не повторение предыдущих проверок на большем объёме. Здесь меняется сам объект анализа: завершённый программный продукт как целостная работающая система.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45416" y="1753691"/>
            <a:ext cx="4906741" cy="4559498"/>
          </a:xfrm>
          <a:prstGeom prst="roundRect">
            <a:avLst>
              <a:gd name="adj" fmla="val 2537"/>
            </a:avLst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6906048" y="1890216"/>
            <a:ext cx="4585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даёт системное тестирование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906048" y="229483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06048" y="2548731"/>
            <a:ext cx="458547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1" name="Text 8"/>
          <p:cNvSpPr/>
          <p:nvPr/>
        </p:nvSpPr>
        <p:spPr>
          <a:xfrm>
            <a:off x="6906048" y="2667099"/>
            <a:ext cx="4585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Оценка готового продукта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906048" y="3054648"/>
            <a:ext cx="458547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всей системы, а не отдельных частей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06048" y="354935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906048" y="3803253"/>
            <a:ext cx="458547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5" name="Text 12"/>
          <p:cNvSpPr/>
          <p:nvPr/>
        </p:nvSpPr>
        <p:spPr>
          <a:xfrm>
            <a:off x="6906048" y="3921621"/>
            <a:ext cx="4585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Выявление скрытых проблем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906048" y="4309170"/>
            <a:ext cx="4585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Дефекты состояний, данных и последовательности операций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06048" y="504160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906048" y="5295503"/>
            <a:ext cx="4585478" cy="1905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9" name="Text 16"/>
          <p:cNvSpPr/>
          <p:nvPr/>
        </p:nvSpPr>
        <p:spPr>
          <a:xfrm>
            <a:off x="6906048" y="5413871"/>
            <a:ext cx="4585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Реальная картина качества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906048" y="5801420"/>
            <a:ext cx="458547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Поведение системы с позиции конечного пользователя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797</Words>
  <Application>Microsoft Office PowerPoint</Application>
  <PresentationFormat>Широкоэкранный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Open Sans</vt:lpstr>
      <vt:lpstr>Montserrat Bold</vt:lpstr>
      <vt:lpstr>Montserrat Light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2026-09-28T13:27:44Z</dcterms:created>
  <dcterms:modified xsi:type="dcterms:W3CDTF">2026-09-28T13:28:19Z</dcterms:modified>
</cp:coreProperties>
</file>