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Montserrat Bold"/>
      <p:regular r:id="rId201314"/>
    </p:embeddedFont>
    <p:embeddedFont>
      <p:font typeface="Open Sans Bold"/>
      <p:regular r:id="rId201315"/>
    </p:embeddedFont>
    <p:embeddedFont>
      <p:font typeface="Open Sans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2.png"/><Relationship Id="rId5" Type="http://schemas.openxmlformats.org/officeDocument/2006/relationships/image" Target="../media/image-3-3.svg"/><Relationship Id="rId6" Type="http://schemas.openxmlformats.org/officeDocument/2006/relationships/image" Target="../media/image-3-2.png"/><Relationship Id="rId7" Type="http://schemas.openxmlformats.org/officeDocument/2006/relationships/image" Target="../media/image-3-3.svg"/><Relationship Id="rId8" Type="http://schemas.openxmlformats.org/officeDocument/2006/relationships/image" Target="../media/image-3-2.png"/><Relationship Id="rId9" Type="http://schemas.openxmlformats.org/officeDocument/2006/relationships/image" Target="../media/image-3-3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2.png"/><Relationship Id="rId5" Type="http://schemas.openxmlformats.org/officeDocument/2006/relationships/image" Target="../media/image-9-3.svg"/><Relationship Id="rId6" Type="http://schemas.openxmlformats.org/officeDocument/2006/relationships/image" Target="../media/image-9-2.png"/><Relationship Id="rId7" Type="http://schemas.openxmlformats.org/officeDocument/2006/relationships/image" Target="../media/image-9-3.svg"/><Relationship Id="rId8" Type="http://schemas.openxmlformats.org/officeDocument/2006/relationships/image" Target="../media/image-9-2.png"/><Relationship Id="rId9" Type="http://schemas.openxmlformats.org/officeDocument/2006/relationships/image" Target="../media/image-9-3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1.png"/><Relationship Id="rId4" Type="http://schemas.openxmlformats.org/officeDocument/2006/relationships/image" Target="../media/image-10-2.svg"/><Relationship Id="rId5" Type="http://schemas.openxmlformats.org/officeDocument/2006/relationships/image" Target="../media/image-10-1.png"/><Relationship Id="rId6" Type="http://schemas.openxmlformats.org/officeDocument/2006/relationships/image" Target="../media/image-10-2.svg"/><Relationship Id="rId7" Type="http://schemas.openxmlformats.org/officeDocument/2006/relationships/image" Target="../media/image-10-1.png"/><Relationship Id="rId8" Type="http://schemas.openxmlformats.org/officeDocument/2006/relationships/image" Target="../media/image-10-2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305024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такое таблица решений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769791"/>
            <a:ext cx="6296860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Техника тест-дизайна для систем, где результат зависит от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нескольких условий одновременно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Вместо анализа каждого условия по отдельности — все значимые комбинации в одной структуре.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661475" y="4192091"/>
            <a:ext cx="6296860" cy="1360785"/>
          </a:xfrm>
          <a:prstGeom prst="roundRect">
            <a:avLst>
              <a:gd name="adj" fmla="val 5834"/>
            </a:avLst>
          </a:prstGeom>
          <a:solidFill>
            <a:srgbClr val="D5F6F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482" y="4459784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75723" y="4428331"/>
            <a:ext cx="549360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Ключевая идея: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связать условия с действиями через правила, чтобы видеть, какие сценарии нужно проверить и какой результат ожидается.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2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615156"/>
            <a:ext cx="6296860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Когда таблица решений особенно полезна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5233360" y="1907977"/>
            <a:ext cx="6296860" cy="968871"/>
          </a:xfrm>
          <a:prstGeom prst="roundRect">
            <a:avLst>
              <a:gd name="adj" fmla="val 737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9767" y="2084388"/>
            <a:ext cx="5944047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Сложная логика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5409767" y="2441873"/>
            <a:ext cx="5944047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Множество зависимостей: «если A и B, то X; если A и C, то Y»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233360" y="3029942"/>
            <a:ext cx="6296860" cy="968871"/>
          </a:xfrm>
          <a:prstGeom prst="roundRect">
            <a:avLst>
              <a:gd name="adj" fmla="val 737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09767" y="3206353"/>
            <a:ext cx="5944047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Риск пропуска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5409767" y="3563838"/>
            <a:ext cx="5944047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Высокая вероятность упустить комбинацию при чтении требований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233360" y="4151908"/>
            <a:ext cx="6296860" cy="968871"/>
          </a:xfrm>
          <a:prstGeom prst="roundRect">
            <a:avLst>
              <a:gd name="adj" fmla="val 737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09767" y="4328319"/>
            <a:ext cx="5944047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Роли и состояния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5409767" y="4685804"/>
            <a:ext cx="5944047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Доступ зависит от роли, статуса объекта или подтверждений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233360" y="5273873"/>
            <a:ext cx="6296860" cy="968871"/>
          </a:xfrm>
          <a:prstGeom prst="roundRect">
            <a:avLst>
              <a:gd name="adj" fmla="val 737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09767" y="5450284"/>
            <a:ext cx="5944047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Пробелы заранее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5409767" y="5807770"/>
            <a:ext cx="5944047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Выявляет неполноту требований до запуска тестов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060847"/>
            <a:ext cx="3504219" cy="350430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201" y="1356717"/>
            <a:ext cx="6903269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Условия в таблице решений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4633201" y="2727027"/>
            <a:ext cx="690326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Факторы, которые влияют на результат: признаки, состояния, значения параметров. Каждое условие должно иметь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чёткие возможные состояния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4633201" y="3804345"/>
            <a:ext cx="6903269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Включайте только условия, которые </a:t>
            </a:r>
            <a:pPr algn="l" indent="0" marL="0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реально влияют</a:t>
            </a:r>
            <a:pPr algn="l" indent="0" marL="0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на решение — лишние параметры усложняют таблицу без пользы.</a:t>
            </a:r>
            <a:endParaRPr lang="en-US" sz="11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990405"/>
            <a:ext cx="2575357" cy="101937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77479" y="5204817"/>
            <a:ext cx="20449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Активная подписка</a:t>
            </a:r>
            <a:endParaRPr lang="en-US" sz="18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5839" y="4990405"/>
            <a:ext cx="2575456" cy="101937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1842" y="5204817"/>
            <a:ext cx="20450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Авторизация пользователя</a:t>
            </a:r>
            <a:endParaRPr lang="en-US" sz="18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90301" y="4990405"/>
            <a:ext cx="2575456" cy="101937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506305" y="5204817"/>
            <a:ext cx="20450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Сумма заказа</a:t>
            </a:r>
            <a:endParaRPr lang="en-US" sz="185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54764" y="4990405"/>
            <a:ext cx="2575456" cy="1019373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270768" y="5204817"/>
            <a:ext cx="20450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Наличие промокода</a:t>
            </a:r>
            <a:endParaRPr lang="en-US" sz="1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8461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Действия в таблице решений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453283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Ожидаемые результаты системы при конкретной комбинации условий. Должны быть сформулированы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конкретно и проверяемо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В одной комбинации может быть несколько действий одновременно.</a:t>
            </a:r>
            <a:endParaRPr lang="en-US" sz="14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3270746"/>
            <a:ext cx="472468" cy="472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0177" y="3270746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Разрешение / запрет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1370177" y="3679428"/>
            <a:ext cx="46075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Операция доступна или заблокирована</a:t>
            </a:r>
            <a:endParaRPr lang="en-US" sz="14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3915" y="3270746"/>
            <a:ext cx="472468" cy="472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922617" y="3270746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Применение скидки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6922617" y="3679428"/>
            <a:ext cx="460760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Скидка начисляется или не применяется</a:t>
            </a:r>
            <a:endParaRPr lang="en-US" sz="14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359870"/>
            <a:ext cx="472468" cy="472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0177" y="4359870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Уведомление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1370177" y="4768552"/>
            <a:ext cx="46075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Система отправляет сообщение пользователю</a:t>
            </a:r>
            <a:endParaRPr lang="en-US" sz="14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13915" y="4359870"/>
            <a:ext cx="472468" cy="4724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922617" y="4359870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Сообщение об ошибке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6922617" y="4768552"/>
            <a:ext cx="460760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Конкретный текст ошибки с кодом или описанием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2984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Правила как комбинации условий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398514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Каждая колонка таблицы — одно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правило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которое связывает конкретные состояния условий с набором действий. Каждое значимое правило становится основой для одного или нескольких тест-кейсов.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3215977"/>
          <a:ext cx="9143771" cy="914400"/>
        </p:xfrm>
        <a:graphic>
          <a:graphicData uri="http://schemas.openxmlformats.org/drawingml/2006/table">
            <a:tbl>
              <a:tblPr/>
              <a:tblGrid>
                <a:gridCol w="2717186"/>
                <a:gridCol w="2717186"/>
                <a:gridCol w="2717186"/>
                <a:gridCol w="2717186"/>
              </a:tblGrid>
              <a:tr h="5450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72525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Условие / Правило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B29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72525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Правило 1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B29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72525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Правило 2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B29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72525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Правило 3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B29F"/>
                    </a:solidFill>
                  </a:tcPr>
                </a:tc>
              </a:tr>
              <a:tr h="5546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Авторизован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Да</a:t>
                      </a:r>
                      <a:endParaRPr lang="en-US" sz="14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Да</a:t>
                      </a:r>
                      <a:endParaRPr lang="en-US" sz="14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Нет</a:t>
                      </a:r>
                      <a:endParaRPr lang="en-US" sz="14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46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Подписка активна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Да</a:t>
                      </a:r>
                      <a:endParaRPr lang="en-US" sz="14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Нет</a:t>
                      </a:r>
                      <a:endParaRPr lang="en-US" sz="14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50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Результат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Операция разрешена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Операция запрещена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00000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Доступ закрыт</a:t>
                      </a:r>
                      <a:endParaRPr lang="en-US" sz="14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11126"/>
            <a:ext cx="5215303" cy="168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Полные и сокращённые таблицы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2765227"/>
            <a:ext cx="5215303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Полная таблица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содержит все возможные комбинации. Три бинарных условия дают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B29F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8 комбинаций (2³)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1475" y="3562152"/>
            <a:ext cx="5215303" cy="25400"/>
          </a:xfrm>
          <a:prstGeom prst="roundRect">
            <a:avLst>
              <a:gd name="adj" fmla="val 49999"/>
            </a:avLst>
          </a:prstGeom>
          <a:solidFill>
            <a:srgbClr val="000000">
              <a:alpha val="5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61475" y="3824288"/>
            <a:ext cx="5215303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Сокращённая таблица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объединяет эквивалентные правила, когда несколько комбинаций приводят к одному результату.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1475" y="4818063"/>
            <a:ext cx="5215303" cy="1239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Экономит место и упрощает анализ</a:t>
            </a:r>
            <a:endParaRPr lang="en-US" sz="1400" dirty="0"/>
          </a:p>
          <a:p>
            <a:pPr algn="l" marL="284480" indent="-28448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Требует обоснования при объединении</a:t>
            </a:r>
            <a:endParaRPr lang="en-US" sz="1400" dirty="0"/>
          </a:p>
          <a:p>
            <a:pPr algn="l" marL="284480" indent="-28448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Риск: потеря важного сценария при неправильном сокращении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1637" y="951607"/>
            <a:ext cx="4954464" cy="49545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483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43223"/>
            <a:ext cx="6296860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Символ «неважно» в таблице решений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661475" y="1836043"/>
            <a:ext cx="62968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Означает: значение этого условия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 влияет на результат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для данного правила. Позволяет объединить несколько похожих колонок в одну.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6560" y="2835374"/>
            <a:ext cx="2685884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Пример: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если пользователь не авторизован, наличие подписки неважно — система всё равно запретит доступ.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61475" y="2697659"/>
            <a:ext cx="19050" cy="1309688"/>
          </a:xfrm>
          <a:prstGeom prst="roundRect">
            <a:avLst>
              <a:gd name="adj" fmla="val 49999"/>
            </a:avLst>
          </a:prstGeom>
          <a:solidFill>
            <a:srgbClr val="27B29F"/>
          </a:solidFill>
          <a:ln/>
        </p:spPr>
      </p:sp>
      <p:sp>
        <p:nvSpPr>
          <p:cNvPr id="8" name="Text 5"/>
          <p:cNvSpPr/>
          <p:nvPr/>
        </p:nvSpPr>
        <p:spPr>
          <a:xfrm>
            <a:off x="4559484" y="2756098"/>
            <a:ext cx="2405201" cy="531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Сокращает размер таблицы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4559484" y="3652143"/>
            <a:ext cx="2405201" cy="1062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Требует проверки: условие действительно не меняет результат?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4559484" y="5079603"/>
            <a:ext cx="2405201" cy="1062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Если хотя бы при одном значении результат меняется — «неважно» нельзя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604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строить Decision Table на практике</a:t>
            </a:r>
            <a:endParaRPr lang="en-US" sz="27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228" y="1328241"/>
            <a:ext cx="8021139" cy="45391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03062" y="1897683"/>
            <a:ext cx="2296894" cy="229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Прочитать требования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103062" y="2192157"/>
            <a:ext cx="2812211" cy="16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Выявить условия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2770498" y="2793206"/>
            <a:ext cx="2317909" cy="229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Определить состояния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276196" y="3087680"/>
            <a:ext cx="2812211" cy="16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91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Варианты для каждого условия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103062" y="3691022"/>
            <a:ext cx="2321603" cy="229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Перечислить действия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03062" y="3985496"/>
            <a:ext cx="2812211" cy="1604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Все возможные ответы системы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2278616" y="4587691"/>
            <a:ext cx="2811065" cy="229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Сформировать комбинации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2277470" y="4882166"/>
            <a:ext cx="2812211" cy="16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91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Проверить ожидаемые результаты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61475" y="5986959"/>
            <a:ext cx="1147833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для комбинации нет однозначного поведения — это </a:t>
            </a:r>
            <a:pPr algn="l" indent="0" marL="0">
              <a:lnSpc>
                <a:spcPct val="117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пробел в требованиях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а не задача тестировщика придумать результат.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0075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35384"/>
            <a:ext cx="6296860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Типичные ошибки</a:t>
            </a:r>
            <a:endParaRPr lang="en-US" sz="3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242219"/>
            <a:ext cx="6296860" cy="11677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78163" y="1675408"/>
            <a:ext cx="24099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850" dirty="0"/>
          </a:p>
        </p:txBody>
      </p:sp>
      <p:sp>
        <p:nvSpPr>
          <p:cNvPr id="7" name="Text 3"/>
          <p:cNvSpPr/>
          <p:nvPr/>
        </p:nvSpPr>
        <p:spPr>
          <a:xfrm>
            <a:off x="1459670" y="1421904"/>
            <a:ext cx="531898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Забытые комбинации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1459670" y="1754783"/>
            <a:ext cx="5318984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Особенно при большом числе условий и ручном построении таблицы</a:t>
            </a:r>
            <a:endParaRPr lang="en-US" sz="12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2546449"/>
            <a:ext cx="6296860" cy="116770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78163" y="2979638"/>
            <a:ext cx="24099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1459670" y="2726134"/>
            <a:ext cx="531898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Неправильное объединение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1459670" y="3059013"/>
            <a:ext cx="5318984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Два сценария выглядят похожими, но одно условие меняет результат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3850680"/>
            <a:ext cx="6296860" cy="116770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8163" y="4283869"/>
            <a:ext cx="24099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1459670" y="4030365"/>
            <a:ext cx="531898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Слишком много условий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1459670" y="4363244"/>
            <a:ext cx="5318984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Второстепенные параметры делают таблицу огромной и непрактичной</a:t>
            </a:r>
            <a:endParaRPr lang="en-US" sz="12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475" y="5154910"/>
            <a:ext cx="6296860" cy="1167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78163" y="5588099"/>
            <a:ext cx="24099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1850" dirty="0"/>
          </a:p>
        </p:txBody>
      </p:sp>
      <p:sp>
        <p:nvSpPr>
          <p:cNvPr id="19" name="Text 12"/>
          <p:cNvSpPr/>
          <p:nvPr/>
        </p:nvSpPr>
        <p:spPr>
          <a:xfrm>
            <a:off x="1459670" y="5334595"/>
            <a:ext cx="531898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Расплывчатые действия</a:t>
            </a:r>
            <a:endParaRPr lang="en-US" sz="1550" dirty="0"/>
          </a:p>
        </p:txBody>
      </p:sp>
      <p:sp>
        <p:nvSpPr>
          <p:cNvPr id="20" name="Text 13"/>
          <p:cNvSpPr/>
          <p:nvPr/>
        </p:nvSpPr>
        <p:spPr>
          <a:xfrm>
            <a:off x="1459670" y="5667474"/>
            <a:ext cx="5318984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«Система что-то сообщает» вместо конкретного ожидаемого результата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3340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Практическое значение Decision Tables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302073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Таблицы решений систематизируют условную логику и делают работу тестировщика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эффективнее и обоснованнее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2315" y="3125391"/>
            <a:ext cx="283461" cy="2834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75723" y="3119537"/>
            <a:ext cx="470195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Видят скрытые комбинации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1275723" y="3528219"/>
            <a:ext cx="470195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Которые трудно заметить в текстовых требованиях</a:t>
            </a:r>
            <a:endParaRPr lang="en-US" sz="14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755" y="3125391"/>
            <a:ext cx="283461" cy="2834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28163" y="3119537"/>
            <a:ext cx="470205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Проверяют полноту требований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6828163" y="3528219"/>
            <a:ext cx="470205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 запуска тестов — пробел виден сразу</a:t>
            </a:r>
            <a:endParaRPr lang="en-US" sz="14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2315" y="4516934"/>
            <a:ext cx="283461" cy="2834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75723" y="4511080"/>
            <a:ext cx="470195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Делают тесты понятными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1275723" y="4919762"/>
            <a:ext cx="47019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Полными, обоснованными и воспроизводимыми</a:t>
            </a:r>
            <a:endParaRPr lang="en-US" sz="14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84755" y="4516934"/>
            <a:ext cx="283461" cy="2834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828163" y="4511080"/>
            <a:ext cx="470205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Помогают консультировать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6828163" y="4919762"/>
            <a:ext cx="470205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Объясняют пользователям, почему система ведёт себя именно так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2026-09-29T17:09:16Z</dcterms:created>
  <dcterms:modified xsi:type="dcterms:W3CDTF">2026-09-29T17:09:16Z</dcterms:modified>
</cp:coreProperties>
</file>