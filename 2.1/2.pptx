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Montserrat Bold" panose="020B0604020202020204" charset="-52"/>
      <p:regular r:id="rId13"/>
    </p:embeddedFont>
    <p:embeddedFont>
      <p:font typeface="Montserrat Light" panose="00000400000000000000" pitchFamily="2" charset="-52"/>
      <p:regular r:id="rId14"/>
    </p:embeddedFont>
    <p:embeddedFont>
      <p:font typeface="Open Sans" panose="020B0606030504020204" pitchFamily="34" charset="0"/>
      <p:regular r:id="rId15"/>
    </p:embeddedFont>
    <p:embeddedFont>
      <p:font typeface="Open Sans Bold" panose="020B0806030504020204" charset="0"/>
      <p:regular r:id="rId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93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05117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4263" y="141684"/>
            <a:ext cx="4382978" cy="65746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1380629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Смысл первого принципа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661475" y="2845395"/>
            <a:ext cx="6296860" cy="26319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Тестирование помогает обнаружить дефекты, но не может доказать их полное отсутствие. Сто успешно пройденных тестов означают только то, что в этих конкретных условиях проблем не возникло — это не гарантия идеального качества.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Правильнее говорить: «проверки не обнаружили дефектов в исследованных сценариях». Такая формулировка точнее отражает реальные возможности тестирования и помогает команде объективно оценивать уровень уверенности в продукте.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31837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Почему невозможно проверить абсолютно все варианты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409230"/>
            <a:ext cx="3504219" cy="350430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33201" y="2715419"/>
            <a:ext cx="6903269" cy="28918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Количество возможных сценариев использования программы практически неограниченно. Даже простая форма с несколькими полями создаёт огромное количество комбинаций значений. Добавьте различные состояния пользователя, настройки системы и последовательности действий — число вариантов становится невообразимым.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Тестирование всегда остаётся </a:t>
            </a: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выборочным исследованием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Мы выбираем наиболее значимые условия и стремимся получить максимум полезной информации о качестве продукта за доступное время.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22015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Успешный тест не означает отсутствие дефекта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281337"/>
            <a:ext cx="3496877" cy="385454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77479" y="2495748"/>
            <a:ext cx="2966467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Что подтверждает успешный тест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977479" y="3199705"/>
            <a:ext cx="2966467" cy="27217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Успешный результат подтверждает корректность только конкретного проверенного поведения. Если пользователь вошёл в систему с правильными учётными данными — мы подтвердили именно этот сценарий, и не более того.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47359" y="2281337"/>
            <a:ext cx="3496877" cy="385454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663363" y="2495748"/>
            <a:ext cx="2966467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Что остаётся за кадром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4663363" y="3199705"/>
            <a:ext cx="2966467" cy="2419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Функция авторизации может содержать дефект, который проявляется только после нескольких неуспешных попыток или при определённом типе учётной записи. Первый успешный тест такую проблему не исключает.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33244" y="2281337"/>
            <a:ext cx="3496877" cy="385454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349247" y="2495748"/>
            <a:ext cx="296646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Вывод для новичка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8349247" y="2904430"/>
            <a:ext cx="2966467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Количество пройденных тестов само по себе не является доказательством идеального качества. Важно не число проверок, а их охват и разнообразие условий.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54" y="141684"/>
            <a:ext cx="4382978" cy="65746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567928"/>
            <a:ext cx="6296860" cy="1771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Найденный дефект — конкретное доказательство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5233360" y="2793405"/>
            <a:ext cx="2917851" cy="3024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Когда тестирование обнаруживает воспроизводимую проблему, мы получаем </a:t>
            </a: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конкретное свидетельство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существования дефекта. Если при определённых условиях система выполняет не то, что ожидается, это можно зафиксировать и исследовать.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8618719" y="2793405"/>
            <a:ext cx="2917851" cy="3326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Результат имеет однозначный характер: достаточно </a:t>
            </a: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одного воспроизводимого сценария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чтобы показать, что проблема реально существует. Тестирование особенно эффективно именно как инструмент обнаружения проблем, хотя и не позволяет доказать полное отсутствие неизвестных дефектов.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84858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Разница между «не нашли» и «не существует»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2644180"/>
            <a:ext cx="10868745" cy="2009080"/>
          </a:xfrm>
          <a:prstGeom prst="roundRect">
            <a:avLst>
              <a:gd name="adj" fmla="val 3951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67825" y="2650530"/>
            <a:ext cx="5428023" cy="1996380"/>
          </a:xfrm>
          <a:custGeom>
            <a:avLst/>
            <a:gdLst/>
            <a:ahLst/>
            <a:cxnLst/>
            <a:rect l="l" t="t" r="r" b="b"/>
            <a:pathLst>
              <a:path w="5428023" h="1996380">
                <a:moveTo>
                  <a:pt x="66156" y="0"/>
                </a:moveTo>
                <a:lnTo>
                  <a:pt x="5428023" y="0"/>
                </a:lnTo>
                <a:lnTo>
                  <a:pt x="5428023" y="1996380"/>
                </a:lnTo>
                <a:lnTo>
                  <a:pt x="66156" y="1996380"/>
                </a:lnTo>
                <a:arcTo wR="66156" hR="66158" stAng="5400000" swAng="5400000"/>
                <a:lnTo>
                  <a:pt x="0" y="66158"/>
                </a:lnTo>
                <a:arcTo wR="66156" hR="66158" stAng="10800000" swAng="5400000"/>
                <a:close/>
              </a:path>
            </a:pathLst>
          </a:custGeom>
          <a:solidFill>
            <a:srgbClr val="D5F6F1"/>
          </a:solidFill>
          <a:ln/>
        </p:spPr>
      </p:sp>
      <p:sp>
        <p:nvSpPr>
          <p:cNvPr id="5" name="Text 3"/>
          <p:cNvSpPr/>
          <p:nvPr/>
        </p:nvSpPr>
        <p:spPr>
          <a:xfrm>
            <a:off x="856832" y="2839541"/>
            <a:ext cx="50500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«Мы не нашли дефект»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856832" y="3248223"/>
            <a:ext cx="5050009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Честная формулировка. Означает, что в проверенных условиях проблем не обнаружено. Не исключает существования дефекта за пределами исследованных сценариев.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095848" y="2650530"/>
            <a:ext cx="5428023" cy="1996380"/>
          </a:xfrm>
          <a:custGeom>
            <a:avLst/>
            <a:gdLst/>
            <a:ahLst/>
            <a:cxnLst/>
            <a:rect l="l" t="t" r="r" b="b"/>
            <a:pathLst>
              <a:path w="5428023" h="1996380">
                <a:moveTo>
                  <a:pt x="0" y="0"/>
                </a:moveTo>
                <a:lnTo>
                  <a:pt x="5361866" y="0"/>
                </a:lnTo>
                <a:arcTo wR="66156" hR="66158" stAng="16200000" swAng="5400000"/>
                <a:lnTo>
                  <a:pt x="5428023" y="1930222"/>
                </a:lnTo>
                <a:arcTo wR="66156" hR="66158" stAng="0" swAng="5400000"/>
                <a:lnTo>
                  <a:pt x="0" y="1996380"/>
                </a:lnTo>
                <a:lnTo>
                  <a:pt x="0" y="0"/>
                </a:lnTo>
                <a:close/>
              </a:path>
            </a:pathLst>
          </a:custGeom>
          <a:solidFill>
            <a:srgbClr val="D5F6F1"/>
          </a:solidFill>
          <a:ln/>
        </p:spPr>
      </p:sp>
      <p:sp>
        <p:nvSpPr>
          <p:cNvPr id="8" name="Shape 6"/>
          <p:cNvSpPr/>
          <p:nvPr/>
        </p:nvSpPr>
        <p:spPr>
          <a:xfrm>
            <a:off x="6095848" y="2650530"/>
            <a:ext cx="25399" cy="1996380"/>
          </a:xfrm>
          <a:prstGeom prst="roundRect">
            <a:avLst>
              <a:gd name="adj" fmla="val 50001"/>
            </a:avLst>
          </a:prstGeom>
          <a:solidFill>
            <a:srgbClr val="BBDCD7"/>
          </a:solidFill>
          <a:ln/>
        </p:spPr>
      </p:sp>
      <p:sp>
        <p:nvSpPr>
          <p:cNvPr id="9" name="Text 7"/>
          <p:cNvSpPr/>
          <p:nvPr/>
        </p:nvSpPr>
        <p:spPr>
          <a:xfrm>
            <a:off x="6284854" y="2839541"/>
            <a:ext cx="50500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«Дефекта не существует»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6284854" y="3248223"/>
            <a:ext cx="5050009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Недопустимая формулировка. Выходит за пределы реально собранных данных. Создаёт ложное ощущение гарантии там, где её нет.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61475" y="4865886"/>
            <a:ext cx="10868745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Для тестировщика принципиально важно различать эти две формулировки. Если дефект не найден, возможно, выбраны неподходящие данные, не проверено определённое состояние или просто не достигнут сценарий, в котором дефект проявляется.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2866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Пример с формой регистрации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113855"/>
            <a:ext cx="3504219" cy="350430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33201" y="1772841"/>
            <a:ext cx="6903269" cy="28918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Представим проверку формы регистрации: вводим корректное имя, допустимый адрес электронной почты и подходящий пароль. Регистрация проходит успешно. Затем проверяем несколько ошибочных значений — система корректно отображает сообщения об ошибках.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Можно сказать, что </a:t>
            </a: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проверенные сценарии работают ожидаемым образом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Но нельзя утверждать, что вся форма полностью свободна от дефектов. Проблема может проявиться при определённой длине адреса, необычной комбинации символов или повторной регистрации при специальном состоянии данных.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4633201" y="4877296"/>
            <a:ext cx="6903269" cy="1039416"/>
          </a:xfrm>
          <a:prstGeom prst="roundRect">
            <a:avLst>
              <a:gd name="adj" fmla="val 7638"/>
            </a:avLst>
          </a:prstGeom>
          <a:solidFill>
            <a:srgbClr val="D5F6F1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2208" y="5170388"/>
            <a:ext cx="236234" cy="18901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47449" y="5094585"/>
            <a:ext cx="610001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Пока сценарий не выполнен — информации о его результате нет.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4263" y="141684"/>
            <a:ext cx="4382978" cy="65746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673100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Почему этот принцип влияет на отчётность</a:t>
            </a:r>
            <a:endParaRPr lang="en-US" sz="3700" dirty="0"/>
          </a:p>
        </p:txBody>
      </p:sp>
      <p:sp>
        <p:nvSpPr>
          <p:cNvPr id="5" name="Shape 2"/>
          <p:cNvSpPr/>
          <p:nvPr/>
        </p:nvSpPr>
        <p:spPr>
          <a:xfrm>
            <a:off x="661475" y="2137866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275723" y="2202755"/>
            <a:ext cx="568261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Что показывает тестовый отчёт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1275723" y="2611438"/>
            <a:ext cx="5682612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Отчёт должен отражать фактическое состояние проверки: какие области исследованы, какие результаты получены и какие ограничения были у тестирования. Не создавать ложное ощущение абсолютной гарантии.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61475" y="4199136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275723" y="4264025"/>
            <a:ext cx="568261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Как принимается решение о выпуске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1275723" y="4672707"/>
            <a:ext cx="5682612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Решение о релизе принимается на основании объёма собранной информации и допустимого уровня остаточного риска — а не на обещании полного отсутствия ошибок. Утверждение «в программе нет ошибок» даёт команде недостоверную картину.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90364"/>
            <a:ext cx="10868745" cy="50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Связь принципа с выбором тестов</a:t>
            </a:r>
            <a:endParaRPr lang="en-US" sz="31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1070" y="2563813"/>
            <a:ext cx="5888287" cy="243711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0345" y="3240135"/>
            <a:ext cx="951534" cy="326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Повторение сценария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320345" y="3612926"/>
            <a:ext cx="951534" cy="483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Мало новой информации, ухудшает покрытие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5973581" y="3240135"/>
            <a:ext cx="951534" cy="326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Разнообразие условий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973581" y="3612926"/>
            <a:ext cx="951534" cy="483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Максимум полезных данных для анализа поведения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7987207" y="1520031"/>
            <a:ext cx="3549264" cy="4524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spcAft>
                <a:spcPts val="950"/>
              </a:spcAft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Поскольку проверить всё невозможно, большое значение получает </a:t>
            </a:r>
            <a:r>
              <a:rPr lang="en-US" sz="12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качество выбора тестовых сценариев</a:t>
            </a: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Нужно выбирать проверки, которые дают максимальную информацию о поведении продукта.</a:t>
            </a:r>
            <a:endParaRPr lang="en-US" sz="1250" dirty="0"/>
          </a:p>
          <a:p>
            <a:pPr marL="0" indent="0" algn="l">
              <a:lnSpc>
                <a:spcPct val="123000"/>
              </a:lnSpc>
              <a:spcAft>
                <a:spcPts val="950"/>
              </a:spcAft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Если повторить один и тот же успешный сценарий десять раз с одинаковыми данными, количество полученной информации почти не увеличится. Намного полезнее изменить условия и проверить другое поведение системы.</a:t>
            </a:r>
            <a:endParaRPr lang="en-US" sz="1250" dirty="0"/>
          </a:p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Первый принцип показывает, почему тестирование требует анализа: мы не просто выполняем максимально возможное количество действий, а выбираем условия, в которых вероятнее обнаружить значимые проблемы.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35745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Почему отсутствие найденных ошибок всё же имеет ценность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595066"/>
            <a:ext cx="472468" cy="472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3303786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Уверенность растёт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61475" y="3712468"/>
            <a:ext cx="3465426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Если система проходит правильно подобранный набор тестов, уровень уверенности в её качестве увеличивается. Успешные проверки — не пустая работа.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63135" y="2595066"/>
            <a:ext cx="472468" cy="4724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63135" y="3303786"/>
            <a:ext cx="3465426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Стабильность в исследованных условиях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4363135" y="4007743"/>
            <a:ext cx="3465426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Если основная пользовательская операция многократно проверена с различными данными и состояниями, есть основания считать эту область достаточно стабильной.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64794" y="2595066"/>
            <a:ext cx="472468" cy="4724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064794" y="3303786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Работа с риском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8064794" y="3712468"/>
            <a:ext cx="3465426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Тестирование работает с вероятностью и риском. Чем качественнее выполнены проверки, тем больше полезной информации получает команда для принятия решений.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5412" y="113407"/>
            <a:ext cx="4420680" cy="66311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933847"/>
            <a:ext cx="6296860" cy="9449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Как тестировщику применять первый принцип на практике</a:t>
            </a:r>
            <a:endParaRPr lang="en-US" sz="2950" dirty="0"/>
          </a:p>
        </p:txBody>
      </p:sp>
      <p:sp>
        <p:nvSpPr>
          <p:cNvPr id="5" name="Text 2"/>
          <p:cNvSpPr/>
          <p:nvPr/>
        </p:nvSpPr>
        <p:spPr>
          <a:xfrm>
            <a:off x="661475" y="2060178"/>
            <a:ext cx="302411" cy="1890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01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661475" y="2298105"/>
            <a:ext cx="3087908" cy="19050"/>
          </a:xfrm>
          <a:prstGeom prst="rect">
            <a:avLst/>
          </a:prstGeom>
          <a:solidFill>
            <a:srgbClr val="27B29F"/>
          </a:solidFill>
          <a:ln/>
        </p:spPr>
      </p:sp>
      <p:sp>
        <p:nvSpPr>
          <p:cNvPr id="7" name="Text 4"/>
          <p:cNvSpPr/>
          <p:nvPr/>
        </p:nvSpPr>
        <p:spPr>
          <a:xfrm>
            <a:off x="661475" y="2411809"/>
            <a:ext cx="3087908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Не обещайте невозможного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661475" y="2720578"/>
            <a:ext cx="3087908" cy="13061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Задача тестировщика — не гарантировать полное отсутствие дефектов, а построить проверки для обнаружения наиболее значимых проблем и предоставить объективную информацию о состоянии продукта.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3870327" y="2060178"/>
            <a:ext cx="302411" cy="1890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02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870327" y="2298105"/>
            <a:ext cx="3088007" cy="19050"/>
          </a:xfrm>
          <a:prstGeom prst="rect">
            <a:avLst/>
          </a:prstGeom>
          <a:solidFill>
            <a:srgbClr val="27B29F"/>
          </a:solidFill>
          <a:ln/>
        </p:spPr>
      </p:sp>
      <p:sp>
        <p:nvSpPr>
          <p:cNvPr id="11" name="Text 8"/>
          <p:cNvSpPr/>
          <p:nvPr/>
        </p:nvSpPr>
        <p:spPr>
          <a:xfrm>
            <a:off x="3870327" y="2411809"/>
            <a:ext cx="3088007" cy="472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Понимайте границы тестирования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3870327" y="2956818"/>
            <a:ext cx="3088007" cy="13061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Чётко осознавайте, что именно было проверено, и не распространяйте выводы на области, которые фактически не исследовались. Честность в отчётности — профессиональный стандарт.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661475" y="4497288"/>
            <a:ext cx="302411" cy="1890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03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61475" y="4735215"/>
            <a:ext cx="6296860" cy="19050"/>
          </a:xfrm>
          <a:prstGeom prst="rect">
            <a:avLst/>
          </a:prstGeom>
          <a:solidFill>
            <a:srgbClr val="27B29F"/>
          </a:solidFill>
          <a:ln/>
        </p:spPr>
      </p:sp>
      <p:sp>
        <p:nvSpPr>
          <p:cNvPr id="15" name="Text 12"/>
          <p:cNvSpPr/>
          <p:nvPr/>
        </p:nvSpPr>
        <p:spPr>
          <a:xfrm>
            <a:off x="661475" y="4848920"/>
            <a:ext cx="6296860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Формируйте профессиональное отношение к результату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661475" y="5157688"/>
            <a:ext cx="6296860" cy="6530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Мы не доказываем безошибочность программы — мы уменьшаем неопределённость, обнаруживаем реальные дефекты и повышаем уверенность команды в качестве проверенного поведения системы.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866</Words>
  <Application>Microsoft Office PowerPoint</Application>
  <PresentationFormat>Широкоэкранный</PresentationFormat>
  <Paragraphs>66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6" baseType="lpstr">
      <vt:lpstr>Open Sans</vt:lpstr>
      <vt:lpstr>Montserrat Bold</vt:lpstr>
      <vt:lpstr>Montserrat Light</vt:lpstr>
      <vt:lpstr>Arial</vt:lpstr>
      <vt:lpstr>Open Sans Bold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Ефимов Матвей Александрович</cp:lastModifiedBy>
  <cp:revision>2</cp:revision>
  <dcterms:created xsi:type="dcterms:W3CDTF">2026-09-24T15:50:09Z</dcterms:created>
  <dcterms:modified xsi:type="dcterms:W3CDTF">2026-09-24T15:52:49Z</dcterms:modified>
</cp:coreProperties>
</file>